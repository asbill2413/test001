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0" Type="http://schemas.openxmlformats.org/officeDocument/2006/relationships/tableStyles" Target="tableStyles.xml"/><Relationship Id="rId7" Type="http://schemas.openxmlformats.org/officeDocument/2006/relationships/slide" Target="slides/slide4.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课程封面。</a:t>
            </a:r>
          </a:p>
          <a:p/>
          <a:p>
            <a:r>
              <a:t>[Sources]</a:t>
            </a:r>
          </a:p>
          <a:p>
            <a:r>
              <a:t>- 原创AI生成青绿山水背景；未使用外部参考图像。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说明课程以实际交付为目标，不以编程为目标。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课程总目录。每页底部保留同样的六部分导航。页脚当前部分用石绿色标出。</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本页用于说明当前位置、本部分内容和预期成果。</a:t>
            </a:r>
          </a:p>
          <a:p/>
          <a:p>
            <a:r>
              <a:t>[Sources]</a:t>
            </a:r>
          </a:p>
          <a:p>
            <a:r>
              <a:t>- 原创AI生成青绿山水背景；未使用外部参考图像。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强调不要把多项互不相关的工作放在同一个目录中。</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目录名称可以按个人习惯调整，但职责应稳定。</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不要把项目事实、个人偏好和重复流程全部写入同一个文件。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本页用于说明当前位置、本部分内容和预期成果。</a:t>
            </a:r>
          </a:p>
          <a:p/>
          <a:p>
            <a:r>
              <a:t>[Sources]</a:t>
            </a:r>
          </a:p>
          <a:p>
            <a:r>
              <a:t>- 原创AI生成青绿山水背景；未使用外部参考图像。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价格和方案可能变化，课堂购买前应再次检查官方页面。</a:t>
            </a:r>
          </a:p>
          <a:p/>
          <a:p>
            <a:r>
              <a:t>[Sources]</a:t>
            </a:r>
          </a:p>
          <a:p>
            <a:r>
              <a:t>- OpenAI pricing: https://learn.chatgpt.com/docs/pricing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ChatGPT已整合Chat、Work和Codex。当前macOS桌面应用支持macOS 14及以上，并提供Apple Silicon和Intel处理器版本；下载页面会识别处理器并提供相应安装程序。</a:t>
            </a:r>
          </a:p>
          <a:p/>
          <a:p>
            <a:r>
              <a:t>[Sources]</a:t>
            </a:r>
          </a:p>
          <a:p>
            <a:r>
              <a:t>- ChatGPT desktop app: https://learn.chatgpt.com/zh-Hans/docs/app</a:t>
            </a:r>
          </a:p>
          <a:p>
            <a:r>
              <a:t>- ChatGPT macOS requirements: https://help.openai.com/en/articles/9395554</a:t>
            </a:r>
          </a:p>
          <a:p>
            <a:r>
              <a:t>- Download ChatGPT for macOS: https://help.openai.com/en/articles/9275200</a:t>
            </a:r>
          </a:p>
          <a:p>
            <a:r>
              <a:t>- Codex CLI: https://learn.chatgpt.com/zh-Hans/docs/codex/cli</a:t>
            </a:r>
          </a:p>
          <a:p>
            <a:r>
              <a:t>- Codex IDE extension: https://learn.chatgpt.com/zh-Hans/docs/codex/ide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Intel Mac应在开课前实际验证当前安装方式和系统版本。</a:t>
            </a:r>
          </a:p>
          <a:p/>
          <a:p>
            <a:r>
              <a:t>[Sources]</a:t>
            </a:r>
          </a:p>
          <a:p>
            <a:r>
              <a:t>- Codex CLI setup: https://learn.chatgpt.com/docs/codex/cli</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权限配置处于持续发展中，实际界面和名称以当前版本为准。</a:t>
            </a:r>
          </a:p>
          <a:p/>
          <a:p>
            <a:r>
              <a:t>[Sources]</a:t>
            </a:r>
          </a:p>
          <a:p>
            <a:r>
              <a:t>- Codex permissions: https://learn.chatgpt.com/docs/permissions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安装或系统配置可能需要更广权限，但不应作为所有项目的永久默认设置。</a:t>
            </a:r>
          </a:p>
          <a:p/>
          <a:p>
            <a:r>
              <a:t>[Sources]</a:t>
            </a:r>
          </a:p>
          <a:p>
            <a:r>
              <a:t>- Codex permissions: https://learn.chatgpt.com/docs/permissions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检查阶段只读，不直接安装。</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根据已有环境按需安装，不要求为课程安装Docker或大型本地模型。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重点是认识工作区域，不讲程序开发界面。</a:t>
            </a:r>
          </a:p>
          <a:p/>
          <a:p>
            <a:r>
              <a:t>[Sources]</a:t>
            </a:r>
          </a:p>
          <a:p>
            <a:r>
              <a:t>- Codex IDE extension: https://learn.chatgpt.com/docs/codex/ide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Markdown是项目中的工作底稿。正式交付时再按需要导出为Word、PDF或图片。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将Mermaid源码保存在Markdown中，可以随文字一起修改；需要交付图片时再导出SVG或PNG。</a:t>
            </a:r>
          </a:p>
          <a:p/>
          <a:p>
            <a:r>
              <a:t>[Sources]</a:t>
            </a:r>
          </a:p>
          <a:p>
            <a:r>
              <a:t>- Mermaid Live Editor: https://mermaid.live/</a:t>
            </a:r>
          </a:p>
          <a:p>
            <a:r>
              <a:t>- Mermaid sequence diagram syntax: https://mermaid.js.org/syntax/sequenceDiagram.html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完成后保存环境检查结果。</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本页用于说明当前位置、本部分内容和预期成果。</a:t>
            </a:r>
          </a:p>
          <a:p/>
          <a:p>
            <a:r>
              <a:t>[Sources]</a:t>
            </a:r>
          </a:p>
          <a:p>
            <a:r>
              <a:t>- 原创AI生成青绿山水背景；未使用外部参考图像。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用关系说明概念，不要求记忆所有缩写。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不同厂商同时可能提供模型、API、Agent和办公产品。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具体模型名称以当日产品界面为准。</a:t>
            </a:r>
          </a:p>
          <a:p/>
          <a:p>
            <a:r>
              <a:t>[Sources]</a:t>
            </a:r>
          </a:p>
          <a:p>
            <a:r>
              <a:t>- OpenAI model guidance: https://developers.openai.com/api/docs/guides/latest-model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不要把API Key写入普通文档或提交到Git。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项目级配置在受信任项目中加载，离当前目录更近的配置优先。</a:t>
            </a:r>
          </a:p>
          <a:p/>
          <a:p>
            <a:r>
              <a:t>[Sources]</a:t>
            </a:r>
          </a:p>
          <a:p>
            <a:r>
              <a:t>- Codex config basics: https://learn.chatgpt.com/docs/config-file/config-basic</a:t>
            </a:r>
          </a:p>
          <a:p>
            <a:r>
              <a:t>- AGENTS.md: https://learn.chatgpt.com/docs/agent-configuration/agents-md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Skill由一个包含SKILL.md的目录构成，可选脚本、参考资料和模板。</a:t>
            </a:r>
          </a:p>
          <a:p/>
          <a:p>
            <a:r>
              <a:t>[Sources]</a:t>
            </a:r>
          </a:p>
          <a:p>
            <a:r>
              <a:t>- Build skills: https://learn.chatgpt.com/docs/build-skills</a:t>
            </a:r>
          </a:p>
          <a:p>
            <a:r>
              <a:t>- Agent Skills specification: https://agentskills.io/specification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DSH的VS Code接入存在多个第三方扩展，安装前应核实发布者和源代码。</a:t>
            </a:r>
          </a:p>
          <a:p/>
          <a:p>
            <a:r>
              <a:t>[Sources]</a:t>
            </a:r>
          </a:p>
          <a:p>
            <a:r>
              <a:t>- DeepSeek Harness: https://github.com/deepseek-ai/deepseek-harness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本页用于说明当前位置、本部分内容和预期成果。</a:t>
            </a:r>
          </a:p>
          <a:p/>
          <a:p>
            <a:r>
              <a:t>[Sources]</a:t>
            </a:r>
          </a:p>
          <a:p>
            <a:r>
              <a:t>- 原创AI生成青绿山水背景；未使用外部参考图像。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用学员的真实工作目标开始，不要求先写长提示词。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问题数量不求多，避免询问可以从文件中直接获得的信息。</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需求文档确认后再开始正式生产。</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模板不是越长越好。只写会影响执行和验收的内容。</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把抽象评价改成可以判断是否完成的条件。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本页用于说明当前位置、本部分内容和预期成果。</a:t>
            </a:r>
          </a:p>
          <a:p/>
          <a:p>
            <a:r>
              <a:t>[Sources]</a:t>
            </a:r>
          </a:p>
          <a:p>
            <a:r>
              <a:t>- 原创AI生成青绿山水背景；未使用外部参考图像。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本页作为各项练习的共同入口。</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适用于数据中心前期方案、Sponsor建议书和Stakeholder汇报材料。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要求先完成REQUIREMENTS.md，再生成正文。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合同练习应使用脱敏材料，并明确适用中国大陆法律。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原合同保存在00-input中，不覆盖原件。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社交媒体适合发现线索，不作为重要事实的唯一来源。</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涉及快速变化的信息，应优先查官方文档和GitHub。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讲师先回顾前面的统一流程，再说明软件开发没有换方法，只是交付物从文档变成程序。演示时不要从技术栈开始，先让Codex询问用户、场景、范围、数据、权限和验收标准。股票工具只讨论规则、回测和模拟交易，不连接真实证券账户。</a:t>
            </a:r>
          </a:p>
          <a:p/>
          <a:p>
            <a:r>
              <a:t>[Sources]</a:t>
            </a:r>
          </a:p>
          <a:p>
            <a:r>
              <a:t>- OpenAI—Deploy an app or website: https://learn.chatgpt.com/zh-Hans/use-cases/deploy-app-or-website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讲师演示指令：‘我想做一个海口市线上寻找月嫂的平台。请先只读讨论，通过反问帮我把第一版缩小成一个可以在本地浏览器演示的业务闭环；不要开始编程。确认后编制REQUIREMENTS.md。’预期闭环：用户提交需求—查看虚构月嫂资料—提交预约。常见偏差：一开始加入支付、地图、实名、评价、即时通信或后台运营；发现后让Codex移入‘后续版本’。收尾强调：范围越清楚，后面的生成和检查越可靠。</a:t>
            </a:r>
          </a:p>
          <a:p/>
          <a:p>
            <a:r>
              <a:t>[Sources]</a:t>
            </a:r>
          </a:p>
          <a:p>
            <a:r>
              <a:t>- OpenAI—Deploy an app or website: https://learn.chatgpt.com/zh-Hans/use-cases/deploy-app-or-website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讲师演示指令：‘根据REQUIREMENTS.md实现一个轻量Web原型。优先使用最少依赖；只使用虚构数据；完成后运行构建和必要检查，告诉我启动命令、修改了哪些文件、哪些功能尚未完成。’演示顺序：让Codex查看文件夹—提出实现方案—确认后生成—启动本地预览—学员按验收标准操作—把问题写入03-review—要求Codex修正。常见故障：端口占用、依赖安装失败、页面打不开；让Codex先诊断，不要重新创建整个项目。收尾说明：本页成果是可运行原型，不是可正式运营的系统。</a:t>
            </a:r>
          </a:p>
          <a:p/>
          <a:p>
            <a:r>
              <a:t>[Sources]</a:t>
            </a:r>
          </a:p>
          <a:p>
            <a:r>
              <a:t>- OpenAI—Deploy an app or website: https://learn.chatgpt.com/zh-Hans/use-cases/deploy-app-or-website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讲师演示指令：‘我有Tushare账号，想做一个股票研究与模拟交易工具。请先只读讨论，通过反问澄清股票池、数据频率、买卖规则、盈利与止损区间、交易成本、回测区间和评价指标；不要开始编程。确认后编制REQUIREMENTS.md。数据从Tushare取得，Token只从环境变量TUSHARE_TOKEN读取，不写入代码、文档或Git。第一版只做历史数据下载、规则回测、结果图表和模拟交易，不连接券商，不自动下单。’演示流程：确认账号可用接口—建立项目和.gitignore—获取少量日线样本—保存本地数据快照—运行最简单的基准策略—检查是否误用未来数据—记录结果和限制。接口权限不足时，改用账号可调用的数据，不让Codex伪造行情。</a:t>
            </a:r>
          </a:p>
          <a:p/>
          <a:p>
            <a:r>
              <a:t>[Sources]</a:t>
            </a:r>
          </a:p>
          <a:p>
            <a:r>
              <a:t>- Tushare—调取Pro版数据: https://tushare.pro/document/1?doc_id=40</a:t>
            </a:r>
          </a:p>
          <a:p>
            <a:r>
              <a:t>- Tushare—A股日线行情: https://tushare.pro/document/1?doc_id=27</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本页用于说明当前位置、本部分内容和预期成果。</a:t>
            </a:r>
          </a:p>
          <a:p/>
          <a:p>
            <a:r>
              <a:t>[Sources]</a:t>
            </a:r>
          </a:p>
          <a:p>
            <a:r>
              <a:t>- 原创AI生成青绿山水背景；未使用外部参考图像。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README面向未来的自己，也面向下次进入项目的Codex。</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不向学员讲解Git命令。让学员把自然语言要求交给Codex执行，再检查Codex的说明和实际生成的.gitignore。讲师可打开.gitignore，指出常见项目通常需要排除.DS_Store、临时文件、编辑器缓存、node_modules、Python虚拟环境、构建目录和.env；具体内容应由Codex根据当前文件夹判断。Git只能保存已纳入版本控制的历史，不能替代敏感信息管理或备份。</a:t>
            </a:r>
          </a:p>
          <a:p/>
          <a:p>
            <a:r>
              <a:t>讲师参考命令：</a:t>
            </a:r>
          </a:p>
          <a:p>
            <a:r>
              <a:t>git status</a:t>
            </a:r>
          </a:p>
          <a:p>
            <a:r>
              <a:t>git add &lt;明确文件&gt;</a:t>
            </a:r>
          </a:p>
          <a:p>
            <a:r>
              <a:t>git commit -m "docs: 完成需求文档"</a:t>
            </a:r>
          </a:p>
          <a:p>
            <a:r>
              <a:t>git log --oneline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先在本地项目文件夹修改代码和文档，通过提交（commit）把一个检查点写入本地Git历史。需要跨设备同步、协作或保留异地副本时，再把本地提交推送（push）到远程仓库；也可以从远程仓库拉取（pull）更新。GitHub与自建私有仓库都是远程地址，可以只配置一个，也可以同时配置多个；多个远程仓库不会自动彼此同步。</a:t>
            </a:r>
          </a:p>
          <a:p/>
          <a:p>
            <a:r>
              <a:t>[Sources]</a:t>
            </a:r>
          </a:p>
          <a:p>
            <a:r>
              <a:t>- Git—Recording Changes to the Repository: https://git-scm.com/book/en/v2/Git-Basics-Recording-Changes-to-the-Repository</a:t>
            </a:r>
          </a:p>
          <a:p>
            <a:r>
              <a:t>- GitHub Docs—About remote repositories: https://docs.github.com/en/get-started/git-basics/about-remote-repositories</a:t>
            </a:r>
          </a:p>
          <a:p>
            <a:r>
              <a:t>- GitHub Docs—Pushing commits to a remote repository: https://docs.github.com/en/get-started/using-git/pushing-commits-to-a-remote-repository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保持学员已经形成的快捷指令，不作扩写。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Skill包含SKILL.md，可按需要增加脚本、参考资料和模板。</a:t>
            </a:r>
          </a:p>
          <a:p/>
          <a:p>
            <a:r>
              <a:t>[Sources]</a:t>
            </a:r>
          </a:p>
          <a:p>
            <a:r>
              <a:t>- Build skills: https://learn.chatgpt.com/docs/build-skills</a:t>
            </a:r>
          </a:p>
          <a:p>
            <a:r>
              <a:t>- Agent Skills specification: https://agentskills.io/specification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WorkBuddy为腾讯全场景AI办公工作台，课程中作为扩展比较。</a:t>
            </a:r>
          </a:p>
          <a:p/>
          <a:p>
            <a:r>
              <a:t>[Sources]</a:t>
            </a:r>
          </a:p>
          <a:p>
            <a:r>
              <a:t>- WorkBuddy official: https://www.workbuddy.cn/work/</a:t>
            </a:r>
          </a:p>
          <a:p>
            <a:r>
              <a:t>- Tencent WorkBuddy Enterprise: https://cloud.tencent.com/document/product/1831</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Codex Remote支持使用ChatGPT移动应用连接运行ChatGPT桌面应用的Mac或Windows主机。演示前更新桌面端和移动端；在桌面应用中进入设置 &gt; 连接 &gt; 控制此Mac或PC，通过二维码与同一账户和工作空间的手机配对。功能可用性可能受发布进度和工作空间设置影响；若暂不可用，再使用Chrome远程桌面作为备选。</a:t>
            </a:r>
          </a:p>
          <a:p/>
          <a:p>
            <a:r>
              <a:t>[Sources]</a:t>
            </a:r>
          </a:p>
          <a:p>
            <a:r>
              <a:t>- OpenAI Codex Remote: https://learn.chatgpt.com/zh-Hans/docs/remote</a:t>
            </a:r>
          </a:p>
          <a:p>
            <a:r>
              <a:t>- OpenAI Remote connections: https://learn.chatgpt.com/docs/remote-connections</a:t>
            </a:r>
          </a:p>
          <a:p>
            <a:r>
              <a:t>- ChatGPT macOS requirements: https://help.openai.com/en/articles/9395554</a:t>
            </a:r>
          </a:p>
          <a:p>
            <a:r>
              <a:t>- Google Chrome Remote Desktop: https://support.google.com/chrome/answer/1649523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建议关注官方更新和GitHub Releases，减少无目的的信息浏览。</a:t>
            </a:r>
          </a:p>
          <a:p/>
          <a:p>
            <a:r>
              <a:t>[Sources]</a:t>
            </a:r>
          </a:p>
          <a:p>
            <a:r>
              <a:t>- OpenAI Codex releases: https://github.com/openai/codex/releases</a:t>
            </a:r>
          </a:p>
          <a:p>
            <a:r>
              <a:t>- Claude Code releases: https://github.com/anthropics/claude-code/releases</a:t>
            </a:r>
          </a:p>
          <a:p>
            <a:r>
              <a:t>- Gemini CLI releases: https://github.com/google-gemini/gemini-cli/releases</a:t>
            </a:r>
          </a:p>
          <a:p>
            <a:r>
              <a:t>- DeepSeek Harness releases: https://github.com/deepseek-ai/deepseek-harness/releases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教师只在出现阻塞时提供帮助。</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用清单完成最终验收。</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课程结束页。</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只解释与课程直接相关的基本词汇。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Skill和MCP可参考公开规范。</a:t>
            </a:r>
          </a:p>
          <a:p/>
          <a:p>
            <a:r>
              <a:t>[Sources]</a:t>
            </a:r>
          </a:p>
          <a:p>
            <a:r>
              <a:t>- Agent Skills specification: https://agentskills.io/specification</a:t>
            </a:r>
          </a:p>
          <a:p>
            <a:r>
              <a:t>- MCP introduction: https://modelcontextprotocol.io/docs/getting-started/intro</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产品变化较快，本页按代表性生态说明，不作排名。</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建议将该结构保存为个人项目模板。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模板只提供栏目，实际内容应根据项目删减。</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本清单用于辅助审查，不构成正式法律意见。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参考链接均写入相应页面的演讲者备注。</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t="27" b="27"/>
          <a:stretch>
            <a:fillRect/>
          </a:stretch>
        </p:blipFill>
        <p:spPr>
          <a:xfrm>
            <a:off x="0" y="0"/>
            <a:ext cx="12192000" cy="6858000"/>
          </a:xfrm>
          <a:prstGeom prst="rect">
            <a:avLst/>
          </a:prstGeom>
        </p:spPr>
      </p:pic>
      <p:sp>
        <p:nvSpPr>
          <p:cNvPr id="2" name="矩形 1"/>
          <p:cNvSpPr>
            <a:spLocks noGrp="1"/>
          </p:cNvSpPr>
          <p:nvPr/>
        </p:nvSpPr>
        <p:spPr>
          <a:xfrm>
            <a:off x="0" y="0"/>
            <a:ext cx="6858000" cy="6858000"/>
          </a:xfrm>
          <a:prstGeom prst="rect">
            <a:avLst/>
          </a:prstGeom>
          <a:solidFill>
            <a:srgbClr val="F3F0E6"/>
          </a:solidFill>
          <a:ln w="0">
            <a:noFill/>
            <a:prstDash val="solid"/>
          </a:ln>
        </p:spPr>
      </p:sp>
      <p:sp>
        <p:nvSpPr>
          <p:cNvPr id="3" name="矩形 2"/>
          <p:cNvSpPr>
            <a:spLocks noGrp="1"/>
          </p:cNvSpPr>
          <p:nvPr/>
        </p:nvSpPr>
        <p:spPr>
          <a:xfrm>
            <a:off x="685800" y="1476375"/>
            <a:ext cx="5715000" cy="1238250"/>
          </a:xfrm>
          <a:prstGeom prst="rect">
            <a:avLst/>
          </a:prstGeom>
          <a:noFill/>
          <a:ln w="0">
            <a:noFill/>
            <a:prstDash val="solid"/>
          </a:ln>
        </p:spPr>
        <p:txBody>
          <a:bodyPr wrap="square" lIns="0" tIns="0" rIns="0" bIns="0" anchor="t">
            <a:normAutofit/>
          </a:bodyPr>
          <a:lstStyle/>
          <a:p>
            <a:pPr algn="l">
              <a:lnSpc>
                <a:spcPct val="112000"/>
              </a:lnSpc>
              <a:buNone/>
              <a:defRPr sz="4350" b="0">
                <a:solidFill>
                  <a:srgbClr val="263431"/>
                </a:solidFill>
                <a:latin typeface="黑体" panose="02010609060101010101" charset="-122"/>
                <a:ea typeface="黑体" panose="02010609060101010101" charset="-122"/>
                <a:cs typeface="黑体" panose="02010609060101010101" charset="-122"/>
              </a:defRPr>
            </a:pPr>
            <a:r>
              <a:rPr sz="4350" b="0">
                <a:solidFill>
                  <a:srgbClr val="263431"/>
                </a:solidFill>
                <a:latin typeface="黑体" panose="02010609060101010101" charset="-122"/>
                <a:ea typeface="黑体" panose="02010609060101010101" charset="-122"/>
                <a:cs typeface="黑体" panose="02010609060101010101" charset="-122"/>
              </a:rPr>
              <a:t>Codex的基本用法</a:t>
            </a:r>
            <a:endParaRPr sz="4350" b="0">
              <a:solidFill>
                <a:srgbClr val="263431"/>
              </a:solidFill>
              <a:latin typeface="黑体" panose="02010609060101010101" charset="-122"/>
              <a:ea typeface="黑体" panose="02010609060101010101" charset="-122"/>
              <a:cs typeface="黑体" panose="02010609060101010101" charset="-122"/>
            </a:endParaRPr>
          </a:p>
        </p:txBody>
      </p:sp>
      <p:sp>
        <p:nvSpPr>
          <p:cNvPr id="4" name="矩形 3"/>
          <p:cNvSpPr>
            <a:spLocks noGrp="1"/>
          </p:cNvSpPr>
          <p:nvPr/>
        </p:nvSpPr>
        <p:spPr>
          <a:xfrm>
            <a:off x="723900" y="3048000"/>
            <a:ext cx="5905500" cy="685800"/>
          </a:xfrm>
          <a:prstGeom prst="rect">
            <a:avLst/>
          </a:prstGeom>
          <a:noFill/>
          <a:ln w="0">
            <a:noFill/>
            <a:prstDash val="solid"/>
          </a:ln>
        </p:spPr>
        <p:txBody>
          <a:bodyPr wrap="square" lIns="0" tIns="0" rIns="0" bIns="0" anchor="t">
            <a:normAutofit/>
          </a:bodyPr>
          <a:lstStyle/>
          <a:p>
            <a:pPr algn="l">
              <a:lnSpc>
                <a:spcPct val="112000"/>
              </a:lnSpc>
              <a:buNone/>
              <a:defRPr sz="1875" b="0">
                <a:solidFill>
                  <a:srgbClr val="315F55"/>
                </a:solidFill>
                <a:latin typeface="微软雅黑" panose="020B0503020204020204" charset="-122"/>
                <a:ea typeface="微软雅黑" panose="020B0503020204020204" charset="-122"/>
                <a:cs typeface="微软雅黑" panose="020B0503020204020204" charset="-122"/>
              </a:defRPr>
            </a:pPr>
            <a:r>
              <a:rPr sz="1875" b="0">
                <a:solidFill>
                  <a:srgbClr val="315F55"/>
                </a:solidFill>
                <a:latin typeface="微软雅黑" panose="020B0503020204020204" charset="-122"/>
                <a:ea typeface="微软雅黑" panose="020B0503020204020204" charset="-122"/>
                <a:cs typeface="微软雅黑" panose="020B0503020204020204" charset="-122"/>
              </a:rPr>
              <a:t>项目文件夹为中心：方案编制、合同审查、资料整理</a:t>
            </a:r>
            <a:endParaRPr sz="1875" b="0">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723900" y="4000500"/>
            <a:ext cx="1428750" cy="0"/>
          </a:xfrm>
          <a:prstGeom prst="line">
            <a:avLst/>
          </a:prstGeom>
          <a:noFill/>
          <a:ln w="38100">
            <a:solidFill>
              <a:srgbClr val="A18458"/>
            </a:solidFill>
            <a:prstDash val="solid"/>
          </a:ln>
        </p:spPr>
      </p:sp>
      <p:sp>
        <p:nvSpPr>
          <p:cNvPr id="6" name="矩形 5"/>
          <p:cNvSpPr>
            <a:spLocks noGrp="1"/>
          </p:cNvSpPr>
          <p:nvPr/>
        </p:nvSpPr>
        <p:spPr>
          <a:xfrm>
            <a:off x="723900" y="4305300"/>
            <a:ext cx="4762500" cy="323850"/>
          </a:xfrm>
          <a:prstGeom prst="rect">
            <a:avLst/>
          </a:prstGeom>
          <a:noFill/>
          <a:ln w="0">
            <a:noFill/>
            <a:prstDash val="solid"/>
          </a:ln>
        </p:spPr>
        <p:txBody>
          <a:bodyPr wrap="square" lIns="0" tIns="0" rIns="0" bIns="0" anchor="t">
            <a:normAutofit/>
          </a:bodyPr>
          <a:lstStyle/>
          <a:p>
            <a:pPr algn="l">
              <a:lnSpc>
                <a:spcPct val="112000"/>
              </a:lnSpc>
              <a:buNone/>
              <a:defRPr sz="1350" b="0">
                <a:solidFill>
                  <a:srgbClr val="68756F"/>
                </a:solidFill>
                <a:latin typeface="微软雅黑" panose="020B0503020204020204" charset="-122"/>
                <a:ea typeface="微软雅黑" panose="020B0503020204020204" charset="-122"/>
                <a:cs typeface="微软雅黑" panose="020B0503020204020204" charset="-122"/>
              </a:defRPr>
            </a:pPr>
            <a:r>
              <a:rPr sz="1350" b="0">
                <a:solidFill>
                  <a:srgbClr val="68756F"/>
                </a:solidFill>
                <a:latin typeface="微软雅黑" panose="020B0503020204020204" charset="-122"/>
                <a:ea typeface="微软雅黑" panose="020B0503020204020204" charset="-122"/>
                <a:cs typeface="微软雅黑" panose="020B0503020204020204" charset="-122"/>
              </a:rPr>
              <a:t>概念 + 实践</a:t>
            </a:r>
            <a:endParaRPr sz="1350" b="0">
              <a:solidFill>
                <a:srgbClr val="68756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4" name="矩形 23"/>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课程目标</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01 项目</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857250" y="6410325"/>
            <a:ext cx="1028700" cy="0"/>
          </a:xfrm>
          <a:prstGeom prst="line">
            <a:avLst/>
          </a:prstGeom>
          <a:noFill/>
          <a:ln w="38100">
            <a:solidFill>
              <a:srgbClr val="315F55"/>
            </a:solidFill>
            <a:prstDash val="solid"/>
          </a:ln>
        </p:spPr>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02</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685800" y="1685925"/>
            <a:ext cx="10477500" cy="5524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315F55"/>
                </a:solidFill>
                <a:latin typeface="微软雅黑" panose="020B0503020204020204" charset="-122"/>
                <a:ea typeface="微软雅黑" panose="020B0503020204020204" charset="-122"/>
                <a:cs typeface="微软雅黑" panose="020B0503020204020204" charset="-122"/>
              </a:defRPr>
            </a:pPr>
            <a:r>
              <a:rPr sz="1875" b="1">
                <a:solidFill>
                  <a:srgbClr val="315F55"/>
                </a:solidFill>
                <a:latin typeface="微软雅黑" panose="020B0503020204020204" charset="-122"/>
                <a:ea typeface="微软雅黑" panose="020B0503020204020204" charset="-122"/>
                <a:cs typeface="微软雅黑" panose="020B0503020204020204" charset="-122"/>
              </a:rPr>
              <a:t>能够独立完成一项以文件为主要成果的实际工作。</a:t>
            </a:r>
            <a:endParaRPr sz="187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00100" y="24765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01</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466850" y="24574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为每项工作建立独立文件夹</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5" name="直接连接符 14"/>
          <p:cNvSpPr>
            <a:spLocks noGrp="1"/>
          </p:cNvSpPr>
          <p:nvPr/>
        </p:nvSpPr>
        <p:spPr>
          <a:xfrm>
            <a:off x="1466850" y="3105150"/>
            <a:ext cx="9429750" cy="0"/>
          </a:xfrm>
          <a:prstGeom prst="line">
            <a:avLst/>
          </a:prstGeom>
          <a:noFill/>
          <a:ln w="9525">
            <a:solidFill>
              <a:srgbClr val="E3E8E1"/>
            </a:solidFill>
            <a:prstDash val="solid"/>
          </a:ln>
        </p:spPr>
      </p:sp>
      <p:sp>
        <p:nvSpPr>
          <p:cNvPr id="16" name="矩形 15"/>
          <p:cNvSpPr>
            <a:spLocks noGrp="1"/>
          </p:cNvSpPr>
          <p:nvPr/>
        </p:nvSpPr>
        <p:spPr>
          <a:xfrm>
            <a:off x="800100" y="32004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02</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466850" y="31813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使用Codex澄清目标并编制需求文档</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直接连接符 17"/>
          <p:cNvSpPr>
            <a:spLocks noGrp="1"/>
          </p:cNvSpPr>
          <p:nvPr/>
        </p:nvSpPr>
        <p:spPr>
          <a:xfrm>
            <a:off x="1466850" y="3829050"/>
            <a:ext cx="9429750" cy="0"/>
          </a:xfrm>
          <a:prstGeom prst="line">
            <a:avLst/>
          </a:prstGeom>
          <a:noFill/>
          <a:ln w="9525">
            <a:solidFill>
              <a:srgbClr val="E3E8E1"/>
            </a:solidFill>
            <a:prstDash val="solid"/>
          </a:ln>
        </p:spPr>
      </p:sp>
      <p:sp>
        <p:nvSpPr>
          <p:cNvPr id="19" name="矩形 18"/>
          <p:cNvSpPr>
            <a:spLocks noGrp="1"/>
          </p:cNvSpPr>
          <p:nvPr/>
        </p:nvSpPr>
        <p:spPr>
          <a:xfrm>
            <a:off x="800100" y="39243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03</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1466850" y="39052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完成方案、合同审查或互联网资料研究</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1" name="直接连接符 20"/>
          <p:cNvSpPr>
            <a:spLocks noGrp="1"/>
          </p:cNvSpPr>
          <p:nvPr/>
        </p:nvSpPr>
        <p:spPr>
          <a:xfrm>
            <a:off x="1466850" y="4552950"/>
            <a:ext cx="9429750" cy="0"/>
          </a:xfrm>
          <a:prstGeom prst="line">
            <a:avLst/>
          </a:prstGeom>
          <a:noFill/>
          <a:ln w="9525">
            <a:solidFill>
              <a:srgbClr val="E3E8E1"/>
            </a:solidFill>
            <a:prstDash val="solid"/>
          </a:ln>
        </p:spPr>
      </p:sp>
      <p:sp>
        <p:nvSpPr>
          <p:cNvPr id="22" name="矩形 21"/>
          <p:cNvSpPr>
            <a:spLocks noGrp="1"/>
          </p:cNvSpPr>
          <p:nvPr/>
        </p:nvSpPr>
        <p:spPr>
          <a:xfrm>
            <a:off x="800100" y="46482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04</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1466850" y="46291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用README、Git和Skill保存工作方法</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31" name="矩形 30"/>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课程分为六个部分</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01 项目</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857250" y="6410325"/>
            <a:ext cx="1028700" cy="0"/>
          </a:xfrm>
          <a:prstGeom prst="line">
            <a:avLst/>
          </a:prstGeom>
          <a:noFill/>
          <a:ln w="38100">
            <a:solidFill>
              <a:srgbClr val="315F55"/>
            </a:solidFill>
            <a:prstDash val="solid"/>
          </a:ln>
        </p:spPr>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03</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762000" y="2095500"/>
            <a:ext cx="66675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A18458"/>
                </a:solidFill>
                <a:latin typeface="微软雅黑" panose="020B0503020204020204" charset="-122"/>
                <a:ea typeface="微软雅黑" panose="020B0503020204020204" charset="-122"/>
                <a:cs typeface="微软雅黑" panose="020B0503020204020204" charset="-122"/>
              </a:defRPr>
            </a:pPr>
            <a:r>
              <a:rPr sz="1800" b="1">
                <a:solidFill>
                  <a:srgbClr val="A18458"/>
                </a:solidFill>
                <a:latin typeface="微软雅黑" panose="020B0503020204020204" charset="-122"/>
                <a:ea typeface="微软雅黑" panose="020B0503020204020204" charset="-122"/>
                <a:cs typeface="微软雅黑" panose="020B0503020204020204" charset="-122"/>
              </a:rPr>
              <a:t>01</a:t>
            </a:r>
            <a:endParaRPr sz="18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466850" y="2085975"/>
            <a:ext cx="2667000" cy="438150"/>
          </a:xfrm>
          <a:prstGeom prst="rect">
            <a:avLst/>
          </a:prstGeom>
          <a:noFill/>
          <a:ln w="0">
            <a:noFill/>
            <a:prstDash val="solid"/>
          </a:ln>
        </p:spPr>
        <p:txBody>
          <a:bodyPr wrap="square" lIns="0" tIns="0" rIns="0" bIns="0" anchor="t">
            <a:normAutofit/>
          </a:bodyPr>
          <a:lstStyle/>
          <a:p>
            <a:pPr algn="l">
              <a:lnSpc>
                <a:spcPct val="112000"/>
              </a:lnSpc>
              <a:buNone/>
              <a:defRPr sz="2100" b="1">
                <a:solidFill>
                  <a:srgbClr val="263431"/>
                </a:solidFill>
                <a:latin typeface="微软雅黑" panose="020B0503020204020204" charset="-122"/>
                <a:ea typeface="微软雅黑" panose="020B0503020204020204" charset="-122"/>
                <a:cs typeface="微软雅黑" panose="020B0503020204020204" charset="-122"/>
              </a:defRPr>
            </a:pPr>
            <a:r>
              <a:rPr sz="2100" b="1">
                <a:solidFill>
                  <a:srgbClr val="263431"/>
                </a:solidFill>
                <a:latin typeface="微软雅黑" panose="020B0503020204020204" charset="-122"/>
                <a:ea typeface="微软雅黑" panose="020B0503020204020204" charset="-122"/>
                <a:cs typeface="微软雅黑" panose="020B0503020204020204" charset="-122"/>
              </a:rPr>
              <a:t>项目工作方式</a:t>
            </a:r>
            <a:endParaRPr sz="210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762000" y="2705100"/>
            <a:ext cx="3143250" cy="0"/>
          </a:xfrm>
          <a:prstGeom prst="line">
            <a:avLst/>
          </a:prstGeom>
          <a:noFill/>
          <a:ln w="19050">
            <a:solidFill>
              <a:srgbClr val="8FA99C"/>
            </a:solidFill>
            <a:prstDash val="solid"/>
          </a:ln>
        </p:spPr>
      </p:sp>
      <p:sp>
        <p:nvSpPr>
          <p:cNvPr id="15" name="矩形 14"/>
          <p:cNvSpPr>
            <a:spLocks noGrp="1"/>
          </p:cNvSpPr>
          <p:nvPr/>
        </p:nvSpPr>
        <p:spPr>
          <a:xfrm>
            <a:off x="4400550" y="2095500"/>
            <a:ext cx="66675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A18458"/>
                </a:solidFill>
                <a:latin typeface="微软雅黑" panose="020B0503020204020204" charset="-122"/>
                <a:ea typeface="微软雅黑" panose="020B0503020204020204" charset="-122"/>
                <a:cs typeface="微软雅黑" panose="020B0503020204020204" charset="-122"/>
              </a:defRPr>
            </a:pPr>
            <a:r>
              <a:rPr sz="1800" b="1">
                <a:solidFill>
                  <a:srgbClr val="A18458"/>
                </a:solidFill>
                <a:latin typeface="微软雅黑" panose="020B0503020204020204" charset="-122"/>
                <a:ea typeface="微软雅黑" panose="020B0503020204020204" charset="-122"/>
                <a:cs typeface="微软雅黑" panose="020B0503020204020204" charset="-122"/>
              </a:rPr>
              <a:t>02</a:t>
            </a:r>
            <a:endParaRPr sz="18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5105400" y="2085975"/>
            <a:ext cx="2667000" cy="438150"/>
          </a:xfrm>
          <a:prstGeom prst="rect">
            <a:avLst/>
          </a:prstGeom>
          <a:noFill/>
          <a:ln w="0">
            <a:noFill/>
            <a:prstDash val="solid"/>
          </a:ln>
        </p:spPr>
        <p:txBody>
          <a:bodyPr wrap="square" lIns="0" tIns="0" rIns="0" bIns="0" anchor="t">
            <a:normAutofit/>
          </a:bodyPr>
          <a:lstStyle/>
          <a:p>
            <a:pPr algn="l">
              <a:lnSpc>
                <a:spcPct val="112000"/>
              </a:lnSpc>
              <a:buNone/>
              <a:defRPr sz="2100" b="1">
                <a:solidFill>
                  <a:srgbClr val="263431"/>
                </a:solidFill>
                <a:latin typeface="微软雅黑" panose="020B0503020204020204" charset="-122"/>
                <a:ea typeface="微软雅黑" panose="020B0503020204020204" charset="-122"/>
                <a:cs typeface="微软雅黑" panose="020B0503020204020204" charset="-122"/>
              </a:defRPr>
            </a:pPr>
            <a:r>
              <a:rPr sz="2100" b="1">
                <a:solidFill>
                  <a:srgbClr val="263431"/>
                </a:solidFill>
                <a:latin typeface="微软雅黑" panose="020B0503020204020204" charset="-122"/>
                <a:ea typeface="微软雅黑" panose="020B0503020204020204" charset="-122"/>
                <a:cs typeface="微软雅黑" panose="020B0503020204020204" charset="-122"/>
              </a:rPr>
              <a:t>安装与工作环境</a:t>
            </a:r>
            <a:endParaRPr sz="210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4400550" y="2705100"/>
            <a:ext cx="3143250" cy="0"/>
          </a:xfrm>
          <a:prstGeom prst="line">
            <a:avLst/>
          </a:prstGeom>
          <a:noFill/>
          <a:ln w="19050">
            <a:solidFill>
              <a:srgbClr val="8FA99C"/>
            </a:solidFill>
            <a:prstDash val="solid"/>
          </a:ln>
        </p:spPr>
      </p:sp>
      <p:sp>
        <p:nvSpPr>
          <p:cNvPr id="18" name="矩形 17"/>
          <p:cNvSpPr>
            <a:spLocks noGrp="1"/>
          </p:cNvSpPr>
          <p:nvPr/>
        </p:nvSpPr>
        <p:spPr>
          <a:xfrm>
            <a:off x="8039100" y="2095500"/>
            <a:ext cx="66675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A18458"/>
                </a:solidFill>
                <a:latin typeface="微软雅黑" panose="020B0503020204020204" charset="-122"/>
                <a:ea typeface="微软雅黑" panose="020B0503020204020204" charset="-122"/>
                <a:cs typeface="微软雅黑" panose="020B0503020204020204" charset="-122"/>
              </a:defRPr>
            </a:pPr>
            <a:r>
              <a:rPr sz="1800" b="1">
                <a:solidFill>
                  <a:srgbClr val="A18458"/>
                </a:solidFill>
                <a:latin typeface="微软雅黑" panose="020B0503020204020204" charset="-122"/>
                <a:ea typeface="微软雅黑" panose="020B0503020204020204" charset="-122"/>
                <a:cs typeface="微软雅黑" panose="020B0503020204020204" charset="-122"/>
              </a:rPr>
              <a:t>03</a:t>
            </a:r>
            <a:endParaRPr sz="18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8743950" y="2085975"/>
            <a:ext cx="2667000" cy="438150"/>
          </a:xfrm>
          <a:prstGeom prst="rect">
            <a:avLst/>
          </a:prstGeom>
          <a:noFill/>
          <a:ln w="0">
            <a:noFill/>
            <a:prstDash val="solid"/>
          </a:ln>
        </p:spPr>
        <p:txBody>
          <a:bodyPr wrap="square" lIns="0" tIns="0" rIns="0" bIns="0" anchor="t">
            <a:normAutofit/>
          </a:bodyPr>
          <a:lstStyle/>
          <a:p>
            <a:pPr algn="l">
              <a:lnSpc>
                <a:spcPct val="112000"/>
              </a:lnSpc>
              <a:buNone/>
              <a:defRPr sz="2100" b="1">
                <a:solidFill>
                  <a:srgbClr val="263431"/>
                </a:solidFill>
                <a:latin typeface="微软雅黑" panose="020B0503020204020204" charset="-122"/>
                <a:ea typeface="微软雅黑" panose="020B0503020204020204" charset="-122"/>
                <a:cs typeface="微软雅黑" panose="020B0503020204020204" charset="-122"/>
              </a:defRPr>
            </a:pPr>
            <a:r>
              <a:rPr sz="2100" b="1">
                <a:solidFill>
                  <a:srgbClr val="263431"/>
                </a:solidFill>
                <a:latin typeface="微软雅黑" panose="020B0503020204020204" charset="-122"/>
                <a:ea typeface="微软雅黑" panose="020B0503020204020204" charset="-122"/>
                <a:cs typeface="微软雅黑" panose="020B0503020204020204" charset="-122"/>
              </a:rPr>
              <a:t>基本概念与配置</a:t>
            </a:r>
            <a:endParaRPr sz="210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8039100" y="2705100"/>
            <a:ext cx="3143250" cy="0"/>
          </a:xfrm>
          <a:prstGeom prst="line">
            <a:avLst/>
          </a:prstGeom>
          <a:noFill/>
          <a:ln w="19050">
            <a:solidFill>
              <a:srgbClr val="8FA99C"/>
            </a:solidFill>
            <a:prstDash val="solid"/>
          </a:ln>
        </p:spPr>
      </p:sp>
      <p:sp>
        <p:nvSpPr>
          <p:cNvPr id="21" name="矩形 20"/>
          <p:cNvSpPr>
            <a:spLocks noGrp="1"/>
          </p:cNvSpPr>
          <p:nvPr/>
        </p:nvSpPr>
        <p:spPr>
          <a:xfrm>
            <a:off x="762000" y="3810000"/>
            <a:ext cx="66675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A18458"/>
                </a:solidFill>
                <a:latin typeface="微软雅黑" panose="020B0503020204020204" charset="-122"/>
                <a:ea typeface="微软雅黑" panose="020B0503020204020204" charset="-122"/>
                <a:cs typeface="微软雅黑" panose="020B0503020204020204" charset="-122"/>
              </a:defRPr>
            </a:pPr>
            <a:r>
              <a:rPr sz="1800" b="1">
                <a:solidFill>
                  <a:srgbClr val="A18458"/>
                </a:solidFill>
                <a:latin typeface="微软雅黑" panose="020B0503020204020204" charset="-122"/>
                <a:ea typeface="微软雅黑" panose="020B0503020204020204" charset="-122"/>
                <a:cs typeface="微软雅黑" panose="020B0503020204020204" charset="-122"/>
              </a:rPr>
              <a:t>04</a:t>
            </a:r>
            <a:endParaRPr sz="18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1466850" y="3800475"/>
            <a:ext cx="2667000" cy="438150"/>
          </a:xfrm>
          <a:prstGeom prst="rect">
            <a:avLst/>
          </a:prstGeom>
          <a:noFill/>
          <a:ln w="0">
            <a:noFill/>
            <a:prstDash val="solid"/>
          </a:ln>
        </p:spPr>
        <p:txBody>
          <a:bodyPr wrap="square" lIns="0" tIns="0" rIns="0" bIns="0" anchor="t">
            <a:normAutofit/>
          </a:bodyPr>
          <a:lstStyle/>
          <a:p>
            <a:pPr algn="l">
              <a:lnSpc>
                <a:spcPct val="112000"/>
              </a:lnSpc>
              <a:buNone/>
              <a:defRPr sz="2100" b="1">
                <a:solidFill>
                  <a:srgbClr val="263431"/>
                </a:solidFill>
                <a:latin typeface="微软雅黑" panose="020B0503020204020204" charset="-122"/>
                <a:ea typeface="微软雅黑" panose="020B0503020204020204" charset="-122"/>
                <a:cs typeface="微软雅黑" panose="020B0503020204020204" charset="-122"/>
              </a:defRPr>
            </a:pPr>
            <a:r>
              <a:rPr sz="2100" b="1">
                <a:solidFill>
                  <a:srgbClr val="263431"/>
                </a:solidFill>
                <a:latin typeface="微软雅黑" panose="020B0503020204020204" charset="-122"/>
                <a:ea typeface="微软雅黑" panose="020B0503020204020204" charset="-122"/>
                <a:cs typeface="微软雅黑" panose="020B0503020204020204" charset="-122"/>
              </a:rPr>
              <a:t>从目标到需求</a:t>
            </a:r>
            <a:endParaRPr sz="210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3" name="直接连接符 22"/>
          <p:cNvSpPr>
            <a:spLocks noGrp="1"/>
          </p:cNvSpPr>
          <p:nvPr/>
        </p:nvSpPr>
        <p:spPr>
          <a:xfrm>
            <a:off x="762000" y="4419600"/>
            <a:ext cx="3143250" cy="0"/>
          </a:xfrm>
          <a:prstGeom prst="line">
            <a:avLst/>
          </a:prstGeom>
          <a:noFill/>
          <a:ln w="19050">
            <a:solidFill>
              <a:srgbClr val="8FA99C"/>
            </a:solidFill>
            <a:prstDash val="solid"/>
          </a:ln>
        </p:spPr>
      </p:sp>
      <p:sp>
        <p:nvSpPr>
          <p:cNvPr id="24" name="矩形 23"/>
          <p:cNvSpPr>
            <a:spLocks noGrp="1"/>
          </p:cNvSpPr>
          <p:nvPr/>
        </p:nvSpPr>
        <p:spPr>
          <a:xfrm>
            <a:off x="4400550" y="3810000"/>
            <a:ext cx="66675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A18458"/>
                </a:solidFill>
                <a:latin typeface="微软雅黑" panose="020B0503020204020204" charset="-122"/>
                <a:ea typeface="微软雅黑" panose="020B0503020204020204" charset="-122"/>
                <a:cs typeface="微软雅黑" panose="020B0503020204020204" charset="-122"/>
              </a:defRPr>
            </a:pPr>
            <a:r>
              <a:rPr sz="1800" b="1">
                <a:solidFill>
                  <a:srgbClr val="A18458"/>
                </a:solidFill>
                <a:latin typeface="微软雅黑" panose="020B0503020204020204" charset="-122"/>
                <a:ea typeface="微软雅黑" panose="020B0503020204020204" charset="-122"/>
                <a:cs typeface="微软雅黑" panose="020B0503020204020204" charset="-122"/>
              </a:rPr>
              <a:t>05</a:t>
            </a:r>
            <a:endParaRPr sz="18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5" name="矩形 24"/>
          <p:cNvSpPr>
            <a:spLocks noGrp="1"/>
          </p:cNvSpPr>
          <p:nvPr/>
        </p:nvSpPr>
        <p:spPr>
          <a:xfrm>
            <a:off x="5105400" y="3800475"/>
            <a:ext cx="2667000" cy="438150"/>
          </a:xfrm>
          <a:prstGeom prst="rect">
            <a:avLst/>
          </a:prstGeom>
          <a:noFill/>
          <a:ln w="0">
            <a:noFill/>
            <a:prstDash val="solid"/>
          </a:ln>
        </p:spPr>
        <p:txBody>
          <a:bodyPr wrap="square" lIns="0" tIns="0" rIns="0" bIns="0" anchor="t">
            <a:normAutofit/>
          </a:bodyPr>
          <a:lstStyle/>
          <a:p>
            <a:pPr algn="l">
              <a:lnSpc>
                <a:spcPct val="112000"/>
              </a:lnSpc>
              <a:buNone/>
              <a:defRPr sz="2100" b="1">
                <a:solidFill>
                  <a:srgbClr val="263431"/>
                </a:solidFill>
                <a:latin typeface="微软雅黑" panose="020B0503020204020204" charset="-122"/>
                <a:ea typeface="微软雅黑" panose="020B0503020204020204" charset="-122"/>
                <a:cs typeface="微软雅黑" panose="020B0503020204020204" charset="-122"/>
              </a:defRPr>
            </a:pPr>
            <a:r>
              <a:rPr sz="2100" b="1">
                <a:solidFill>
                  <a:srgbClr val="263431"/>
                </a:solidFill>
                <a:latin typeface="微软雅黑" panose="020B0503020204020204" charset="-122"/>
                <a:ea typeface="微软雅黑" panose="020B0503020204020204" charset="-122"/>
                <a:cs typeface="微软雅黑" panose="020B0503020204020204" charset="-122"/>
              </a:rPr>
              <a:t>常见工作</a:t>
            </a:r>
            <a:endParaRPr sz="210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6" name="直接连接符 25"/>
          <p:cNvSpPr>
            <a:spLocks noGrp="1"/>
          </p:cNvSpPr>
          <p:nvPr/>
        </p:nvSpPr>
        <p:spPr>
          <a:xfrm>
            <a:off x="4400550" y="4419600"/>
            <a:ext cx="3143250" cy="0"/>
          </a:xfrm>
          <a:prstGeom prst="line">
            <a:avLst/>
          </a:prstGeom>
          <a:noFill/>
          <a:ln w="19050">
            <a:solidFill>
              <a:srgbClr val="8FA99C"/>
            </a:solidFill>
            <a:prstDash val="solid"/>
          </a:ln>
        </p:spPr>
      </p:sp>
      <p:sp>
        <p:nvSpPr>
          <p:cNvPr id="27" name="矩形 26"/>
          <p:cNvSpPr>
            <a:spLocks noGrp="1"/>
          </p:cNvSpPr>
          <p:nvPr/>
        </p:nvSpPr>
        <p:spPr>
          <a:xfrm>
            <a:off x="8039100" y="3810000"/>
            <a:ext cx="66675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A18458"/>
                </a:solidFill>
                <a:latin typeface="微软雅黑" panose="020B0503020204020204" charset="-122"/>
                <a:ea typeface="微软雅黑" panose="020B0503020204020204" charset="-122"/>
                <a:cs typeface="微软雅黑" panose="020B0503020204020204" charset="-122"/>
              </a:defRPr>
            </a:pPr>
            <a:r>
              <a:rPr sz="1800" b="1">
                <a:solidFill>
                  <a:srgbClr val="A18458"/>
                </a:solidFill>
                <a:latin typeface="微软雅黑" panose="020B0503020204020204" charset="-122"/>
                <a:ea typeface="微软雅黑" panose="020B0503020204020204" charset="-122"/>
                <a:cs typeface="微软雅黑" panose="020B0503020204020204" charset="-122"/>
              </a:rPr>
              <a:t>06</a:t>
            </a:r>
            <a:endParaRPr sz="18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8743950" y="3800475"/>
            <a:ext cx="2667000" cy="438150"/>
          </a:xfrm>
          <a:prstGeom prst="rect">
            <a:avLst/>
          </a:prstGeom>
          <a:noFill/>
          <a:ln w="0">
            <a:noFill/>
            <a:prstDash val="solid"/>
          </a:ln>
        </p:spPr>
        <p:txBody>
          <a:bodyPr wrap="square" lIns="0" tIns="0" rIns="0" bIns="0" anchor="t">
            <a:normAutofit/>
          </a:bodyPr>
          <a:lstStyle/>
          <a:p>
            <a:pPr algn="l">
              <a:lnSpc>
                <a:spcPct val="112000"/>
              </a:lnSpc>
              <a:buNone/>
              <a:defRPr sz="2100" b="1">
                <a:solidFill>
                  <a:srgbClr val="263431"/>
                </a:solidFill>
                <a:latin typeface="微软雅黑" panose="020B0503020204020204" charset="-122"/>
                <a:ea typeface="微软雅黑" panose="020B0503020204020204" charset="-122"/>
                <a:cs typeface="微软雅黑" panose="020B0503020204020204" charset="-122"/>
              </a:defRPr>
            </a:pPr>
            <a:r>
              <a:rPr sz="2100" b="1">
                <a:solidFill>
                  <a:srgbClr val="263431"/>
                </a:solidFill>
                <a:latin typeface="微软雅黑" panose="020B0503020204020204" charset="-122"/>
                <a:ea typeface="微软雅黑" panose="020B0503020204020204" charset="-122"/>
                <a:cs typeface="微软雅黑" panose="020B0503020204020204" charset="-122"/>
              </a:rPr>
              <a:t>保存、复用与扩展</a:t>
            </a:r>
            <a:endParaRPr sz="210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9" name="直接连接符 28"/>
          <p:cNvSpPr>
            <a:spLocks noGrp="1"/>
          </p:cNvSpPr>
          <p:nvPr/>
        </p:nvSpPr>
        <p:spPr>
          <a:xfrm>
            <a:off x="8039100" y="4419600"/>
            <a:ext cx="3143250" cy="0"/>
          </a:xfrm>
          <a:prstGeom prst="line">
            <a:avLst/>
          </a:prstGeom>
          <a:noFill/>
          <a:ln w="19050">
            <a:solidFill>
              <a:srgbClr val="8FA99C"/>
            </a:solidFill>
            <a:prstDash val="solid"/>
          </a:ln>
        </p:spPr>
      </p:sp>
      <p:sp>
        <p:nvSpPr>
          <p:cNvPr id="30" name="矩形 29"/>
          <p:cNvSpPr>
            <a:spLocks noGrp="1"/>
          </p:cNvSpPr>
          <p:nvPr/>
        </p:nvSpPr>
        <p:spPr>
          <a:xfrm>
            <a:off x="781050" y="5572125"/>
            <a:ext cx="10287000" cy="361950"/>
          </a:xfrm>
          <a:prstGeom prst="rect">
            <a:avLst/>
          </a:prstGeom>
          <a:noFill/>
          <a:ln w="0">
            <a:noFill/>
            <a:prstDash val="solid"/>
          </a:ln>
        </p:spPr>
        <p:txBody>
          <a:bodyPr wrap="square" lIns="0" tIns="0" rIns="0" bIns="0" anchor="t">
            <a:normAutofit/>
          </a:bodyPr>
          <a:lstStyle/>
          <a:p>
            <a:pPr algn="ctr">
              <a:lnSpc>
                <a:spcPct val="112000"/>
              </a:lnSpc>
              <a:buNone/>
              <a:defRPr sz="1650" b="0">
                <a:solidFill>
                  <a:srgbClr val="315F55"/>
                </a:solidFill>
                <a:latin typeface="微软雅黑" panose="020B0503020204020204" charset="-122"/>
                <a:ea typeface="微软雅黑" panose="020B0503020204020204" charset="-122"/>
                <a:cs typeface="微软雅黑" panose="020B0503020204020204" charset="-122"/>
              </a:defRPr>
            </a:pPr>
            <a:r>
              <a:rPr sz="1650" b="0">
                <a:solidFill>
                  <a:srgbClr val="315F55"/>
                </a:solidFill>
                <a:latin typeface="微软雅黑" panose="020B0503020204020204" charset="-122"/>
                <a:ea typeface="微软雅黑" panose="020B0503020204020204" charset="-122"/>
                <a:cs typeface="微软雅黑" panose="020B0503020204020204" charset="-122"/>
              </a:rPr>
              <a:t>前四部分建立工作基础，后两部分用于实际工作和长期复用。</a:t>
            </a:r>
            <a:endParaRPr sz="1650" b="0">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t="27" b="27"/>
          <a:stretch>
            <a:fillRect/>
          </a:stretch>
        </p:blipFill>
        <p:spPr>
          <a:xfrm>
            <a:off x="0" y="0"/>
            <a:ext cx="12192000" cy="6858000"/>
          </a:xfrm>
          <a:prstGeom prst="rect">
            <a:avLst/>
          </a:prstGeom>
        </p:spPr>
      </p:pic>
      <p:sp>
        <p:nvSpPr>
          <p:cNvPr id="2" name="矩形 1"/>
          <p:cNvSpPr>
            <a:spLocks noGrp="1"/>
          </p:cNvSpPr>
          <p:nvPr/>
        </p:nvSpPr>
        <p:spPr>
          <a:xfrm>
            <a:off x="0" y="0"/>
            <a:ext cx="6667500" cy="6858000"/>
          </a:xfrm>
          <a:prstGeom prst="rect">
            <a:avLst/>
          </a:prstGeom>
          <a:solidFill>
            <a:srgbClr val="F3F0E6"/>
          </a:solidFill>
          <a:ln w="0">
            <a:noFill/>
            <a:prstDash val="solid"/>
          </a:ln>
        </p:spPr>
      </p:sp>
      <p:sp>
        <p:nvSpPr>
          <p:cNvPr id="3" name="矩形 2"/>
          <p:cNvSpPr>
            <a:spLocks noGrp="1"/>
          </p:cNvSpPr>
          <p:nvPr/>
        </p:nvSpPr>
        <p:spPr>
          <a:xfrm>
            <a:off x="647700" y="400050"/>
            <a:ext cx="2190750" cy="1066800"/>
          </a:xfrm>
          <a:prstGeom prst="rect">
            <a:avLst/>
          </a:prstGeom>
          <a:noFill/>
          <a:ln w="0">
            <a:noFill/>
            <a:prstDash val="solid"/>
          </a:ln>
        </p:spPr>
        <p:txBody>
          <a:bodyPr wrap="square" lIns="0" tIns="0" rIns="0" bIns="0" anchor="t">
            <a:normAutofit fontScale="96899"/>
          </a:bodyPr>
          <a:lstStyle/>
          <a:p>
            <a:pPr algn="l">
              <a:lnSpc>
                <a:spcPct val="112000"/>
              </a:lnSpc>
              <a:buNone/>
              <a:defRPr sz="6450" b="0">
                <a:solidFill>
                  <a:srgbClr val="A18458"/>
                </a:solidFill>
                <a:latin typeface="Times New Roman" panose="02020603050405020304"/>
                <a:ea typeface="Times New Roman" panose="02020603050405020304"/>
                <a:cs typeface="Times New Roman" panose="02020603050405020304"/>
              </a:defRPr>
            </a:pPr>
            <a:r>
              <a:rPr sz="6450" b="0">
                <a:solidFill>
                  <a:srgbClr val="A18458"/>
                </a:solidFill>
                <a:latin typeface="Times New Roman" panose="02020603050405020304"/>
                <a:ea typeface="Times New Roman" panose="02020603050405020304"/>
                <a:cs typeface="Times New Roman" panose="02020603050405020304"/>
              </a:rPr>
              <a:t>01</a:t>
            </a:r>
            <a:endParaRPr sz="6450" b="0">
              <a:solidFill>
                <a:srgbClr val="A18458"/>
              </a:solidFill>
              <a:latin typeface="Times New Roman" panose="02020603050405020304"/>
              <a:ea typeface="Times New Roman" panose="02020603050405020304"/>
              <a:cs typeface="Times New Roman" panose="02020603050405020304"/>
            </a:endParaRPr>
          </a:p>
        </p:txBody>
      </p:sp>
      <p:sp>
        <p:nvSpPr>
          <p:cNvPr id="4" name="直接连接符 3"/>
          <p:cNvSpPr>
            <a:spLocks noGrp="1"/>
          </p:cNvSpPr>
          <p:nvPr/>
        </p:nvSpPr>
        <p:spPr>
          <a:xfrm>
            <a:off x="704850" y="1466850"/>
            <a:ext cx="1104900" cy="0"/>
          </a:xfrm>
          <a:prstGeom prst="line">
            <a:avLst/>
          </a:prstGeom>
          <a:noFill/>
          <a:ln w="14288">
            <a:solidFill>
              <a:srgbClr val="A18458"/>
            </a:solidFill>
            <a:prstDash val="solid"/>
          </a:ln>
        </p:spPr>
      </p:sp>
      <p:sp>
        <p:nvSpPr>
          <p:cNvPr id="5" name="矩形 4"/>
          <p:cNvSpPr>
            <a:spLocks noGrp="1"/>
          </p:cNvSpPr>
          <p:nvPr/>
        </p:nvSpPr>
        <p:spPr>
          <a:xfrm>
            <a:off x="685800" y="1790700"/>
            <a:ext cx="5334000" cy="838200"/>
          </a:xfrm>
          <a:prstGeom prst="rect">
            <a:avLst/>
          </a:prstGeom>
          <a:noFill/>
          <a:ln w="0">
            <a:noFill/>
            <a:prstDash val="solid"/>
          </a:ln>
        </p:spPr>
        <p:txBody>
          <a:bodyPr wrap="square" lIns="0" tIns="0" rIns="0" bIns="0" anchor="t">
            <a:normAutofit/>
          </a:bodyPr>
          <a:lstStyle/>
          <a:p>
            <a:pPr algn="l">
              <a:lnSpc>
                <a:spcPct val="112000"/>
              </a:lnSpc>
              <a:buNone/>
              <a:defRPr sz="4050" b="0">
                <a:solidFill>
                  <a:srgbClr val="263431"/>
                </a:solidFill>
                <a:latin typeface="黑体" panose="02010609060101010101" charset="-122"/>
                <a:ea typeface="黑体" panose="02010609060101010101" charset="-122"/>
                <a:cs typeface="黑体" panose="02010609060101010101" charset="-122"/>
              </a:defRPr>
            </a:pPr>
            <a:r>
              <a:rPr sz="4050" b="0">
                <a:solidFill>
                  <a:srgbClr val="263431"/>
                </a:solidFill>
                <a:latin typeface="黑体" panose="02010609060101010101" charset="-122"/>
                <a:ea typeface="黑体" panose="02010609060101010101" charset="-122"/>
                <a:cs typeface="黑体" panose="02010609060101010101" charset="-122"/>
              </a:rPr>
              <a:t>项目工作方式</a:t>
            </a:r>
            <a:endParaRPr sz="4050" b="0">
              <a:solidFill>
                <a:srgbClr val="263431"/>
              </a:solidFill>
              <a:latin typeface="黑体" panose="02010609060101010101" charset="-122"/>
              <a:ea typeface="黑体" panose="02010609060101010101" charset="-122"/>
              <a:cs typeface="黑体" panose="02010609060101010101" charset="-122"/>
            </a:endParaRPr>
          </a:p>
        </p:txBody>
      </p:sp>
      <p:sp>
        <p:nvSpPr>
          <p:cNvPr id="6" name="矩形 5"/>
          <p:cNvSpPr>
            <a:spLocks noGrp="1"/>
          </p:cNvSpPr>
          <p:nvPr/>
        </p:nvSpPr>
        <p:spPr>
          <a:xfrm>
            <a:off x="781050" y="32575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01  一个项目一个文件夹</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81050" y="37147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02  统一目录</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81050" y="41719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03  材料与成果分开</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81050" y="46291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04  保留项目说明</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685800" y="5753100"/>
            <a:ext cx="5334000" cy="38100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本部分成果：建立第一个项目文件夹</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8" name="矩形 27"/>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一个项目只使用一个工作文件夹</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01 项目</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857250" y="6410325"/>
            <a:ext cx="1028700" cy="0"/>
          </a:xfrm>
          <a:prstGeom prst="line">
            <a:avLst/>
          </a:prstGeom>
          <a:noFill/>
          <a:ln w="38100">
            <a:solidFill>
              <a:srgbClr val="315F55"/>
            </a:solidFill>
            <a:prstDash val="solid"/>
          </a:ln>
        </p:spPr>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05</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3281363" y="3219450"/>
            <a:ext cx="247650" cy="0"/>
          </a:xfrm>
          <a:prstGeom prst="line">
            <a:avLst/>
          </a:prstGeom>
          <a:noFill/>
          <a:ln w="28575">
            <a:solidFill>
              <a:srgbClr val="8FA99C"/>
            </a:solidFill>
            <a:prstDash val="solid"/>
          </a:ln>
        </p:spPr>
      </p:sp>
      <p:sp>
        <p:nvSpPr>
          <p:cNvPr id="13" name="圆角矩形 12"/>
          <p:cNvSpPr>
            <a:spLocks noGrp="1"/>
          </p:cNvSpPr>
          <p:nvPr/>
        </p:nvSpPr>
        <p:spPr>
          <a:xfrm>
            <a:off x="762000" y="2628900"/>
            <a:ext cx="2481263" cy="1181100"/>
          </a:xfrm>
          <a:prstGeom prst="roundRect">
            <a:avLst>
              <a:gd name="adj" fmla="val 11290"/>
            </a:avLst>
          </a:prstGeom>
          <a:solidFill>
            <a:srgbClr val="F3F0E6"/>
          </a:solidFill>
          <a:ln w="9525">
            <a:solidFill>
              <a:srgbClr val="8FA99C"/>
            </a:solidFill>
            <a:prstDash val="solid"/>
          </a:ln>
        </p:spPr>
      </p:sp>
      <p:sp>
        <p:nvSpPr>
          <p:cNvPr id="14" name="矩形 13"/>
          <p:cNvSpPr>
            <a:spLocks noGrp="1"/>
          </p:cNvSpPr>
          <p:nvPr/>
        </p:nvSpPr>
        <p:spPr>
          <a:xfrm>
            <a:off x="914400" y="2800350"/>
            <a:ext cx="2176463"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01</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914400" y="3095625"/>
            <a:ext cx="2176463"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新建文件夹</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6010275" y="3219450"/>
            <a:ext cx="247650" cy="0"/>
          </a:xfrm>
          <a:prstGeom prst="line">
            <a:avLst/>
          </a:prstGeom>
          <a:noFill/>
          <a:ln w="28575">
            <a:solidFill>
              <a:srgbClr val="8FA99C"/>
            </a:solidFill>
            <a:prstDash val="solid"/>
          </a:ln>
        </p:spPr>
      </p:sp>
      <p:sp>
        <p:nvSpPr>
          <p:cNvPr id="17" name="圆角矩形 16"/>
          <p:cNvSpPr>
            <a:spLocks noGrp="1"/>
          </p:cNvSpPr>
          <p:nvPr/>
        </p:nvSpPr>
        <p:spPr>
          <a:xfrm>
            <a:off x="3490913" y="2628900"/>
            <a:ext cx="2481263" cy="1181100"/>
          </a:xfrm>
          <a:prstGeom prst="roundRect">
            <a:avLst>
              <a:gd name="adj" fmla="val 11290"/>
            </a:avLst>
          </a:prstGeom>
          <a:solidFill>
            <a:srgbClr val="F3F0E6"/>
          </a:solidFill>
          <a:ln w="9525">
            <a:solidFill>
              <a:srgbClr val="8FA99C"/>
            </a:solidFill>
            <a:prstDash val="solid"/>
          </a:ln>
        </p:spPr>
      </p:sp>
      <p:sp>
        <p:nvSpPr>
          <p:cNvPr id="18" name="矩形 17"/>
          <p:cNvSpPr>
            <a:spLocks noGrp="1"/>
          </p:cNvSpPr>
          <p:nvPr/>
        </p:nvSpPr>
        <p:spPr>
          <a:xfrm>
            <a:off x="3643313" y="2800350"/>
            <a:ext cx="2176463"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02</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3643313" y="3095625"/>
            <a:ext cx="2176463"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放入材料</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8739188" y="3219450"/>
            <a:ext cx="247650" cy="0"/>
          </a:xfrm>
          <a:prstGeom prst="line">
            <a:avLst/>
          </a:prstGeom>
          <a:noFill/>
          <a:ln w="28575">
            <a:solidFill>
              <a:srgbClr val="8FA99C"/>
            </a:solidFill>
            <a:prstDash val="solid"/>
          </a:ln>
        </p:spPr>
      </p:sp>
      <p:sp>
        <p:nvSpPr>
          <p:cNvPr id="21" name="圆角矩形 20"/>
          <p:cNvSpPr>
            <a:spLocks noGrp="1"/>
          </p:cNvSpPr>
          <p:nvPr/>
        </p:nvSpPr>
        <p:spPr>
          <a:xfrm>
            <a:off x="6219825" y="2628900"/>
            <a:ext cx="2481263" cy="1181100"/>
          </a:xfrm>
          <a:prstGeom prst="roundRect">
            <a:avLst>
              <a:gd name="adj" fmla="val 11290"/>
            </a:avLst>
          </a:prstGeom>
          <a:solidFill>
            <a:srgbClr val="F3F0E6"/>
          </a:solidFill>
          <a:ln w="9525">
            <a:solidFill>
              <a:srgbClr val="8FA99C"/>
            </a:solidFill>
            <a:prstDash val="solid"/>
          </a:ln>
        </p:spPr>
      </p:sp>
      <p:sp>
        <p:nvSpPr>
          <p:cNvPr id="22" name="矩形 21"/>
          <p:cNvSpPr>
            <a:spLocks noGrp="1"/>
          </p:cNvSpPr>
          <p:nvPr/>
        </p:nvSpPr>
        <p:spPr>
          <a:xfrm>
            <a:off x="6372225" y="2800350"/>
            <a:ext cx="2176463"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03</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6372225" y="3095625"/>
            <a:ext cx="2176463"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在其中工作</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圆角矩形 23"/>
          <p:cNvSpPr>
            <a:spLocks noGrp="1"/>
          </p:cNvSpPr>
          <p:nvPr/>
        </p:nvSpPr>
        <p:spPr>
          <a:xfrm>
            <a:off x="8948738" y="2628900"/>
            <a:ext cx="2481263" cy="1181100"/>
          </a:xfrm>
          <a:prstGeom prst="roundRect">
            <a:avLst>
              <a:gd name="adj" fmla="val 11290"/>
            </a:avLst>
          </a:prstGeom>
          <a:solidFill>
            <a:srgbClr val="F3F0E6"/>
          </a:solidFill>
          <a:ln w="9525">
            <a:solidFill>
              <a:srgbClr val="8FA99C"/>
            </a:solidFill>
            <a:prstDash val="solid"/>
          </a:ln>
        </p:spPr>
      </p:sp>
      <p:sp>
        <p:nvSpPr>
          <p:cNvPr id="25" name="矩形 24"/>
          <p:cNvSpPr>
            <a:spLocks noGrp="1"/>
          </p:cNvSpPr>
          <p:nvPr/>
        </p:nvSpPr>
        <p:spPr>
          <a:xfrm>
            <a:off x="9101138" y="2800350"/>
            <a:ext cx="2176463"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04</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nvSpPr>
        <p:spPr>
          <a:xfrm>
            <a:off x="9101138" y="3095625"/>
            <a:ext cx="2176463"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保存成果</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1143000" y="4333875"/>
            <a:ext cx="9906000" cy="666750"/>
          </a:xfrm>
          <a:prstGeom prst="rect">
            <a:avLst/>
          </a:prstGeom>
          <a:noFill/>
          <a:ln w="0">
            <a:noFill/>
            <a:prstDash val="solid"/>
          </a:ln>
        </p:spPr>
        <p:txBody>
          <a:bodyPr wrap="square" lIns="0" tIns="0" rIns="0" bIns="0" anchor="ctr">
            <a:normAutofit/>
          </a:bodyPr>
          <a:lstStyle/>
          <a:p>
            <a:pPr algn="ctr">
              <a:lnSpc>
                <a:spcPct val="112000"/>
              </a:lnSpc>
              <a:buNone/>
              <a:defRPr sz="1800" b="0">
                <a:solidFill>
                  <a:srgbClr val="315F55"/>
                </a:solidFill>
                <a:latin typeface="微软雅黑" panose="020B0503020204020204" charset="-122"/>
                <a:ea typeface="微软雅黑" panose="020B0503020204020204" charset="-122"/>
                <a:cs typeface="微软雅黑" panose="020B0503020204020204" charset="-122"/>
              </a:defRPr>
            </a:pPr>
            <a:r>
              <a:rPr sz="1800" b="0">
                <a:solidFill>
                  <a:srgbClr val="315F55"/>
                </a:solidFill>
                <a:latin typeface="微软雅黑" panose="020B0503020204020204" charset="-122"/>
                <a:ea typeface="微软雅黑" panose="020B0503020204020204" charset="-122"/>
                <a:cs typeface="微软雅黑" panose="020B0503020204020204" charset="-122"/>
              </a:rPr>
              <a:t>文件夹既是工作范围，也是Codex理解当前任务的上下文。</a:t>
            </a:r>
            <a:endParaRPr sz="1800" b="0">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5" name="矩形 14"/>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统一的目录结构便于继续工作</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01 项目</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857250" y="6410325"/>
            <a:ext cx="1028700" cy="0"/>
          </a:xfrm>
          <a:prstGeom prst="line">
            <a:avLst/>
          </a:prstGeom>
          <a:noFill/>
          <a:ln w="38100">
            <a:solidFill>
              <a:srgbClr val="315F55"/>
            </a:solidFill>
            <a:prstDash val="solid"/>
          </a:ln>
        </p:spPr>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06</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914400" y="1790700"/>
            <a:ext cx="4000500" cy="381000"/>
          </a:xfrm>
          <a:prstGeom prst="rect">
            <a:avLst/>
          </a:prstGeom>
          <a:noFill/>
          <a:ln w="0">
            <a:noFill/>
            <a:prstDash val="solid"/>
          </a:ln>
        </p:spPr>
        <p:txBody>
          <a:bodyPr wrap="square" lIns="0" tIns="0" rIns="0" bIns="0" anchor="t">
            <a:normAutofit/>
          </a:bodyPr>
          <a:lstStyle/>
          <a:p>
            <a:pPr algn="l">
              <a:lnSpc>
                <a:spcPct val="112000"/>
              </a:lnSpc>
              <a:buNone/>
              <a:defRPr sz="2100" b="1">
                <a:solidFill>
                  <a:srgbClr val="315F55"/>
                </a:solidFill>
                <a:latin typeface="微软雅黑" panose="020B0503020204020204" charset="-122"/>
                <a:ea typeface="微软雅黑" panose="020B0503020204020204" charset="-122"/>
                <a:cs typeface="微软雅黑" panose="020B0503020204020204" charset="-122"/>
              </a:defRPr>
            </a:pPr>
            <a:r>
              <a:rPr sz="2100" b="1">
                <a:solidFill>
                  <a:srgbClr val="315F55"/>
                </a:solidFill>
                <a:latin typeface="微软雅黑" panose="020B0503020204020204" charset="-122"/>
                <a:ea typeface="微软雅黑" panose="020B0503020204020204" charset="-122"/>
                <a:cs typeface="微软雅黑" panose="020B0503020204020204" charset="-122"/>
              </a:rPr>
              <a:t>项目名称/</a:t>
            </a:r>
            <a:endParaRPr sz="21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123950" y="2343150"/>
            <a:ext cx="4476750" cy="3238500"/>
          </a:xfrm>
          <a:prstGeom prst="rect">
            <a:avLst/>
          </a:prstGeom>
          <a:noFill/>
          <a:ln w="0">
            <a:noFill/>
            <a:prstDash val="solid"/>
          </a:ln>
        </p:spPr>
        <p:txBody>
          <a:bodyPr wrap="square" lIns="0" tIns="0" rIns="0" bIns="0" anchor="t">
            <a:normAutofit/>
          </a:bodyPr>
          <a:lstStyle/>
          <a:p>
            <a:pPr algn="l">
              <a:lnSpc>
                <a:spcPct val="118000"/>
              </a:lnSpc>
              <a:buNone/>
              <a:defRPr sz="1875" b="0">
                <a:solidFill>
                  <a:srgbClr val="263431"/>
                </a:solidFill>
                <a:latin typeface="Consolas" panose="020B0609020204030204"/>
                <a:ea typeface="Consolas" panose="020B0609020204030204"/>
                <a:cs typeface="Consolas" panose="020B0609020204030204"/>
              </a:defRPr>
            </a:pPr>
            <a:r>
              <a:rPr sz="1875" b="0">
                <a:solidFill>
                  <a:srgbClr val="263431"/>
                </a:solidFill>
                <a:latin typeface="Consolas" panose="020B0609020204030204"/>
                <a:ea typeface="Consolas" panose="020B0609020204030204"/>
                <a:cs typeface="Consolas" panose="020B0609020204030204"/>
              </a:rPr>
              <a:t>├── README.md</a:t>
            </a:r>
            <a:endParaRPr sz="1875" b="0">
              <a:solidFill>
                <a:srgbClr val="263431"/>
              </a:solidFill>
              <a:latin typeface="Consolas" panose="020B0609020204030204"/>
              <a:ea typeface="Consolas" panose="020B0609020204030204"/>
              <a:cs typeface="Consolas" panose="020B0609020204030204"/>
            </a:endParaRPr>
          </a:p>
          <a:p>
            <a:pPr algn="l">
              <a:lnSpc>
                <a:spcPct val="118000"/>
              </a:lnSpc>
              <a:buNone/>
              <a:defRPr sz="1875" b="0">
                <a:solidFill>
                  <a:srgbClr val="263431"/>
                </a:solidFill>
                <a:latin typeface="Consolas" panose="020B0609020204030204"/>
                <a:ea typeface="Consolas" panose="020B0609020204030204"/>
                <a:cs typeface="Consolas" panose="020B0609020204030204"/>
              </a:defRPr>
            </a:pPr>
            <a:r>
              <a:rPr sz="1875" b="0">
                <a:solidFill>
                  <a:srgbClr val="263431"/>
                </a:solidFill>
                <a:latin typeface="Consolas" panose="020B0609020204030204"/>
                <a:ea typeface="Consolas" panose="020B0609020204030204"/>
                <a:cs typeface="Consolas" panose="020B0609020204030204"/>
              </a:rPr>
              <a:t>├── AGENTS.md</a:t>
            </a:r>
            <a:endParaRPr sz="1875" b="0">
              <a:solidFill>
                <a:srgbClr val="263431"/>
              </a:solidFill>
              <a:latin typeface="Consolas" panose="020B0609020204030204"/>
              <a:ea typeface="Consolas" panose="020B0609020204030204"/>
              <a:cs typeface="Consolas" panose="020B0609020204030204"/>
            </a:endParaRPr>
          </a:p>
          <a:p>
            <a:pPr algn="l">
              <a:lnSpc>
                <a:spcPct val="118000"/>
              </a:lnSpc>
              <a:buNone/>
              <a:defRPr sz="1875" b="0">
                <a:solidFill>
                  <a:srgbClr val="263431"/>
                </a:solidFill>
                <a:latin typeface="Consolas" panose="020B0609020204030204"/>
                <a:ea typeface="Consolas" panose="020B0609020204030204"/>
                <a:cs typeface="Consolas" panose="020B0609020204030204"/>
              </a:defRPr>
            </a:pPr>
            <a:r>
              <a:rPr sz="1875" b="0">
                <a:solidFill>
                  <a:srgbClr val="263431"/>
                </a:solidFill>
                <a:latin typeface="Consolas" panose="020B0609020204030204"/>
                <a:ea typeface="Consolas" panose="020B0609020204030204"/>
                <a:cs typeface="Consolas" panose="020B0609020204030204"/>
              </a:rPr>
              <a:t>├── REQUIREMENTS.md</a:t>
            </a:r>
            <a:endParaRPr sz="1875" b="0">
              <a:solidFill>
                <a:srgbClr val="263431"/>
              </a:solidFill>
              <a:latin typeface="Consolas" panose="020B0609020204030204"/>
              <a:ea typeface="Consolas" panose="020B0609020204030204"/>
              <a:cs typeface="Consolas" panose="020B0609020204030204"/>
            </a:endParaRPr>
          </a:p>
          <a:p>
            <a:pPr algn="l">
              <a:lnSpc>
                <a:spcPct val="118000"/>
              </a:lnSpc>
              <a:buNone/>
              <a:defRPr sz="1875" b="0">
                <a:solidFill>
                  <a:srgbClr val="263431"/>
                </a:solidFill>
                <a:latin typeface="Consolas" panose="020B0609020204030204"/>
                <a:ea typeface="Consolas" panose="020B0609020204030204"/>
                <a:cs typeface="Consolas" panose="020B0609020204030204"/>
              </a:defRPr>
            </a:pPr>
            <a:r>
              <a:rPr sz="1875" b="0">
                <a:solidFill>
                  <a:srgbClr val="263431"/>
                </a:solidFill>
                <a:latin typeface="Consolas" panose="020B0609020204030204"/>
                <a:ea typeface="Consolas" panose="020B0609020204030204"/>
                <a:cs typeface="Consolas" panose="020B0609020204030204"/>
              </a:rPr>
              <a:t>├── SOURCES.md</a:t>
            </a:r>
            <a:endParaRPr sz="1875" b="0">
              <a:solidFill>
                <a:srgbClr val="263431"/>
              </a:solidFill>
              <a:latin typeface="Consolas" panose="020B0609020204030204"/>
              <a:ea typeface="Consolas" panose="020B0609020204030204"/>
              <a:cs typeface="Consolas" panose="020B0609020204030204"/>
            </a:endParaRPr>
          </a:p>
          <a:p>
            <a:pPr algn="l">
              <a:lnSpc>
                <a:spcPct val="118000"/>
              </a:lnSpc>
              <a:buNone/>
              <a:defRPr sz="1875" b="0">
                <a:solidFill>
                  <a:srgbClr val="263431"/>
                </a:solidFill>
                <a:latin typeface="Consolas" panose="020B0609020204030204"/>
                <a:ea typeface="Consolas" panose="020B0609020204030204"/>
                <a:cs typeface="Consolas" panose="020B0609020204030204"/>
              </a:defRPr>
            </a:pPr>
            <a:r>
              <a:rPr sz="1875" b="0">
                <a:solidFill>
                  <a:srgbClr val="263431"/>
                </a:solidFill>
                <a:latin typeface="Consolas" panose="020B0609020204030204"/>
                <a:ea typeface="Consolas" panose="020B0609020204030204"/>
                <a:cs typeface="Consolas" panose="020B0609020204030204"/>
              </a:rPr>
              <a:t>├── 00-input/</a:t>
            </a:r>
            <a:endParaRPr sz="1875" b="0">
              <a:solidFill>
                <a:srgbClr val="263431"/>
              </a:solidFill>
              <a:latin typeface="Consolas" panose="020B0609020204030204"/>
              <a:ea typeface="Consolas" panose="020B0609020204030204"/>
              <a:cs typeface="Consolas" panose="020B0609020204030204"/>
            </a:endParaRPr>
          </a:p>
          <a:p>
            <a:pPr algn="l">
              <a:lnSpc>
                <a:spcPct val="118000"/>
              </a:lnSpc>
              <a:buNone/>
              <a:defRPr sz="1875" b="0">
                <a:solidFill>
                  <a:srgbClr val="263431"/>
                </a:solidFill>
                <a:latin typeface="Consolas" panose="020B0609020204030204"/>
                <a:ea typeface="Consolas" panose="020B0609020204030204"/>
                <a:cs typeface="Consolas" panose="020B0609020204030204"/>
              </a:defRPr>
            </a:pPr>
            <a:r>
              <a:rPr sz="1875" b="0">
                <a:solidFill>
                  <a:srgbClr val="263431"/>
                </a:solidFill>
                <a:latin typeface="Consolas" panose="020B0609020204030204"/>
                <a:ea typeface="Consolas" panose="020B0609020204030204"/>
                <a:cs typeface="Consolas" panose="020B0609020204030204"/>
              </a:rPr>
              <a:t>├── 01-working/</a:t>
            </a:r>
            <a:endParaRPr sz="1875" b="0">
              <a:solidFill>
                <a:srgbClr val="263431"/>
              </a:solidFill>
              <a:latin typeface="Consolas" panose="020B0609020204030204"/>
              <a:ea typeface="Consolas" panose="020B0609020204030204"/>
              <a:cs typeface="Consolas" panose="020B0609020204030204"/>
            </a:endParaRPr>
          </a:p>
          <a:p>
            <a:pPr algn="l">
              <a:lnSpc>
                <a:spcPct val="118000"/>
              </a:lnSpc>
              <a:buNone/>
              <a:defRPr sz="1875" b="0">
                <a:solidFill>
                  <a:srgbClr val="263431"/>
                </a:solidFill>
                <a:latin typeface="Consolas" panose="020B0609020204030204"/>
                <a:ea typeface="Consolas" panose="020B0609020204030204"/>
                <a:cs typeface="Consolas" panose="020B0609020204030204"/>
              </a:defRPr>
            </a:pPr>
            <a:r>
              <a:rPr sz="1875" b="0">
                <a:solidFill>
                  <a:srgbClr val="263431"/>
                </a:solidFill>
                <a:latin typeface="Consolas" panose="020B0609020204030204"/>
                <a:ea typeface="Consolas" panose="020B0609020204030204"/>
                <a:cs typeface="Consolas" panose="020B0609020204030204"/>
              </a:rPr>
              <a:t>├── 02-output/</a:t>
            </a:r>
            <a:endParaRPr sz="1875" b="0">
              <a:solidFill>
                <a:srgbClr val="263431"/>
              </a:solidFill>
              <a:latin typeface="Consolas" panose="020B0609020204030204"/>
              <a:ea typeface="Consolas" panose="020B0609020204030204"/>
              <a:cs typeface="Consolas" panose="020B0609020204030204"/>
            </a:endParaRPr>
          </a:p>
          <a:p>
            <a:pPr algn="l">
              <a:lnSpc>
                <a:spcPct val="118000"/>
              </a:lnSpc>
              <a:buNone/>
              <a:defRPr sz="1875" b="0">
                <a:solidFill>
                  <a:srgbClr val="263431"/>
                </a:solidFill>
                <a:latin typeface="Consolas" panose="020B0609020204030204"/>
                <a:ea typeface="Consolas" panose="020B0609020204030204"/>
                <a:cs typeface="Consolas" panose="020B0609020204030204"/>
              </a:defRPr>
            </a:pPr>
            <a:r>
              <a:rPr sz="1875" b="0">
                <a:solidFill>
                  <a:srgbClr val="263431"/>
                </a:solidFill>
                <a:latin typeface="Consolas" panose="020B0609020204030204"/>
                <a:ea typeface="Consolas" panose="020B0609020204030204"/>
                <a:cs typeface="Consolas" panose="020B0609020204030204"/>
              </a:rPr>
              <a:t>└── 03-review/</a:t>
            </a:r>
            <a:endParaRPr sz="1875" b="0">
              <a:solidFill>
                <a:srgbClr val="263431"/>
              </a:solidFill>
              <a:latin typeface="Consolas" panose="020B0609020204030204"/>
              <a:ea typeface="Consolas" panose="020B0609020204030204"/>
              <a:cs typeface="Consolas" panose="020B0609020204030204"/>
            </a:endParaRPr>
          </a:p>
        </p:txBody>
      </p:sp>
      <p:sp>
        <p:nvSpPr>
          <p:cNvPr id="14" name="矩形 13"/>
          <p:cNvSpPr>
            <a:spLocks noGrp="1"/>
          </p:cNvSpPr>
          <p:nvPr/>
        </p:nvSpPr>
        <p:spPr>
          <a:xfrm>
            <a:off x="6572250" y="2428875"/>
            <a:ext cx="4000500" cy="2476500"/>
          </a:xfrm>
          <a:prstGeom prst="rect">
            <a:avLst/>
          </a:prstGeom>
          <a:noFill/>
          <a:ln w="0">
            <a:noFill/>
            <a:prstDash val="solid"/>
          </a:ln>
        </p:spPr>
        <p:txBody>
          <a:bodyPr wrap="square" lIns="0" tIns="0" rIns="0" bIns="0" anchor="t">
            <a:normAutofit/>
          </a:bodyPr>
          <a:lstStyle/>
          <a:p>
            <a:pPr algn="l">
              <a:lnSpc>
                <a:spcPct val="135000"/>
              </a:lnSpc>
              <a:buNone/>
              <a:defRPr sz="2100" b="0">
                <a:solidFill>
                  <a:srgbClr val="315363"/>
                </a:solidFill>
                <a:latin typeface="微软雅黑" panose="020B0503020204020204" charset="-122"/>
                <a:ea typeface="微软雅黑" panose="020B0503020204020204" charset="-122"/>
                <a:cs typeface="微软雅黑" panose="020B0503020204020204" charset="-122"/>
              </a:defRPr>
            </a:pPr>
            <a:r>
              <a:rPr sz="2100" b="0">
                <a:solidFill>
                  <a:srgbClr val="315363"/>
                </a:solidFill>
                <a:latin typeface="微软雅黑" panose="020B0503020204020204" charset="-122"/>
                <a:ea typeface="微软雅黑" panose="020B0503020204020204" charset="-122"/>
                <a:cs typeface="微软雅黑" panose="020B0503020204020204" charset="-122"/>
              </a:rPr>
              <a:t>原始材料不覆盖</a:t>
            </a:r>
            <a:endParaRPr sz="2100" b="0">
              <a:solidFill>
                <a:srgbClr val="315363"/>
              </a:solidFill>
              <a:latin typeface="微软雅黑" panose="020B0503020204020204" charset="-122"/>
              <a:ea typeface="微软雅黑" panose="020B0503020204020204" charset="-122"/>
              <a:cs typeface="微软雅黑" panose="020B0503020204020204" charset="-122"/>
            </a:endParaRPr>
          </a:p>
          <a:p>
            <a:pPr algn="l">
              <a:lnSpc>
                <a:spcPct val="135000"/>
              </a:lnSpc>
              <a:buNone/>
              <a:defRPr sz="2100" b="0">
                <a:solidFill>
                  <a:srgbClr val="315363"/>
                </a:solidFill>
                <a:latin typeface="微软雅黑" panose="020B0503020204020204" charset="-122"/>
                <a:ea typeface="微软雅黑" panose="020B0503020204020204" charset="-122"/>
                <a:cs typeface="微软雅黑" panose="020B0503020204020204" charset="-122"/>
              </a:defRPr>
            </a:pPr>
            <a:r>
              <a:rPr sz="2100" b="0">
                <a:solidFill>
                  <a:srgbClr val="315363"/>
                </a:solidFill>
                <a:latin typeface="微软雅黑" panose="020B0503020204020204" charset="-122"/>
                <a:ea typeface="微软雅黑" panose="020B0503020204020204" charset="-122"/>
                <a:cs typeface="微软雅黑" panose="020B0503020204020204" charset="-122"/>
              </a:rPr>
              <a:t>过程文件可修改</a:t>
            </a:r>
            <a:endParaRPr sz="2100" b="0">
              <a:solidFill>
                <a:srgbClr val="315363"/>
              </a:solidFill>
              <a:latin typeface="微软雅黑" panose="020B0503020204020204" charset="-122"/>
              <a:ea typeface="微软雅黑" panose="020B0503020204020204" charset="-122"/>
              <a:cs typeface="微软雅黑" panose="020B0503020204020204" charset="-122"/>
            </a:endParaRPr>
          </a:p>
          <a:p>
            <a:pPr algn="l">
              <a:lnSpc>
                <a:spcPct val="135000"/>
              </a:lnSpc>
              <a:buNone/>
              <a:defRPr sz="2100" b="0">
                <a:solidFill>
                  <a:srgbClr val="315363"/>
                </a:solidFill>
                <a:latin typeface="微软雅黑" panose="020B0503020204020204" charset="-122"/>
                <a:ea typeface="微软雅黑" panose="020B0503020204020204" charset="-122"/>
                <a:cs typeface="微软雅黑" panose="020B0503020204020204" charset="-122"/>
              </a:defRPr>
            </a:pPr>
            <a:r>
              <a:rPr sz="2100" b="0">
                <a:solidFill>
                  <a:srgbClr val="315363"/>
                </a:solidFill>
                <a:latin typeface="微软雅黑" panose="020B0503020204020204" charset="-122"/>
                <a:ea typeface="微软雅黑" panose="020B0503020204020204" charset="-122"/>
                <a:cs typeface="微软雅黑" panose="020B0503020204020204" charset="-122"/>
              </a:rPr>
              <a:t>正式成果集中保存</a:t>
            </a:r>
            <a:endParaRPr sz="2100" b="0">
              <a:solidFill>
                <a:srgbClr val="315363"/>
              </a:solidFill>
              <a:latin typeface="微软雅黑" panose="020B0503020204020204" charset="-122"/>
              <a:ea typeface="微软雅黑" panose="020B0503020204020204" charset="-122"/>
              <a:cs typeface="微软雅黑" panose="020B0503020204020204" charset="-122"/>
            </a:endParaRPr>
          </a:p>
          <a:p>
            <a:pPr algn="l">
              <a:lnSpc>
                <a:spcPct val="135000"/>
              </a:lnSpc>
              <a:buNone/>
              <a:defRPr sz="2100" b="0">
                <a:solidFill>
                  <a:srgbClr val="315363"/>
                </a:solidFill>
                <a:latin typeface="微软雅黑" panose="020B0503020204020204" charset="-122"/>
                <a:ea typeface="微软雅黑" panose="020B0503020204020204" charset="-122"/>
                <a:cs typeface="微软雅黑" panose="020B0503020204020204" charset="-122"/>
              </a:defRPr>
            </a:pPr>
            <a:r>
              <a:rPr sz="2100" b="0">
                <a:solidFill>
                  <a:srgbClr val="315363"/>
                </a:solidFill>
                <a:latin typeface="微软雅黑" panose="020B0503020204020204" charset="-122"/>
                <a:ea typeface="微软雅黑" panose="020B0503020204020204" charset="-122"/>
                <a:cs typeface="微软雅黑" panose="020B0503020204020204" charset="-122"/>
              </a:rPr>
              <a:t>检查意见单独记录</a:t>
            </a:r>
            <a:endParaRPr sz="2100" b="0">
              <a:solidFill>
                <a:srgbClr val="3153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7" name="矩形 16"/>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几个文件各有用途</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01 项目</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5" name="直接连接符 4"/>
          <p:cNvSpPr>
            <a:spLocks noGrp="1"/>
          </p:cNvSpPr>
          <p:nvPr/>
        </p:nvSpPr>
        <p:spPr>
          <a:xfrm>
            <a:off x="857250" y="6410325"/>
            <a:ext cx="1028700" cy="0"/>
          </a:xfrm>
          <a:prstGeom prst="line">
            <a:avLst/>
          </a:prstGeom>
          <a:noFill/>
          <a:ln w="38100">
            <a:solidFill>
              <a:srgbClr val="315F55"/>
            </a:solidFill>
            <a:prstDash val="solid"/>
          </a:ln>
        </p:spPr>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07</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6096000" y="1838325"/>
            <a:ext cx="0" cy="3857625"/>
          </a:xfrm>
          <a:prstGeom prst="line">
            <a:avLst/>
          </a:prstGeom>
          <a:noFill/>
          <a:ln w="9525">
            <a:solidFill>
              <a:srgbClr val="C9D0C8"/>
            </a:solidFill>
            <a:prstDash val="solid"/>
          </a:ln>
        </p:spPr>
      </p:sp>
      <p:sp>
        <p:nvSpPr>
          <p:cNvPr id="13" name="矩形 12"/>
          <p:cNvSpPr>
            <a:spLocks noGrp="1"/>
          </p:cNvSpPr>
          <p:nvPr/>
        </p:nvSpPr>
        <p:spPr>
          <a:xfrm>
            <a:off x="8001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项目文件</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6294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工作规则</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001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README：项目说明和当前状态</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REQUIREMENTS：本次工作要求</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SOURCES：数据和事实来源</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66294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AGENTS：本项目中的工作规则</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Skill：跨项目重复使用的方法</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REVIEW：验收和修改记录</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t="27" b="27"/>
          <a:stretch>
            <a:fillRect/>
          </a:stretch>
        </p:blipFill>
        <p:spPr>
          <a:xfrm>
            <a:off x="0" y="0"/>
            <a:ext cx="12192000" cy="6858000"/>
          </a:xfrm>
          <a:prstGeom prst="rect">
            <a:avLst/>
          </a:prstGeom>
        </p:spPr>
      </p:pic>
      <p:sp>
        <p:nvSpPr>
          <p:cNvPr id="2" name="矩形 1"/>
          <p:cNvSpPr>
            <a:spLocks noGrp="1"/>
          </p:cNvSpPr>
          <p:nvPr/>
        </p:nvSpPr>
        <p:spPr>
          <a:xfrm>
            <a:off x="0" y="0"/>
            <a:ext cx="6667500" cy="6858000"/>
          </a:xfrm>
          <a:prstGeom prst="rect">
            <a:avLst/>
          </a:prstGeom>
          <a:solidFill>
            <a:srgbClr val="F3F0E6"/>
          </a:solidFill>
          <a:ln w="0">
            <a:noFill/>
            <a:prstDash val="solid"/>
          </a:ln>
        </p:spPr>
      </p:sp>
      <p:sp>
        <p:nvSpPr>
          <p:cNvPr id="3" name="矩形 2"/>
          <p:cNvSpPr>
            <a:spLocks noGrp="1"/>
          </p:cNvSpPr>
          <p:nvPr/>
        </p:nvSpPr>
        <p:spPr>
          <a:xfrm>
            <a:off x="647700" y="400050"/>
            <a:ext cx="2190750" cy="1066800"/>
          </a:xfrm>
          <a:prstGeom prst="rect">
            <a:avLst/>
          </a:prstGeom>
          <a:noFill/>
          <a:ln w="0">
            <a:noFill/>
            <a:prstDash val="solid"/>
          </a:ln>
        </p:spPr>
        <p:txBody>
          <a:bodyPr wrap="square" lIns="0" tIns="0" rIns="0" bIns="0" anchor="t">
            <a:normAutofit fontScale="96899"/>
          </a:bodyPr>
          <a:lstStyle/>
          <a:p>
            <a:pPr algn="l">
              <a:lnSpc>
                <a:spcPct val="112000"/>
              </a:lnSpc>
              <a:buNone/>
              <a:defRPr sz="6450" b="0">
                <a:solidFill>
                  <a:srgbClr val="A18458"/>
                </a:solidFill>
                <a:latin typeface="Times New Roman" panose="02020603050405020304"/>
                <a:ea typeface="Times New Roman" panose="02020603050405020304"/>
                <a:cs typeface="Times New Roman" panose="02020603050405020304"/>
              </a:defRPr>
            </a:pPr>
            <a:r>
              <a:rPr sz="6450" b="0">
                <a:solidFill>
                  <a:srgbClr val="A18458"/>
                </a:solidFill>
                <a:latin typeface="Times New Roman" panose="02020603050405020304"/>
                <a:ea typeface="Times New Roman" panose="02020603050405020304"/>
                <a:cs typeface="Times New Roman" panose="02020603050405020304"/>
              </a:rPr>
              <a:t>02</a:t>
            </a:r>
            <a:endParaRPr sz="6450" b="0">
              <a:solidFill>
                <a:srgbClr val="A18458"/>
              </a:solidFill>
              <a:latin typeface="Times New Roman" panose="02020603050405020304"/>
              <a:ea typeface="Times New Roman" panose="02020603050405020304"/>
              <a:cs typeface="Times New Roman" panose="02020603050405020304"/>
            </a:endParaRPr>
          </a:p>
        </p:txBody>
      </p:sp>
      <p:sp>
        <p:nvSpPr>
          <p:cNvPr id="4" name="直接连接符 3"/>
          <p:cNvSpPr>
            <a:spLocks noGrp="1"/>
          </p:cNvSpPr>
          <p:nvPr/>
        </p:nvSpPr>
        <p:spPr>
          <a:xfrm>
            <a:off x="704850" y="1466850"/>
            <a:ext cx="1104900" cy="0"/>
          </a:xfrm>
          <a:prstGeom prst="line">
            <a:avLst/>
          </a:prstGeom>
          <a:noFill/>
          <a:ln w="14288">
            <a:solidFill>
              <a:srgbClr val="A18458"/>
            </a:solidFill>
            <a:prstDash val="solid"/>
          </a:ln>
        </p:spPr>
      </p:sp>
      <p:sp>
        <p:nvSpPr>
          <p:cNvPr id="5" name="矩形 4"/>
          <p:cNvSpPr>
            <a:spLocks noGrp="1"/>
          </p:cNvSpPr>
          <p:nvPr/>
        </p:nvSpPr>
        <p:spPr>
          <a:xfrm>
            <a:off x="685800" y="1790700"/>
            <a:ext cx="5334000" cy="838200"/>
          </a:xfrm>
          <a:prstGeom prst="rect">
            <a:avLst/>
          </a:prstGeom>
          <a:noFill/>
          <a:ln w="0">
            <a:noFill/>
            <a:prstDash val="solid"/>
          </a:ln>
        </p:spPr>
        <p:txBody>
          <a:bodyPr wrap="square" lIns="0" tIns="0" rIns="0" bIns="0" anchor="t">
            <a:normAutofit/>
          </a:bodyPr>
          <a:lstStyle/>
          <a:p>
            <a:pPr algn="l">
              <a:lnSpc>
                <a:spcPct val="112000"/>
              </a:lnSpc>
              <a:buNone/>
              <a:defRPr sz="4050" b="0">
                <a:solidFill>
                  <a:srgbClr val="263431"/>
                </a:solidFill>
                <a:latin typeface="黑体" panose="02010609060101010101" charset="-122"/>
                <a:ea typeface="黑体" panose="02010609060101010101" charset="-122"/>
                <a:cs typeface="黑体" panose="02010609060101010101" charset="-122"/>
              </a:defRPr>
            </a:pPr>
            <a:r>
              <a:rPr sz="4050" b="0">
                <a:solidFill>
                  <a:srgbClr val="263431"/>
                </a:solidFill>
                <a:latin typeface="黑体" panose="02010609060101010101" charset="-122"/>
                <a:ea typeface="黑体" panose="02010609060101010101" charset="-122"/>
                <a:cs typeface="黑体" panose="02010609060101010101" charset="-122"/>
              </a:rPr>
              <a:t>安装与工作环境</a:t>
            </a:r>
            <a:endParaRPr sz="4050" b="0">
              <a:solidFill>
                <a:srgbClr val="263431"/>
              </a:solidFill>
              <a:latin typeface="黑体" panose="02010609060101010101" charset="-122"/>
              <a:ea typeface="黑体" panose="02010609060101010101" charset="-122"/>
              <a:cs typeface="黑体" panose="02010609060101010101" charset="-122"/>
            </a:endParaRPr>
          </a:p>
        </p:txBody>
      </p:sp>
      <p:sp>
        <p:nvSpPr>
          <p:cNvPr id="6" name="矩形 5"/>
          <p:cNvSpPr>
            <a:spLocks noGrp="1"/>
          </p:cNvSpPr>
          <p:nvPr/>
        </p:nvSpPr>
        <p:spPr>
          <a:xfrm>
            <a:off x="781050" y="32575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01  账户与付费</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81050" y="37147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02  准备ChatGPT与Codex工具</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81050" y="41719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03  设置权限</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81050" y="46291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04  安装基础软件</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781050" y="50863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05  验证环境</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5800" y="5753100"/>
            <a:ext cx="5334000" cy="38100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本部分成果：在项目文件夹中正常使用Codex</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7" name="矩形 16"/>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账户费用分为订阅和API</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02 环境</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6" name="直接连接符 5"/>
          <p:cNvSpPr>
            <a:spLocks noGrp="1"/>
          </p:cNvSpPr>
          <p:nvPr/>
        </p:nvSpPr>
        <p:spPr>
          <a:xfrm>
            <a:off x="2495550" y="6410325"/>
            <a:ext cx="1028700" cy="0"/>
          </a:xfrm>
          <a:prstGeom prst="line">
            <a:avLst/>
          </a:prstGeom>
          <a:noFill/>
          <a:ln w="38100">
            <a:solidFill>
              <a:srgbClr val="315F55"/>
            </a:solidFill>
            <a:prstDash val="solid"/>
          </a:ln>
        </p:spPr>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09</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6096000" y="1838325"/>
            <a:ext cx="0" cy="3857625"/>
          </a:xfrm>
          <a:prstGeom prst="line">
            <a:avLst/>
          </a:prstGeom>
          <a:noFill/>
          <a:ln w="9525">
            <a:solidFill>
              <a:srgbClr val="C9D0C8"/>
            </a:solidFill>
            <a:prstDash val="solid"/>
          </a:ln>
        </p:spPr>
      </p:sp>
      <p:sp>
        <p:nvSpPr>
          <p:cNvPr id="13" name="矩形 12"/>
          <p:cNvSpPr>
            <a:spLocks noGrp="1"/>
          </p:cNvSpPr>
          <p:nvPr/>
        </p:nvSpPr>
        <p:spPr>
          <a:xfrm>
            <a:off x="8001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ChatGPT订阅</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6294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API费用</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001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ChatGPT是统一账户和产品入口</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选择包含Codex使用额度的订阅</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开课前按官方页面确认当前方案</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66294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OpenAI API与ChatGPT订阅分别计费</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DeepSeek Platform也单独计费</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只有调用API时才需要配置Key</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5" name="矩形 24"/>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英特尔芯片Mac使用四个主要入口</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02 环境</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6" name="直接连接符 5"/>
          <p:cNvSpPr>
            <a:spLocks noGrp="1"/>
          </p:cNvSpPr>
          <p:nvPr/>
        </p:nvSpPr>
        <p:spPr>
          <a:xfrm>
            <a:off x="2495550" y="6410325"/>
            <a:ext cx="1028700" cy="0"/>
          </a:xfrm>
          <a:prstGeom prst="line">
            <a:avLst/>
          </a:prstGeom>
          <a:noFill/>
          <a:ln w="38100">
            <a:solidFill>
              <a:srgbClr val="315F55"/>
            </a:solidFill>
            <a:prstDash val="solid"/>
          </a:ln>
        </p:spPr>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10</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619125" y="2247900"/>
            <a:ext cx="2190750" cy="4191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ChatGPT桌面应用</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3" name="直接连接符 12"/>
          <p:cNvSpPr>
            <a:spLocks noGrp="1"/>
          </p:cNvSpPr>
          <p:nvPr/>
        </p:nvSpPr>
        <p:spPr>
          <a:xfrm>
            <a:off x="1047750" y="2838450"/>
            <a:ext cx="1333500" cy="0"/>
          </a:xfrm>
          <a:prstGeom prst="line">
            <a:avLst/>
          </a:prstGeom>
          <a:noFill/>
          <a:ln w="19050">
            <a:solidFill>
              <a:srgbClr val="8FA99C"/>
            </a:solidFill>
            <a:prstDash val="solid"/>
          </a:ln>
        </p:spPr>
      </p:sp>
      <p:sp>
        <p:nvSpPr>
          <p:cNvPr id="14" name="矩形 13"/>
          <p:cNvSpPr>
            <a:spLocks noGrp="1"/>
          </p:cNvSpPr>
          <p:nvPr/>
        </p:nvSpPr>
        <p:spPr>
          <a:xfrm>
            <a:off x="619125" y="3105150"/>
            <a:ext cx="2190750" cy="1143000"/>
          </a:xfrm>
          <a:prstGeom prst="rect">
            <a:avLst/>
          </a:prstGeom>
          <a:noFill/>
          <a:ln w="0">
            <a:noFill/>
            <a:prstDash val="solid"/>
          </a:ln>
        </p:spPr>
        <p:txBody>
          <a:bodyPr wrap="square" lIns="0" tIns="0" rIns="0" bIns="0" anchor="t">
            <a:normAutofit/>
          </a:bodyPr>
          <a:lstStyle/>
          <a:p>
            <a:pPr algn="ctr">
              <a:lnSpc>
                <a:spcPct val="130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统一使用Chat、</a:t>
            </a:r>
            <a:endParaRPr sz="1575" b="0">
              <a:solidFill>
                <a:srgbClr val="263431"/>
              </a:solidFill>
              <a:latin typeface="微软雅黑" panose="020B0503020204020204" charset="-122"/>
              <a:ea typeface="微软雅黑" panose="020B0503020204020204" charset="-122"/>
              <a:cs typeface="微软雅黑" panose="020B0503020204020204" charset="-122"/>
            </a:endParaRPr>
          </a:p>
          <a:p>
            <a:pPr algn="ctr">
              <a:lnSpc>
                <a:spcPct val="130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Work和Codex</a:t>
            </a:r>
            <a:endParaRPr sz="15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333750" y="2247900"/>
            <a:ext cx="2190750" cy="4191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ChatGPT网页版</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3762375" y="2838450"/>
            <a:ext cx="1333500" cy="0"/>
          </a:xfrm>
          <a:prstGeom prst="line">
            <a:avLst/>
          </a:prstGeom>
          <a:noFill/>
          <a:ln w="19050">
            <a:solidFill>
              <a:srgbClr val="8FA99C"/>
            </a:solidFill>
            <a:prstDash val="solid"/>
          </a:ln>
        </p:spPr>
      </p:sp>
      <p:sp>
        <p:nvSpPr>
          <p:cNvPr id="17" name="矩形 16"/>
          <p:cNvSpPr>
            <a:spLocks noGrp="1"/>
          </p:cNvSpPr>
          <p:nvPr/>
        </p:nvSpPr>
        <p:spPr>
          <a:xfrm>
            <a:off x="3333750" y="3105150"/>
            <a:ext cx="2190750" cy="1143000"/>
          </a:xfrm>
          <a:prstGeom prst="rect">
            <a:avLst/>
          </a:prstGeom>
          <a:noFill/>
          <a:ln w="0">
            <a:noFill/>
            <a:prstDash val="solid"/>
          </a:ln>
        </p:spPr>
        <p:txBody>
          <a:bodyPr wrap="square" lIns="0" tIns="0" rIns="0" bIns="0" anchor="t">
            <a:normAutofit/>
          </a:bodyPr>
          <a:lstStyle/>
          <a:p>
            <a:pPr algn="ctr">
              <a:lnSpc>
                <a:spcPct val="130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讨论、研究和</a:t>
            </a:r>
            <a:endParaRPr sz="1575" b="0">
              <a:solidFill>
                <a:srgbClr val="263431"/>
              </a:solidFill>
              <a:latin typeface="微软雅黑" panose="020B0503020204020204" charset="-122"/>
              <a:ea typeface="微软雅黑" panose="020B0503020204020204" charset="-122"/>
              <a:cs typeface="微软雅黑" panose="020B0503020204020204" charset="-122"/>
            </a:endParaRPr>
          </a:p>
          <a:p>
            <a:pPr algn="ctr">
              <a:lnSpc>
                <a:spcPct val="130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通用文档工作</a:t>
            </a:r>
            <a:endParaRPr sz="15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6048375" y="2247900"/>
            <a:ext cx="2190750" cy="4191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Codex CLI</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9" name="直接连接符 18"/>
          <p:cNvSpPr>
            <a:spLocks noGrp="1"/>
          </p:cNvSpPr>
          <p:nvPr/>
        </p:nvSpPr>
        <p:spPr>
          <a:xfrm>
            <a:off x="6477000" y="2838450"/>
            <a:ext cx="1333500" cy="0"/>
          </a:xfrm>
          <a:prstGeom prst="line">
            <a:avLst/>
          </a:prstGeom>
          <a:noFill/>
          <a:ln w="19050">
            <a:solidFill>
              <a:srgbClr val="8FA99C"/>
            </a:solidFill>
            <a:prstDash val="solid"/>
          </a:ln>
        </p:spPr>
      </p:sp>
      <p:sp>
        <p:nvSpPr>
          <p:cNvPr id="20" name="矩形 19"/>
          <p:cNvSpPr>
            <a:spLocks noGrp="1"/>
          </p:cNvSpPr>
          <p:nvPr/>
        </p:nvSpPr>
        <p:spPr>
          <a:xfrm>
            <a:off x="6048375" y="3105150"/>
            <a:ext cx="2190750" cy="1143000"/>
          </a:xfrm>
          <a:prstGeom prst="rect">
            <a:avLst/>
          </a:prstGeom>
          <a:noFill/>
          <a:ln w="0">
            <a:noFill/>
            <a:prstDash val="solid"/>
          </a:ln>
        </p:spPr>
        <p:txBody>
          <a:bodyPr wrap="square" lIns="0" tIns="0" rIns="0" bIns="0" anchor="t">
            <a:normAutofit/>
          </a:bodyPr>
          <a:lstStyle/>
          <a:p>
            <a:pPr algn="ctr">
              <a:lnSpc>
                <a:spcPct val="130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直接在项目</a:t>
            </a:r>
            <a:endParaRPr sz="1575" b="0">
              <a:solidFill>
                <a:srgbClr val="263431"/>
              </a:solidFill>
              <a:latin typeface="微软雅黑" panose="020B0503020204020204" charset="-122"/>
              <a:ea typeface="微软雅黑" panose="020B0503020204020204" charset="-122"/>
              <a:cs typeface="微软雅黑" panose="020B0503020204020204" charset="-122"/>
            </a:endParaRPr>
          </a:p>
          <a:p>
            <a:pPr algn="ctr">
              <a:lnSpc>
                <a:spcPct val="130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文件夹中工作</a:t>
            </a:r>
            <a:endParaRPr sz="15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8763000" y="2247900"/>
            <a:ext cx="2190750" cy="4191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VS Code扩展</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22" name="直接连接符 21"/>
          <p:cNvSpPr>
            <a:spLocks noGrp="1"/>
          </p:cNvSpPr>
          <p:nvPr/>
        </p:nvSpPr>
        <p:spPr>
          <a:xfrm>
            <a:off x="9191625" y="2838450"/>
            <a:ext cx="1333500" cy="0"/>
          </a:xfrm>
          <a:prstGeom prst="line">
            <a:avLst/>
          </a:prstGeom>
          <a:noFill/>
          <a:ln w="19050">
            <a:solidFill>
              <a:srgbClr val="8FA99C"/>
            </a:solidFill>
            <a:prstDash val="solid"/>
          </a:ln>
        </p:spPr>
      </p:sp>
      <p:sp>
        <p:nvSpPr>
          <p:cNvPr id="23" name="矩形 22"/>
          <p:cNvSpPr>
            <a:spLocks noGrp="1"/>
          </p:cNvSpPr>
          <p:nvPr/>
        </p:nvSpPr>
        <p:spPr>
          <a:xfrm>
            <a:off x="8763000" y="3105150"/>
            <a:ext cx="2190750" cy="1143000"/>
          </a:xfrm>
          <a:prstGeom prst="rect">
            <a:avLst/>
          </a:prstGeom>
          <a:noFill/>
          <a:ln w="0">
            <a:noFill/>
            <a:prstDash val="solid"/>
          </a:ln>
        </p:spPr>
        <p:txBody>
          <a:bodyPr wrap="square" lIns="0" tIns="0" rIns="0" bIns="0" anchor="t">
            <a:normAutofit/>
          </a:bodyPr>
          <a:lstStyle/>
          <a:p>
            <a:pPr algn="ctr">
              <a:lnSpc>
                <a:spcPct val="130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查看文件、差异</a:t>
            </a:r>
            <a:endParaRPr sz="1575" b="0">
              <a:solidFill>
                <a:srgbClr val="263431"/>
              </a:solidFill>
              <a:latin typeface="微软雅黑" panose="020B0503020204020204" charset="-122"/>
              <a:ea typeface="微软雅黑" panose="020B0503020204020204" charset="-122"/>
              <a:cs typeface="微软雅黑" panose="020B0503020204020204" charset="-122"/>
            </a:endParaRPr>
          </a:p>
          <a:p>
            <a:pPr algn="ctr">
              <a:lnSpc>
                <a:spcPct val="130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并配合Agent工作</a:t>
            </a:r>
            <a:endParaRPr sz="15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1143000" y="4953000"/>
            <a:ext cx="9906000" cy="4191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桌面应用作为统一入口；CLI和VS Code用于文件夹中的深入工作。</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8" name="矩形 27"/>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安装应先完成最小闭环</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02 环境</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6" name="直接连接符 5"/>
          <p:cNvSpPr>
            <a:spLocks noGrp="1"/>
          </p:cNvSpPr>
          <p:nvPr/>
        </p:nvSpPr>
        <p:spPr>
          <a:xfrm>
            <a:off x="2495550" y="6410325"/>
            <a:ext cx="1028700" cy="0"/>
          </a:xfrm>
          <a:prstGeom prst="line">
            <a:avLst/>
          </a:prstGeom>
          <a:noFill/>
          <a:ln w="38100">
            <a:solidFill>
              <a:srgbClr val="315F55"/>
            </a:solidFill>
            <a:prstDash val="solid"/>
          </a:ln>
        </p:spPr>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11</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3281363" y="3219450"/>
            <a:ext cx="247650" cy="0"/>
          </a:xfrm>
          <a:prstGeom prst="line">
            <a:avLst/>
          </a:prstGeom>
          <a:noFill/>
          <a:ln w="28575">
            <a:solidFill>
              <a:srgbClr val="8FA99C"/>
            </a:solidFill>
            <a:prstDash val="solid"/>
          </a:ln>
        </p:spPr>
      </p:sp>
      <p:sp>
        <p:nvSpPr>
          <p:cNvPr id="13" name="圆角矩形 12"/>
          <p:cNvSpPr>
            <a:spLocks noGrp="1"/>
          </p:cNvSpPr>
          <p:nvPr/>
        </p:nvSpPr>
        <p:spPr>
          <a:xfrm>
            <a:off x="762000" y="2628900"/>
            <a:ext cx="2481263" cy="1181100"/>
          </a:xfrm>
          <a:prstGeom prst="roundRect">
            <a:avLst>
              <a:gd name="adj" fmla="val 11290"/>
            </a:avLst>
          </a:prstGeom>
          <a:solidFill>
            <a:srgbClr val="F3F0E6"/>
          </a:solidFill>
          <a:ln w="9525">
            <a:solidFill>
              <a:srgbClr val="8FA99C"/>
            </a:solidFill>
            <a:prstDash val="solid"/>
          </a:ln>
        </p:spPr>
      </p:sp>
      <p:sp>
        <p:nvSpPr>
          <p:cNvPr id="14" name="矩形 13"/>
          <p:cNvSpPr>
            <a:spLocks noGrp="1"/>
          </p:cNvSpPr>
          <p:nvPr/>
        </p:nvSpPr>
        <p:spPr>
          <a:xfrm>
            <a:off x="914400" y="2800350"/>
            <a:ext cx="2176463"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01</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914400" y="3095625"/>
            <a:ext cx="2176463"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官方安装</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6010275" y="3219450"/>
            <a:ext cx="247650" cy="0"/>
          </a:xfrm>
          <a:prstGeom prst="line">
            <a:avLst/>
          </a:prstGeom>
          <a:noFill/>
          <a:ln w="28575">
            <a:solidFill>
              <a:srgbClr val="8FA99C"/>
            </a:solidFill>
            <a:prstDash val="solid"/>
          </a:ln>
        </p:spPr>
      </p:sp>
      <p:sp>
        <p:nvSpPr>
          <p:cNvPr id="17" name="圆角矩形 16"/>
          <p:cNvSpPr>
            <a:spLocks noGrp="1"/>
          </p:cNvSpPr>
          <p:nvPr/>
        </p:nvSpPr>
        <p:spPr>
          <a:xfrm>
            <a:off x="3490913" y="2628900"/>
            <a:ext cx="2481263" cy="1181100"/>
          </a:xfrm>
          <a:prstGeom prst="roundRect">
            <a:avLst>
              <a:gd name="adj" fmla="val 11290"/>
            </a:avLst>
          </a:prstGeom>
          <a:solidFill>
            <a:srgbClr val="F3F0E6"/>
          </a:solidFill>
          <a:ln w="9525">
            <a:solidFill>
              <a:srgbClr val="8FA99C"/>
            </a:solidFill>
            <a:prstDash val="solid"/>
          </a:ln>
        </p:spPr>
      </p:sp>
      <p:sp>
        <p:nvSpPr>
          <p:cNvPr id="18" name="矩形 17"/>
          <p:cNvSpPr>
            <a:spLocks noGrp="1"/>
          </p:cNvSpPr>
          <p:nvPr/>
        </p:nvSpPr>
        <p:spPr>
          <a:xfrm>
            <a:off x="3643313" y="2800350"/>
            <a:ext cx="2176463"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02</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3643313" y="3095625"/>
            <a:ext cx="2176463"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登录账户</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8739188" y="3219450"/>
            <a:ext cx="247650" cy="0"/>
          </a:xfrm>
          <a:prstGeom prst="line">
            <a:avLst/>
          </a:prstGeom>
          <a:noFill/>
          <a:ln w="28575">
            <a:solidFill>
              <a:srgbClr val="8FA99C"/>
            </a:solidFill>
            <a:prstDash val="solid"/>
          </a:ln>
        </p:spPr>
      </p:sp>
      <p:sp>
        <p:nvSpPr>
          <p:cNvPr id="21" name="圆角矩形 20"/>
          <p:cNvSpPr>
            <a:spLocks noGrp="1"/>
          </p:cNvSpPr>
          <p:nvPr/>
        </p:nvSpPr>
        <p:spPr>
          <a:xfrm>
            <a:off x="6219825" y="2628900"/>
            <a:ext cx="2481263" cy="1181100"/>
          </a:xfrm>
          <a:prstGeom prst="roundRect">
            <a:avLst>
              <a:gd name="adj" fmla="val 11290"/>
            </a:avLst>
          </a:prstGeom>
          <a:solidFill>
            <a:srgbClr val="F3F0E6"/>
          </a:solidFill>
          <a:ln w="9525">
            <a:solidFill>
              <a:srgbClr val="8FA99C"/>
            </a:solidFill>
            <a:prstDash val="solid"/>
          </a:ln>
        </p:spPr>
      </p:sp>
      <p:sp>
        <p:nvSpPr>
          <p:cNvPr id="22" name="矩形 21"/>
          <p:cNvSpPr>
            <a:spLocks noGrp="1"/>
          </p:cNvSpPr>
          <p:nvPr/>
        </p:nvSpPr>
        <p:spPr>
          <a:xfrm>
            <a:off x="6372225" y="2800350"/>
            <a:ext cx="2176463"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03</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6372225" y="3095625"/>
            <a:ext cx="2176463"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打开文件夹</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圆角矩形 23"/>
          <p:cNvSpPr>
            <a:spLocks noGrp="1"/>
          </p:cNvSpPr>
          <p:nvPr/>
        </p:nvSpPr>
        <p:spPr>
          <a:xfrm>
            <a:off x="8948738" y="2628900"/>
            <a:ext cx="2481263" cy="1181100"/>
          </a:xfrm>
          <a:prstGeom prst="roundRect">
            <a:avLst>
              <a:gd name="adj" fmla="val 11290"/>
            </a:avLst>
          </a:prstGeom>
          <a:solidFill>
            <a:srgbClr val="F3F0E6"/>
          </a:solidFill>
          <a:ln w="9525">
            <a:solidFill>
              <a:srgbClr val="8FA99C"/>
            </a:solidFill>
            <a:prstDash val="solid"/>
          </a:ln>
        </p:spPr>
      </p:sp>
      <p:sp>
        <p:nvSpPr>
          <p:cNvPr id="25" name="矩形 24"/>
          <p:cNvSpPr>
            <a:spLocks noGrp="1"/>
          </p:cNvSpPr>
          <p:nvPr/>
        </p:nvSpPr>
        <p:spPr>
          <a:xfrm>
            <a:off x="9101138" y="2800350"/>
            <a:ext cx="2176463"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04</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nvSpPr>
        <p:spPr>
          <a:xfrm>
            <a:off x="9101138" y="3095625"/>
            <a:ext cx="2176463"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完成测试</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1143000" y="4333875"/>
            <a:ext cx="9906000" cy="666750"/>
          </a:xfrm>
          <a:prstGeom prst="rect">
            <a:avLst/>
          </a:prstGeom>
          <a:noFill/>
          <a:ln w="0">
            <a:noFill/>
            <a:prstDash val="solid"/>
          </a:ln>
        </p:spPr>
        <p:txBody>
          <a:bodyPr wrap="square" lIns="0" tIns="0" rIns="0" bIns="0" anchor="ctr">
            <a:normAutofit/>
          </a:bodyPr>
          <a:lstStyle/>
          <a:p>
            <a:pPr algn="ctr">
              <a:lnSpc>
                <a:spcPct val="112000"/>
              </a:lnSpc>
              <a:buNone/>
              <a:defRPr sz="1800" b="0">
                <a:solidFill>
                  <a:srgbClr val="315F55"/>
                </a:solidFill>
                <a:latin typeface="微软雅黑" panose="020B0503020204020204" charset="-122"/>
                <a:ea typeface="微软雅黑" panose="020B0503020204020204" charset="-122"/>
                <a:cs typeface="微软雅黑" panose="020B0503020204020204" charset="-122"/>
              </a:defRPr>
            </a:pPr>
            <a:r>
              <a:rPr sz="1800" b="0">
                <a:solidFill>
                  <a:srgbClr val="315F55"/>
                </a:solidFill>
                <a:latin typeface="微软雅黑" panose="020B0503020204020204" charset="-122"/>
                <a:ea typeface="微软雅黑" panose="020B0503020204020204" charset="-122"/>
                <a:cs typeface="微软雅黑" panose="020B0503020204020204" charset="-122"/>
              </a:rPr>
              <a:t>测试任务：只读查看文件夹，并说明其中有哪些文件。</a:t>
            </a:r>
            <a:endParaRPr sz="1800" b="0">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2" name="矩形 2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权限决定Codex可以做什么</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02 环境</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6" name="直接连接符 5"/>
          <p:cNvSpPr>
            <a:spLocks noGrp="1"/>
          </p:cNvSpPr>
          <p:nvPr/>
        </p:nvSpPr>
        <p:spPr>
          <a:xfrm>
            <a:off x="2495550" y="6410325"/>
            <a:ext cx="1028700" cy="0"/>
          </a:xfrm>
          <a:prstGeom prst="line">
            <a:avLst/>
          </a:prstGeom>
          <a:noFill/>
          <a:ln w="38100">
            <a:solidFill>
              <a:srgbClr val="315F55"/>
            </a:solidFill>
            <a:prstDash val="solid"/>
          </a:ln>
        </p:spPr>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12</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952500" y="2076450"/>
            <a:ext cx="2095500" cy="419100"/>
          </a:xfrm>
          <a:prstGeom prst="rect">
            <a:avLst/>
          </a:prstGeom>
          <a:noFill/>
          <a:ln w="0">
            <a:noFill/>
            <a:prstDash val="solid"/>
          </a:ln>
        </p:spPr>
        <p:txBody>
          <a:bodyPr wrap="square" lIns="0" tIns="0" rIns="0" bIns="0" anchor="t">
            <a:normAutofit/>
          </a:bodyPr>
          <a:lstStyle/>
          <a:p>
            <a:pPr algn="l">
              <a:lnSpc>
                <a:spcPct val="112000"/>
              </a:lnSpc>
              <a:buNone/>
              <a:defRPr sz="2100" b="1">
                <a:solidFill>
                  <a:srgbClr val="8FA99C"/>
                </a:solidFill>
                <a:latin typeface="微软雅黑" panose="020B0503020204020204" charset="-122"/>
                <a:ea typeface="微软雅黑" panose="020B0503020204020204" charset="-122"/>
                <a:cs typeface="微软雅黑" panose="020B0503020204020204" charset="-122"/>
              </a:defRPr>
            </a:pPr>
            <a:r>
              <a:rPr sz="2100" b="1">
                <a:solidFill>
                  <a:srgbClr val="8FA99C"/>
                </a:solidFill>
                <a:latin typeface="微软雅黑" panose="020B0503020204020204" charset="-122"/>
                <a:ea typeface="微软雅黑" panose="020B0503020204020204" charset="-122"/>
                <a:cs typeface="微软雅黑" panose="020B0503020204020204" charset="-122"/>
              </a:rPr>
              <a:t>只读</a:t>
            </a:r>
            <a:endParaRPr sz="2100" b="1">
              <a:solidFill>
                <a:srgbClr val="8FA99C"/>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3429000" y="2076450"/>
            <a:ext cx="6858000" cy="4191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查看和分析，不修改文件</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952500" y="2705100"/>
            <a:ext cx="9334500" cy="0"/>
          </a:xfrm>
          <a:prstGeom prst="line">
            <a:avLst/>
          </a:prstGeom>
          <a:noFill/>
          <a:ln w="9525">
            <a:solidFill>
              <a:srgbClr val="E3E8E1"/>
            </a:solidFill>
            <a:prstDash val="solid"/>
          </a:ln>
        </p:spPr>
      </p:sp>
      <p:sp>
        <p:nvSpPr>
          <p:cNvPr id="15" name="矩形 14"/>
          <p:cNvSpPr>
            <a:spLocks noGrp="1"/>
          </p:cNvSpPr>
          <p:nvPr/>
        </p:nvSpPr>
        <p:spPr>
          <a:xfrm>
            <a:off x="952500" y="3200400"/>
            <a:ext cx="2095500" cy="419100"/>
          </a:xfrm>
          <a:prstGeom prst="rect">
            <a:avLst/>
          </a:prstGeom>
          <a:noFill/>
          <a:ln w="0">
            <a:noFill/>
            <a:prstDash val="solid"/>
          </a:ln>
        </p:spPr>
        <p:txBody>
          <a:bodyPr wrap="square" lIns="0" tIns="0" rIns="0" bIns="0" anchor="t">
            <a:normAutofit/>
          </a:bodyPr>
          <a:lstStyle/>
          <a:p>
            <a:pPr algn="l">
              <a:lnSpc>
                <a:spcPct val="112000"/>
              </a:lnSpc>
              <a:buNone/>
              <a:defRPr sz="2100" b="1">
                <a:solidFill>
                  <a:srgbClr val="315F55"/>
                </a:solidFill>
                <a:latin typeface="微软雅黑" panose="020B0503020204020204" charset="-122"/>
                <a:ea typeface="微软雅黑" panose="020B0503020204020204" charset="-122"/>
                <a:cs typeface="微软雅黑" panose="020B0503020204020204" charset="-122"/>
              </a:defRPr>
            </a:pPr>
            <a:r>
              <a:rPr sz="2100" b="1">
                <a:solidFill>
                  <a:srgbClr val="315F55"/>
                </a:solidFill>
                <a:latin typeface="微软雅黑" panose="020B0503020204020204" charset="-122"/>
                <a:ea typeface="微软雅黑" panose="020B0503020204020204" charset="-122"/>
                <a:cs typeface="微软雅黑" panose="020B0503020204020204" charset="-122"/>
              </a:rPr>
              <a:t>Workspace</a:t>
            </a:r>
            <a:endParaRPr sz="21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429000" y="3200400"/>
            <a:ext cx="6858000" cy="4191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只在当前项目范围内写入</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952500" y="3829050"/>
            <a:ext cx="9334500" cy="0"/>
          </a:xfrm>
          <a:prstGeom prst="line">
            <a:avLst/>
          </a:prstGeom>
          <a:noFill/>
          <a:ln w="9525">
            <a:solidFill>
              <a:srgbClr val="E3E8E1"/>
            </a:solidFill>
            <a:prstDash val="solid"/>
          </a:ln>
        </p:spPr>
      </p:sp>
      <p:sp>
        <p:nvSpPr>
          <p:cNvPr id="18" name="矩形 17"/>
          <p:cNvSpPr>
            <a:spLocks noGrp="1"/>
          </p:cNvSpPr>
          <p:nvPr/>
        </p:nvSpPr>
        <p:spPr>
          <a:xfrm>
            <a:off x="952500" y="4324350"/>
            <a:ext cx="2095500" cy="419100"/>
          </a:xfrm>
          <a:prstGeom prst="rect">
            <a:avLst/>
          </a:prstGeom>
          <a:noFill/>
          <a:ln w="0">
            <a:noFill/>
            <a:prstDash val="solid"/>
          </a:ln>
        </p:spPr>
        <p:txBody>
          <a:bodyPr wrap="square" lIns="0" tIns="0" rIns="0" bIns="0" anchor="t">
            <a:normAutofit/>
          </a:bodyPr>
          <a:lstStyle/>
          <a:p>
            <a:pPr algn="l">
              <a:lnSpc>
                <a:spcPct val="112000"/>
              </a:lnSpc>
              <a:buNone/>
              <a:defRPr sz="2100" b="1">
                <a:solidFill>
                  <a:srgbClr val="8A4D42"/>
                </a:solidFill>
                <a:latin typeface="微软雅黑" panose="020B0503020204020204" charset="-122"/>
                <a:ea typeface="微软雅黑" panose="020B0503020204020204" charset="-122"/>
                <a:cs typeface="微软雅黑" panose="020B0503020204020204" charset="-122"/>
              </a:defRPr>
            </a:pPr>
            <a:r>
              <a:rPr sz="2100" b="1">
                <a:solidFill>
                  <a:srgbClr val="8A4D42"/>
                </a:solidFill>
                <a:latin typeface="微软雅黑" panose="020B0503020204020204" charset="-122"/>
                <a:ea typeface="微软雅黑" panose="020B0503020204020204" charset="-122"/>
                <a:cs typeface="微软雅黑" panose="020B0503020204020204" charset="-122"/>
              </a:rPr>
              <a:t>Full Access</a:t>
            </a:r>
            <a:endParaRPr sz="2100" b="1">
              <a:solidFill>
                <a:srgbClr val="8A4D42"/>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3429000" y="4324350"/>
            <a:ext cx="6858000" cy="4191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取消本地沙箱限制</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952500" y="4953000"/>
            <a:ext cx="9334500" cy="0"/>
          </a:xfrm>
          <a:prstGeom prst="line">
            <a:avLst/>
          </a:prstGeom>
          <a:noFill/>
          <a:ln w="9525">
            <a:solidFill>
              <a:srgbClr val="E3E8E1"/>
            </a:solidFill>
            <a:prstDash val="solid"/>
          </a:ln>
        </p:spPr>
      </p:sp>
      <p:sp>
        <p:nvSpPr>
          <p:cNvPr id="21" name="矩形 20"/>
          <p:cNvSpPr>
            <a:spLocks noGrp="1"/>
          </p:cNvSpPr>
          <p:nvPr/>
        </p:nvSpPr>
        <p:spPr>
          <a:xfrm>
            <a:off x="1143000" y="5638800"/>
            <a:ext cx="9906000" cy="381000"/>
          </a:xfrm>
          <a:prstGeom prst="rect">
            <a:avLst/>
          </a:prstGeom>
          <a:noFill/>
          <a:ln w="0">
            <a:noFill/>
            <a:prstDash val="solid"/>
          </a:ln>
        </p:spPr>
        <p:txBody>
          <a:bodyPr wrap="square" lIns="0" tIns="0" rIns="0" bIns="0" anchor="t">
            <a:normAutofit/>
          </a:bodyPr>
          <a:lstStyle/>
          <a:p>
            <a:pPr algn="ctr">
              <a:lnSpc>
                <a:spcPct val="112000"/>
              </a:lnSpc>
              <a:buNone/>
              <a:defRPr sz="1650" b="0">
                <a:solidFill>
                  <a:srgbClr val="315363"/>
                </a:solidFill>
                <a:latin typeface="微软雅黑" panose="020B0503020204020204" charset="-122"/>
                <a:ea typeface="微软雅黑" panose="020B0503020204020204" charset="-122"/>
                <a:cs typeface="微软雅黑" panose="020B0503020204020204" charset="-122"/>
              </a:defRPr>
            </a:pPr>
            <a:r>
              <a:rPr sz="1650" b="0">
                <a:solidFill>
                  <a:srgbClr val="315363"/>
                </a:solidFill>
                <a:latin typeface="微软雅黑" panose="020B0503020204020204" charset="-122"/>
                <a:ea typeface="微软雅黑" panose="020B0503020204020204" charset="-122"/>
                <a:cs typeface="微软雅黑" panose="020B0503020204020204" charset="-122"/>
              </a:rPr>
              <a:t>Codex的Full Access与macOS“完全磁盘访问权限”不是同一件事。</a:t>
            </a:r>
            <a:endParaRPr sz="1650" b="0">
              <a:solidFill>
                <a:srgbClr val="3153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32" name="矩形 3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Full Access只在明确需要时使用</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02 环境</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6" name="直接连接符 5"/>
          <p:cNvSpPr>
            <a:spLocks noGrp="1"/>
          </p:cNvSpPr>
          <p:nvPr/>
        </p:nvSpPr>
        <p:spPr>
          <a:xfrm>
            <a:off x="2495550" y="6410325"/>
            <a:ext cx="1028700" cy="0"/>
          </a:xfrm>
          <a:prstGeom prst="line">
            <a:avLst/>
          </a:prstGeom>
          <a:noFill/>
          <a:ln w="38100">
            <a:solidFill>
              <a:srgbClr val="315F55"/>
            </a:solidFill>
            <a:prstDash val="solid"/>
          </a:ln>
        </p:spPr>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13</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2735580" y="3219450"/>
            <a:ext cx="247650" cy="0"/>
          </a:xfrm>
          <a:prstGeom prst="line">
            <a:avLst/>
          </a:prstGeom>
          <a:noFill/>
          <a:ln w="28575">
            <a:solidFill>
              <a:srgbClr val="8FA99C"/>
            </a:solidFill>
            <a:prstDash val="solid"/>
          </a:ln>
        </p:spPr>
      </p:sp>
      <p:sp>
        <p:nvSpPr>
          <p:cNvPr id="13" name="圆角矩形 12"/>
          <p:cNvSpPr>
            <a:spLocks noGrp="1"/>
          </p:cNvSpPr>
          <p:nvPr/>
        </p:nvSpPr>
        <p:spPr>
          <a:xfrm>
            <a:off x="762000" y="2628900"/>
            <a:ext cx="1935480" cy="1181100"/>
          </a:xfrm>
          <a:prstGeom prst="roundRect">
            <a:avLst>
              <a:gd name="adj" fmla="val 11290"/>
            </a:avLst>
          </a:prstGeom>
          <a:solidFill>
            <a:srgbClr val="F3F0E6"/>
          </a:solidFill>
          <a:ln w="9525">
            <a:solidFill>
              <a:srgbClr val="8FA99C"/>
            </a:solidFill>
            <a:prstDash val="solid"/>
          </a:ln>
        </p:spPr>
      </p:sp>
      <p:sp>
        <p:nvSpPr>
          <p:cNvPr id="14" name="矩形 13"/>
          <p:cNvSpPr>
            <a:spLocks noGrp="1"/>
          </p:cNvSpPr>
          <p:nvPr/>
        </p:nvSpPr>
        <p:spPr>
          <a:xfrm>
            <a:off x="91440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01</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91440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说明计划</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4918710" y="3219450"/>
            <a:ext cx="247650" cy="0"/>
          </a:xfrm>
          <a:prstGeom prst="line">
            <a:avLst/>
          </a:prstGeom>
          <a:noFill/>
          <a:ln w="28575">
            <a:solidFill>
              <a:srgbClr val="8FA99C"/>
            </a:solidFill>
            <a:prstDash val="solid"/>
          </a:ln>
        </p:spPr>
      </p:sp>
      <p:sp>
        <p:nvSpPr>
          <p:cNvPr id="17" name="圆角矩形 16"/>
          <p:cNvSpPr>
            <a:spLocks noGrp="1"/>
          </p:cNvSpPr>
          <p:nvPr/>
        </p:nvSpPr>
        <p:spPr>
          <a:xfrm>
            <a:off x="2945130" y="2628900"/>
            <a:ext cx="1935480" cy="1181100"/>
          </a:xfrm>
          <a:prstGeom prst="roundRect">
            <a:avLst>
              <a:gd name="adj" fmla="val 11290"/>
            </a:avLst>
          </a:prstGeom>
          <a:solidFill>
            <a:srgbClr val="F3F0E6"/>
          </a:solidFill>
          <a:ln w="9525">
            <a:solidFill>
              <a:srgbClr val="8FA99C"/>
            </a:solidFill>
            <a:prstDash val="solid"/>
          </a:ln>
        </p:spPr>
      </p:sp>
      <p:sp>
        <p:nvSpPr>
          <p:cNvPr id="18" name="矩形 17"/>
          <p:cNvSpPr>
            <a:spLocks noGrp="1"/>
          </p:cNvSpPr>
          <p:nvPr/>
        </p:nvSpPr>
        <p:spPr>
          <a:xfrm>
            <a:off x="309753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02</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309753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检查风险</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101840" y="3219450"/>
            <a:ext cx="247650" cy="0"/>
          </a:xfrm>
          <a:prstGeom prst="line">
            <a:avLst/>
          </a:prstGeom>
          <a:noFill/>
          <a:ln w="28575">
            <a:solidFill>
              <a:srgbClr val="8FA99C"/>
            </a:solidFill>
            <a:prstDash val="solid"/>
          </a:ln>
        </p:spPr>
      </p:sp>
      <p:sp>
        <p:nvSpPr>
          <p:cNvPr id="21" name="圆角矩形 20"/>
          <p:cNvSpPr>
            <a:spLocks noGrp="1"/>
          </p:cNvSpPr>
          <p:nvPr/>
        </p:nvSpPr>
        <p:spPr>
          <a:xfrm>
            <a:off x="5128260" y="2628900"/>
            <a:ext cx="1935480" cy="1181100"/>
          </a:xfrm>
          <a:prstGeom prst="roundRect">
            <a:avLst>
              <a:gd name="adj" fmla="val 11290"/>
            </a:avLst>
          </a:prstGeom>
          <a:solidFill>
            <a:srgbClr val="F3F0E6"/>
          </a:solidFill>
          <a:ln w="9525">
            <a:solidFill>
              <a:srgbClr val="8FA99C"/>
            </a:solidFill>
            <a:prstDash val="solid"/>
          </a:ln>
        </p:spPr>
      </p:sp>
      <p:sp>
        <p:nvSpPr>
          <p:cNvPr id="22" name="矩形 21"/>
          <p:cNvSpPr>
            <a:spLocks noGrp="1"/>
          </p:cNvSpPr>
          <p:nvPr/>
        </p:nvSpPr>
        <p:spPr>
          <a:xfrm>
            <a:off x="528066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03</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528066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建立检查点</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直接连接符 23"/>
          <p:cNvSpPr>
            <a:spLocks noGrp="1"/>
          </p:cNvSpPr>
          <p:nvPr/>
        </p:nvSpPr>
        <p:spPr>
          <a:xfrm>
            <a:off x="9284970" y="3219450"/>
            <a:ext cx="247650" cy="0"/>
          </a:xfrm>
          <a:prstGeom prst="line">
            <a:avLst/>
          </a:prstGeom>
          <a:noFill/>
          <a:ln w="28575">
            <a:solidFill>
              <a:srgbClr val="8FA99C"/>
            </a:solidFill>
            <a:prstDash val="solid"/>
          </a:ln>
        </p:spPr>
      </p:sp>
      <p:sp>
        <p:nvSpPr>
          <p:cNvPr id="25" name="圆角矩形 24"/>
          <p:cNvSpPr>
            <a:spLocks noGrp="1"/>
          </p:cNvSpPr>
          <p:nvPr/>
        </p:nvSpPr>
        <p:spPr>
          <a:xfrm>
            <a:off x="7311390" y="2628900"/>
            <a:ext cx="1935480" cy="1181100"/>
          </a:xfrm>
          <a:prstGeom prst="roundRect">
            <a:avLst>
              <a:gd name="adj" fmla="val 11290"/>
            </a:avLst>
          </a:prstGeom>
          <a:solidFill>
            <a:srgbClr val="F3F0E6"/>
          </a:solidFill>
          <a:ln w="9525">
            <a:solidFill>
              <a:srgbClr val="8FA99C"/>
            </a:solidFill>
            <a:prstDash val="solid"/>
          </a:ln>
        </p:spPr>
      </p:sp>
      <p:sp>
        <p:nvSpPr>
          <p:cNvPr id="26" name="矩形 25"/>
          <p:cNvSpPr>
            <a:spLocks noGrp="1"/>
          </p:cNvSpPr>
          <p:nvPr/>
        </p:nvSpPr>
        <p:spPr>
          <a:xfrm>
            <a:off x="746379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04</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746379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临时授权</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9494520" y="2628900"/>
            <a:ext cx="1935480" cy="1181100"/>
          </a:xfrm>
          <a:prstGeom prst="roundRect">
            <a:avLst>
              <a:gd name="adj" fmla="val 11290"/>
            </a:avLst>
          </a:prstGeom>
          <a:solidFill>
            <a:srgbClr val="F3F0E6"/>
          </a:solidFill>
          <a:ln w="9525">
            <a:solidFill>
              <a:srgbClr val="8FA99C"/>
            </a:solidFill>
            <a:prstDash val="solid"/>
          </a:ln>
        </p:spPr>
      </p:sp>
      <p:sp>
        <p:nvSpPr>
          <p:cNvPr id="29" name="矩形 28"/>
          <p:cNvSpPr>
            <a:spLocks noGrp="1"/>
          </p:cNvSpPr>
          <p:nvPr/>
        </p:nvSpPr>
        <p:spPr>
          <a:xfrm>
            <a:off x="964692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05</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964692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恢复权限</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1143000" y="4333875"/>
            <a:ext cx="9906000" cy="666750"/>
          </a:xfrm>
          <a:prstGeom prst="rect">
            <a:avLst/>
          </a:prstGeom>
          <a:noFill/>
          <a:ln w="0">
            <a:noFill/>
            <a:prstDash val="solid"/>
          </a:ln>
        </p:spPr>
        <p:txBody>
          <a:bodyPr wrap="square" lIns="0" tIns="0" rIns="0" bIns="0" anchor="ctr">
            <a:normAutofit/>
          </a:bodyPr>
          <a:lstStyle/>
          <a:p>
            <a:pPr algn="ctr">
              <a:lnSpc>
                <a:spcPct val="112000"/>
              </a:lnSpc>
              <a:buNone/>
              <a:defRPr sz="1800" b="0">
                <a:solidFill>
                  <a:srgbClr val="315F55"/>
                </a:solidFill>
                <a:latin typeface="微软雅黑" panose="020B0503020204020204" charset="-122"/>
                <a:ea typeface="微软雅黑" panose="020B0503020204020204" charset="-122"/>
                <a:cs typeface="微软雅黑" panose="020B0503020204020204" charset="-122"/>
              </a:defRPr>
            </a:pPr>
            <a:r>
              <a:rPr sz="1800" b="0">
                <a:solidFill>
                  <a:srgbClr val="315F55"/>
                </a:solidFill>
                <a:latin typeface="微软雅黑" panose="020B0503020204020204" charset="-122"/>
                <a:ea typeface="微软雅黑" panose="020B0503020204020204" charset="-122"/>
                <a:cs typeface="微软雅黑" panose="020B0503020204020204" charset="-122"/>
              </a:rPr>
              <a:t>Full Access很方便，也很危险；操作前先用Git保存当前状态。</a:t>
            </a:r>
            <a:endParaRPr sz="1800" b="0">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6" name="矩形 25"/>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先让Codex检查现有环境</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02 环境</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6" name="直接连接符 5"/>
          <p:cNvSpPr>
            <a:spLocks noGrp="1"/>
          </p:cNvSpPr>
          <p:nvPr/>
        </p:nvSpPr>
        <p:spPr>
          <a:xfrm>
            <a:off x="2495550" y="6410325"/>
            <a:ext cx="1028700" cy="0"/>
          </a:xfrm>
          <a:prstGeom prst="line">
            <a:avLst/>
          </a:prstGeom>
          <a:noFill/>
          <a:ln w="38100">
            <a:solidFill>
              <a:srgbClr val="315F55"/>
            </a:solidFill>
            <a:prstDash val="solid"/>
          </a:ln>
        </p:spPr>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14</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00100" y="18288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01</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466850" y="18097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macOS版本和Intel架构</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1466850" y="2457450"/>
            <a:ext cx="9429750" cy="0"/>
          </a:xfrm>
          <a:prstGeom prst="line">
            <a:avLst/>
          </a:prstGeom>
          <a:noFill/>
          <a:ln w="9525">
            <a:solidFill>
              <a:srgbClr val="E3E8E1"/>
            </a:solidFill>
            <a:prstDash val="solid"/>
          </a:ln>
        </p:spPr>
      </p:sp>
      <p:sp>
        <p:nvSpPr>
          <p:cNvPr id="15" name="矩形 14"/>
          <p:cNvSpPr>
            <a:spLocks noGrp="1"/>
          </p:cNvSpPr>
          <p:nvPr/>
        </p:nvSpPr>
        <p:spPr>
          <a:xfrm>
            <a:off x="800100" y="25527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02</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1466850" y="25336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可用磁盘空间</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1466850" y="3181350"/>
            <a:ext cx="9429750" cy="0"/>
          </a:xfrm>
          <a:prstGeom prst="line">
            <a:avLst/>
          </a:prstGeom>
          <a:noFill/>
          <a:ln w="9525">
            <a:solidFill>
              <a:srgbClr val="E3E8E1"/>
            </a:solidFill>
            <a:prstDash val="solid"/>
          </a:ln>
        </p:spPr>
      </p:sp>
      <p:sp>
        <p:nvSpPr>
          <p:cNvPr id="18" name="矩形 17"/>
          <p:cNvSpPr>
            <a:spLocks noGrp="1"/>
          </p:cNvSpPr>
          <p:nvPr/>
        </p:nvSpPr>
        <p:spPr>
          <a:xfrm>
            <a:off x="800100" y="32766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03</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1466850" y="32575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当前Shell、PATH和工作目录</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1466850" y="3905250"/>
            <a:ext cx="9429750" cy="0"/>
          </a:xfrm>
          <a:prstGeom prst="line">
            <a:avLst/>
          </a:prstGeom>
          <a:noFill/>
          <a:ln w="9525">
            <a:solidFill>
              <a:srgbClr val="E3E8E1"/>
            </a:solidFill>
            <a:prstDash val="solid"/>
          </a:ln>
        </p:spPr>
      </p:sp>
      <p:sp>
        <p:nvSpPr>
          <p:cNvPr id="21" name="矩形 20"/>
          <p:cNvSpPr>
            <a:spLocks noGrp="1"/>
          </p:cNvSpPr>
          <p:nvPr/>
        </p:nvSpPr>
        <p:spPr>
          <a:xfrm>
            <a:off x="800100" y="40005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04</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1466850" y="39814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VS Code、Git、Node.js和Python是否已经存在</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3" name="直接连接符 22"/>
          <p:cNvSpPr>
            <a:spLocks noGrp="1"/>
          </p:cNvSpPr>
          <p:nvPr/>
        </p:nvSpPr>
        <p:spPr>
          <a:xfrm>
            <a:off x="1466850" y="4629150"/>
            <a:ext cx="9429750" cy="0"/>
          </a:xfrm>
          <a:prstGeom prst="line">
            <a:avLst/>
          </a:prstGeom>
          <a:noFill/>
          <a:ln w="9525">
            <a:solidFill>
              <a:srgbClr val="E3E8E1"/>
            </a:solidFill>
            <a:prstDash val="solid"/>
          </a:ln>
        </p:spPr>
      </p:sp>
      <p:sp>
        <p:nvSpPr>
          <p:cNvPr id="24" name="矩形 23"/>
          <p:cNvSpPr>
            <a:spLocks noGrp="1"/>
          </p:cNvSpPr>
          <p:nvPr/>
        </p:nvSpPr>
        <p:spPr>
          <a:xfrm>
            <a:off x="800100" y="47244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05</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5" name="矩形 24"/>
          <p:cNvSpPr>
            <a:spLocks noGrp="1"/>
          </p:cNvSpPr>
          <p:nvPr/>
        </p:nvSpPr>
        <p:spPr>
          <a:xfrm>
            <a:off x="1466850" y="47053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将要安装的软件、来源和影响</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1" name="矩形 20"/>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基础软件只保留实际需要的部分</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02 环境</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6" name="直接连接符 5"/>
          <p:cNvSpPr>
            <a:spLocks noGrp="1"/>
          </p:cNvSpPr>
          <p:nvPr/>
        </p:nvSpPr>
        <p:spPr>
          <a:xfrm>
            <a:off x="2495550" y="6410325"/>
            <a:ext cx="1028700" cy="0"/>
          </a:xfrm>
          <a:prstGeom prst="line">
            <a:avLst/>
          </a:prstGeom>
          <a:noFill/>
          <a:ln w="38100">
            <a:solidFill>
              <a:srgbClr val="315F55"/>
            </a:solidFill>
            <a:prstDash val="solid"/>
          </a:ln>
        </p:spPr>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15</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990600" y="1952625"/>
            <a:ext cx="2190750" cy="361950"/>
          </a:xfrm>
          <a:prstGeom prst="rect">
            <a:avLst/>
          </a:prstGeom>
          <a:noFill/>
          <a:ln w="0">
            <a:noFill/>
            <a:prstDash val="solid"/>
          </a:ln>
        </p:spPr>
        <p:txBody>
          <a:bodyPr wrap="square" lIns="0" tIns="0" rIns="0" bIns="0" anchor="t">
            <a:normAutofit/>
          </a:bodyPr>
          <a:lstStyle/>
          <a:p>
            <a:pPr algn="l">
              <a:lnSpc>
                <a:spcPct val="112000"/>
              </a:lnSpc>
              <a:buNone/>
              <a:defRPr sz="2025" b="1">
                <a:solidFill>
                  <a:srgbClr val="315F55"/>
                </a:solidFill>
                <a:latin typeface="微软雅黑" panose="020B0503020204020204" charset="-122"/>
                <a:ea typeface="微软雅黑" panose="020B0503020204020204" charset="-122"/>
                <a:cs typeface="微软雅黑" panose="020B0503020204020204" charset="-122"/>
              </a:defRPr>
            </a:pPr>
            <a:r>
              <a:rPr sz="2025" b="1">
                <a:solidFill>
                  <a:srgbClr val="315F55"/>
                </a:solidFill>
                <a:latin typeface="微软雅黑" panose="020B0503020204020204" charset="-122"/>
                <a:ea typeface="微软雅黑" panose="020B0503020204020204" charset="-122"/>
                <a:cs typeface="微软雅黑" panose="020B0503020204020204" charset="-122"/>
              </a:rPr>
              <a:t>VS Code</a:t>
            </a:r>
            <a:endParaRPr sz="20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3409950" y="1952625"/>
            <a:ext cx="7239000" cy="361950"/>
          </a:xfrm>
          <a:prstGeom prst="rect">
            <a:avLst/>
          </a:prstGeom>
          <a:noFill/>
          <a:ln w="0">
            <a:noFill/>
            <a:prstDash val="solid"/>
          </a:ln>
        </p:spPr>
        <p:txBody>
          <a:bodyPr wrap="square" lIns="0" tIns="0" rIns="0" bIns="0" anchor="t">
            <a:normAutofit/>
          </a:bodyPr>
          <a:lstStyle/>
          <a:p>
            <a:pPr algn="l">
              <a:lnSpc>
                <a:spcPct val="112000"/>
              </a:lnSpc>
              <a:buNone/>
              <a:defRPr sz="1875" b="0">
                <a:solidFill>
                  <a:srgbClr val="263431"/>
                </a:solidFill>
                <a:latin typeface="微软雅黑" panose="020B0503020204020204" charset="-122"/>
                <a:ea typeface="微软雅黑" panose="020B0503020204020204" charset="-122"/>
                <a:cs typeface="微软雅黑" panose="020B0503020204020204" charset="-122"/>
              </a:defRPr>
            </a:pPr>
            <a:r>
              <a:rPr sz="1875" b="0">
                <a:solidFill>
                  <a:srgbClr val="263431"/>
                </a:solidFill>
                <a:latin typeface="微软雅黑" panose="020B0503020204020204" charset="-122"/>
                <a:ea typeface="微软雅黑" panose="020B0503020204020204" charset="-122"/>
                <a:cs typeface="微软雅黑" panose="020B0503020204020204" charset="-122"/>
              </a:rPr>
              <a:t>查看和编辑项目文件</a:t>
            </a:r>
            <a:endParaRPr sz="18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990600" y="2857500"/>
            <a:ext cx="2190750" cy="361950"/>
          </a:xfrm>
          <a:prstGeom prst="rect">
            <a:avLst/>
          </a:prstGeom>
          <a:noFill/>
          <a:ln w="0">
            <a:noFill/>
            <a:prstDash val="solid"/>
          </a:ln>
        </p:spPr>
        <p:txBody>
          <a:bodyPr wrap="square" lIns="0" tIns="0" rIns="0" bIns="0" anchor="t">
            <a:normAutofit/>
          </a:bodyPr>
          <a:lstStyle/>
          <a:p>
            <a:pPr algn="l">
              <a:lnSpc>
                <a:spcPct val="112000"/>
              </a:lnSpc>
              <a:buNone/>
              <a:defRPr sz="2025" b="1">
                <a:solidFill>
                  <a:srgbClr val="315F55"/>
                </a:solidFill>
                <a:latin typeface="微软雅黑" panose="020B0503020204020204" charset="-122"/>
                <a:ea typeface="微软雅黑" panose="020B0503020204020204" charset="-122"/>
                <a:cs typeface="微软雅黑" panose="020B0503020204020204" charset="-122"/>
              </a:defRPr>
            </a:pPr>
            <a:r>
              <a:rPr sz="2025" b="1">
                <a:solidFill>
                  <a:srgbClr val="315F55"/>
                </a:solidFill>
                <a:latin typeface="微软雅黑" panose="020B0503020204020204" charset="-122"/>
                <a:ea typeface="微软雅黑" panose="020B0503020204020204" charset="-122"/>
                <a:cs typeface="微软雅黑" panose="020B0503020204020204" charset="-122"/>
              </a:rPr>
              <a:t>Git</a:t>
            </a:r>
            <a:endParaRPr sz="20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409950" y="2857500"/>
            <a:ext cx="7239000" cy="361950"/>
          </a:xfrm>
          <a:prstGeom prst="rect">
            <a:avLst/>
          </a:prstGeom>
          <a:noFill/>
          <a:ln w="0">
            <a:noFill/>
            <a:prstDash val="solid"/>
          </a:ln>
        </p:spPr>
        <p:txBody>
          <a:bodyPr wrap="square" lIns="0" tIns="0" rIns="0" bIns="0" anchor="t">
            <a:normAutofit/>
          </a:bodyPr>
          <a:lstStyle/>
          <a:p>
            <a:pPr algn="l">
              <a:lnSpc>
                <a:spcPct val="112000"/>
              </a:lnSpc>
              <a:buNone/>
              <a:defRPr sz="1875" b="0">
                <a:solidFill>
                  <a:srgbClr val="263431"/>
                </a:solidFill>
                <a:latin typeface="微软雅黑" panose="020B0503020204020204" charset="-122"/>
                <a:ea typeface="微软雅黑" panose="020B0503020204020204" charset="-122"/>
                <a:cs typeface="微软雅黑" panose="020B0503020204020204" charset="-122"/>
              </a:defRPr>
            </a:pPr>
            <a:r>
              <a:rPr sz="1875" b="0">
                <a:solidFill>
                  <a:srgbClr val="263431"/>
                </a:solidFill>
                <a:latin typeface="微软雅黑" panose="020B0503020204020204" charset="-122"/>
                <a:ea typeface="微软雅黑" panose="020B0503020204020204" charset="-122"/>
                <a:cs typeface="微软雅黑" panose="020B0503020204020204" charset="-122"/>
              </a:rPr>
              <a:t>保存阶段成果和修改历史</a:t>
            </a:r>
            <a:endParaRPr sz="18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990600" y="3762375"/>
            <a:ext cx="2190750" cy="361950"/>
          </a:xfrm>
          <a:prstGeom prst="rect">
            <a:avLst/>
          </a:prstGeom>
          <a:noFill/>
          <a:ln w="0">
            <a:noFill/>
            <a:prstDash val="solid"/>
          </a:ln>
        </p:spPr>
        <p:txBody>
          <a:bodyPr wrap="square" lIns="0" tIns="0" rIns="0" bIns="0" anchor="t">
            <a:normAutofit/>
          </a:bodyPr>
          <a:lstStyle/>
          <a:p>
            <a:pPr algn="l">
              <a:lnSpc>
                <a:spcPct val="112000"/>
              </a:lnSpc>
              <a:buNone/>
              <a:defRPr sz="2025" b="1">
                <a:solidFill>
                  <a:srgbClr val="315F55"/>
                </a:solidFill>
                <a:latin typeface="微软雅黑" panose="020B0503020204020204" charset="-122"/>
                <a:ea typeface="微软雅黑" panose="020B0503020204020204" charset="-122"/>
                <a:cs typeface="微软雅黑" panose="020B0503020204020204" charset="-122"/>
              </a:defRPr>
            </a:pPr>
            <a:r>
              <a:rPr sz="2025" b="1">
                <a:solidFill>
                  <a:srgbClr val="315F55"/>
                </a:solidFill>
                <a:latin typeface="微软雅黑" panose="020B0503020204020204" charset="-122"/>
                <a:ea typeface="微软雅黑" panose="020B0503020204020204" charset="-122"/>
                <a:cs typeface="微软雅黑" panose="020B0503020204020204" charset="-122"/>
              </a:rPr>
              <a:t>Node.js</a:t>
            </a:r>
            <a:endParaRPr sz="20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3409950" y="3762375"/>
            <a:ext cx="7239000" cy="361950"/>
          </a:xfrm>
          <a:prstGeom prst="rect">
            <a:avLst/>
          </a:prstGeom>
          <a:noFill/>
          <a:ln w="0">
            <a:noFill/>
            <a:prstDash val="solid"/>
          </a:ln>
        </p:spPr>
        <p:txBody>
          <a:bodyPr wrap="square" lIns="0" tIns="0" rIns="0" bIns="0" anchor="t">
            <a:normAutofit/>
          </a:bodyPr>
          <a:lstStyle/>
          <a:p>
            <a:pPr algn="l">
              <a:lnSpc>
                <a:spcPct val="112000"/>
              </a:lnSpc>
              <a:buNone/>
              <a:defRPr sz="1875" b="0">
                <a:solidFill>
                  <a:srgbClr val="263431"/>
                </a:solidFill>
                <a:latin typeface="微软雅黑" panose="020B0503020204020204" charset="-122"/>
                <a:ea typeface="微软雅黑" panose="020B0503020204020204" charset="-122"/>
                <a:cs typeface="微软雅黑" panose="020B0503020204020204" charset="-122"/>
              </a:defRPr>
            </a:pPr>
            <a:r>
              <a:rPr sz="1875" b="0">
                <a:solidFill>
                  <a:srgbClr val="263431"/>
                </a:solidFill>
                <a:latin typeface="微软雅黑" panose="020B0503020204020204" charset="-122"/>
                <a:ea typeface="微软雅黑" panose="020B0503020204020204" charset="-122"/>
                <a:cs typeface="微软雅黑" panose="020B0503020204020204" charset="-122"/>
              </a:rPr>
              <a:t>运行部分CLI和扩展工具</a:t>
            </a:r>
            <a:endParaRPr sz="18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990600" y="4667250"/>
            <a:ext cx="2190750" cy="361950"/>
          </a:xfrm>
          <a:prstGeom prst="rect">
            <a:avLst/>
          </a:prstGeom>
          <a:noFill/>
          <a:ln w="0">
            <a:noFill/>
            <a:prstDash val="solid"/>
          </a:ln>
        </p:spPr>
        <p:txBody>
          <a:bodyPr wrap="square" lIns="0" tIns="0" rIns="0" bIns="0" anchor="t">
            <a:normAutofit/>
          </a:bodyPr>
          <a:lstStyle/>
          <a:p>
            <a:pPr algn="l">
              <a:lnSpc>
                <a:spcPct val="112000"/>
              </a:lnSpc>
              <a:buNone/>
              <a:defRPr sz="2025" b="1">
                <a:solidFill>
                  <a:srgbClr val="315F55"/>
                </a:solidFill>
                <a:latin typeface="微软雅黑" panose="020B0503020204020204" charset="-122"/>
                <a:ea typeface="微软雅黑" panose="020B0503020204020204" charset="-122"/>
                <a:cs typeface="微软雅黑" panose="020B0503020204020204" charset="-122"/>
              </a:defRPr>
            </a:pPr>
            <a:r>
              <a:rPr sz="2025" b="1">
                <a:solidFill>
                  <a:srgbClr val="315F55"/>
                </a:solidFill>
                <a:latin typeface="微软雅黑" panose="020B0503020204020204" charset="-122"/>
                <a:ea typeface="微软雅黑" panose="020B0503020204020204" charset="-122"/>
                <a:cs typeface="微软雅黑" panose="020B0503020204020204" charset="-122"/>
              </a:rPr>
              <a:t>Python</a:t>
            </a:r>
            <a:endParaRPr sz="20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3409950" y="4667250"/>
            <a:ext cx="7239000" cy="361950"/>
          </a:xfrm>
          <a:prstGeom prst="rect">
            <a:avLst/>
          </a:prstGeom>
          <a:noFill/>
          <a:ln w="0">
            <a:noFill/>
            <a:prstDash val="solid"/>
          </a:ln>
        </p:spPr>
        <p:txBody>
          <a:bodyPr wrap="square" lIns="0" tIns="0" rIns="0" bIns="0" anchor="t">
            <a:normAutofit/>
          </a:bodyPr>
          <a:lstStyle/>
          <a:p>
            <a:pPr algn="l">
              <a:lnSpc>
                <a:spcPct val="112000"/>
              </a:lnSpc>
              <a:buNone/>
              <a:defRPr sz="1875" b="0">
                <a:solidFill>
                  <a:srgbClr val="263431"/>
                </a:solidFill>
                <a:latin typeface="微软雅黑" panose="020B0503020204020204" charset="-122"/>
                <a:ea typeface="微软雅黑" panose="020B0503020204020204" charset="-122"/>
                <a:cs typeface="微软雅黑" panose="020B0503020204020204" charset="-122"/>
              </a:defRPr>
            </a:pPr>
            <a:r>
              <a:rPr sz="1875" b="0">
                <a:solidFill>
                  <a:srgbClr val="263431"/>
                </a:solidFill>
                <a:latin typeface="微软雅黑" panose="020B0503020204020204" charset="-122"/>
                <a:ea typeface="微软雅黑" panose="020B0503020204020204" charset="-122"/>
                <a:cs typeface="微软雅黑" panose="020B0503020204020204" charset="-122"/>
              </a:rPr>
              <a:t>处理数据、文档和自动化任务</a:t>
            </a:r>
            <a:endParaRPr sz="18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1143000" y="5619750"/>
            <a:ext cx="9906000" cy="400050"/>
          </a:xfrm>
          <a:prstGeom prst="rect">
            <a:avLst/>
          </a:prstGeom>
          <a:noFill/>
          <a:ln w="0">
            <a:noFill/>
            <a:prstDash val="solid"/>
          </a:ln>
        </p:spPr>
        <p:txBody>
          <a:bodyPr wrap="square" lIns="0" tIns="0" rIns="0" bIns="0" anchor="t">
            <a:normAutofit/>
          </a:bodyPr>
          <a:lstStyle/>
          <a:p>
            <a:pPr algn="ctr">
              <a:lnSpc>
                <a:spcPct val="112000"/>
              </a:lnSpc>
              <a:buNone/>
              <a:defRPr sz="1725" b="1">
                <a:solidFill>
                  <a:srgbClr val="A18458"/>
                </a:solidFill>
                <a:latin typeface="微软雅黑" panose="020B0503020204020204" charset="-122"/>
                <a:ea typeface="微软雅黑" panose="020B0503020204020204" charset="-122"/>
                <a:cs typeface="微软雅黑" panose="020B0503020204020204" charset="-122"/>
              </a:defRPr>
            </a:pPr>
            <a:r>
              <a:rPr sz="1725" b="1">
                <a:solidFill>
                  <a:srgbClr val="A18458"/>
                </a:solidFill>
                <a:latin typeface="微软雅黑" panose="020B0503020204020204" charset="-122"/>
                <a:ea typeface="微软雅黑" panose="020B0503020204020204" charset="-122"/>
                <a:cs typeface="微软雅黑" panose="020B0503020204020204" charset="-122"/>
              </a:rPr>
              <a:t>8GB内存的Intel Mac以云端模型为主，不安排大型本地模型。</a:t>
            </a:r>
            <a:endParaRPr sz="1725" b="1">
              <a:solidFill>
                <a:srgbClr val="A18458"/>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7" name="矩形 16"/>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VS Code作为日常工作台</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02 环境</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6" name="直接连接符 5"/>
          <p:cNvSpPr>
            <a:spLocks noGrp="1"/>
          </p:cNvSpPr>
          <p:nvPr/>
        </p:nvSpPr>
        <p:spPr>
          <a:xfrm>
            <a:off x="2495550" y="6410325"/>
            <a:ext cx="1028700" cy="0"/>
          </a:xfrm>
          <a:prstGeom prst="line">
            <a:avLst/>
          </a:prstGeom>
          <a:noFill/>
          <a:ln w="38100">
            <a:solidFill>
              <a:srgbClr val="315F55"/>
            </a:solidFill>
            <a:prstDash val="solid"/>
          </a:ln>
        </p:spPr>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16</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6096000" y="1838325"/>
            <a:ext cx="0" cy="3857625"/>
          </a:xfrm>
          <a:prstGeom prst="line">
            <a:avLst/>
          </a:prstGeom>
          <a:noFill/>
          <a:ln w="9525">
            <a:solidFill>
              <a:srgbClr val="C9D0C8"/>
            </a:solidFill>
            <a:prstDash val="solid"/>
          </a:ln>
        </p:spPr>
      </p:sp>
      <p:sp>
        <p:nvSpPr>
          <p:cNvPr id="13" name="矩形 12"/>
          <p:cNvSpPr>
            <a:spLocks noGrp="1"/>
          </p:cNvSpPr>
          <p:nvPr/>
        </p:nvSpPr>
        <p:spPr>
          <a:xfrm>
            <a:off x="8001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主要区域</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6294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Codex配合</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001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左侧：文件和目录</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中间：Markdown和文档</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下方：终端和命令结果</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66294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侧栏提出任务</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读取当前项目</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修改文件并显示差异</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7" name="矩形 16"/>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Markdown保存可以继续修改的工作底稿</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02 环境</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6" name="直接连接符 5"/>
          <p:cNvSpPr>
            <a:spLocks noGrp="1"/>
          </p:cNvSpPr>
          <p:nvPr/>
        </p:nvSpPr>
        <p:spPr>
          <a:xfrm>
            <a:off x="2495550" y="6410325"/>
            <a:ext cx="1028700" cy="0"/>
          </a:xfrm>
          <a:prstGeom prst="line">
            <a:avLst/>
          </a:prstGeom>
          <a:noFill/>
          <a:ln w="38100">
            <a:solidFill>
              <a:srgbClr val="315F55"/>
            </a:solidFill>
            <a:prstDash val="solid"/>
          </a:ln>
        </p:spPr>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17</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6096000" y="1838325"/>
            <a:ext cx="0" cy="3857625"/>
          </a:xfrm>
          <a:prstGeom prst="line">
            <a:avLst/>
          </a:prstGeom>
          <a:noFill/>
          <a:ln w="9525">
            <a:solidFill>
              <a:srgbClr val="C9D0C8"/>
            </a:solidFill>
            <a:prstDash val="solid"/>
          </a:ln>
        </p:spPr>
      </p:sp>
      <p:sp>
        <p:nvSpPr>
          <p:cNvPr id="13" name="矩形 12"/>
          <p:cNvSpPr>
            <a:spLocks noGrp="1"/>
          </p:cNvSpPr>
          <p:nvPr/>
        </p:nvSpPr>
        <p:spPr>
          <a:xfrm>
            <a:off x="8001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适合保存</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6294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便于继续</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001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需求和范围</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分析过程和依据</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来源、链接和日期</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操作说明和检查记录</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66294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Codex可以直接读写</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VS Code可以预览</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Git可以保存修改历史</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同一文件可嵌入Mermaid图</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45" name="矩形 44"/>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用Mermaid文本生成流程和关系图</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02 环境</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6" name="直接连接符 5"/>
          <p:cNvSpPr>
            <a:spLocks noGrp="1"/>
          </p:cNvSpPr>
          <p:nvPr/>
        </p:nvSpPr>
        <p:spPr>
          <a:xfrm>
            <a:off x="2495550" y="6410325"/>
            <a:ext cx="1028700" cy="0"/>
          </a:xfrm>
          <a:prstGeom prst="line">
            <a:avLst/>
          </a:prstGeom>
          <a:noFill/>
          <a:ln w="38100">
            <a:solidFill>
              <a:srgbClr val="315F55"/>
            </a:solidFill>
            <a:prstDash val="solid"/>
          </a:ln>
        </p:spPr>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18</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781050" y="1752600"/>
            <a:ext cx="4191000" cy="323850"/>
          </a:xfrm>
          <a:prstGeom prst="rect">
            <a:avLst/>
          </a:prstGeom>
          <a:noFill/>
          <a:ln w="0">
            <a:noFill/>
            <a:prstDash val="solid"/>
          </a:ln>
        </p:spPr>
        <p:txBody>
          <a:bodyPr wrap="square" lIns="0" tIns="0" rIns="0" bIns="0" anchor="t">
            <a:normAutofit/>
          </a:bodyPr>
          <a:lstStyle/>
          <a:p>
            <a:pPr algn="l">
              <a:lnSpc>
                <a:spcPct val="112000"/>
              </a:lnSpc>
              <a:buNone/>
              <a:defRPr sz="1725" b="1">
                <a:solidFill>
                  <a:srgbClr val="315F55"/>
                </a:solidFill>
                <a:latin typeface="微软雅黑" panose="020B0503020204020204" charset="-122"/>
                <a:ea typeface="微软雅黑" panose="020B0503020204020204" charset="-122"/>
                <a:cs typeface="微软雅黑" panose="020B0503020204020204" charset="-122"/>
              </a:defRPr>
            </a:pPr>
            <a:r>
              <a:rPr sz="1725" b="1">
                <a:solidFill>
                  <a:srgbClr val="315F55"/>
                </a:solidFill>
                <a:latin typeface="微软雅黑" panose="020B0503020204020204" charset="-122"/>
                <a:ea typeface="微软雅黑" panose="020B0503020204020204" charset="-122"/>
                <a:cs typeface="微软雅黑" panose="020B0503020204020204" charset="-122"/>
              </a:rPr>
              <a:t>Markdown中的源码</a:t>
            </a:r>
            <a:endParaRPr sz="17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742950" y="2190750"/>
            <a:ext cx="4267200" cy="3333750"/>
          </a:xfrm>
          <a:prstGeom prst="roundRect">
            <a:avLst>
              <a:gd name="adj" fmla="val 3429"/>
            </a:avLst>
          </a:prstGeom>
          <a:solidFill>
            <a:srgbClr val="F3F0E6"/>
          </a:solidFill>
          <a:ln w="9525">
            <a:solidFill>
              <a:srgbClr val="C9D0C8"/>
            </a:solidFill>
            <a:prstDash val="solid"/>
          </a:ln>
        </p:spPr>
      </p:sp>
      <p:sp>
        <p:nvSpPr>
          <p:cNvPr id="14" name="矩形 13"/>
          <p:cNvSpPr>
            <a:spLocks noGrp="1"/>
          </p:cNvSpPr>
          <p:nvPr/>
        </p:nvSpPr>
        <p:spPr>
          <a:xfrm>
            <a:off x="971550" y="2419350"/>
            <a:ext cx="3829050" cy="2914650"/>
          </a:xfrm>
          <a:prstGeom prst="rect">
            <a:avLst/>
          </a:prstGeom>
          <a:noFill/>
          <a:ln w="0">
            <a:noFill/>
            <a:prstDash val="solid"/>
          </a:ln>
        </p:spPr>
        <p:txBody>
          <a:bodyPr wrap="square" lIns="0" tIns="0" rIns="0" bIns="0" anchor="t">
            <a:normAutofit/>
          </a:bodyPr>
          <a:lstStyle/>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```mermaid</a:t>
            </a:r>
            <a:endParaRPr sz="1275" b="0">
              <a:solidFill>
                <a:srgbClr val="263431"/>
              </a:solidFill>
              <a:latin typeface="Consolas" panose="020B0609020204030204"/>
              <a:ea typeface="Consolas" panose="020B0609020204030204"/>
              <a:cs typeface="Consolas" panose="020B0609020204030204"/>
            </a:endParaRPr>
          </a:p>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sequenceDiagram</a:t>
            </a:r>
            <a:endParaRPr sz="1275" b="0">
              <a:solidFill>
                <a:srgbClr val="263431"/>
              </a:solidFill>
              <a:latin typeface="Consolas" panose="020B0609020204030204"/>
              <a:ea typeface="Consolas" panose="020B0609020204030204"/>
              <a:cs typeface="Consolas" panose="020B0609020204030204"/>
            </a:endParaRPr>
          </a:p>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  participant U as 用户</a:t>
            </a:r>
            <a:endParaRPr sz="1275" b="0">
              <a:solidFill>
                <a:srgbClr val="263431"/>
              </a:solidFill>
              <a:latin typeface="Consolas" panose="020B0609020204030204"/>
              <a:ea typeface="Consolas" panose="020B0609020204030204"/>
              <a:cs typeface="Consolas" panose="020B0609020204030204"/>
            </a:endParaRPr>
          </a:p>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  participant C as Codex</a:t>
            </a:r>
            <a:endParaRPr sz="1275" b="0">
              <a:solidFill>
                <a:srgbClr val="263431"/>
              </a:solidFill>
              <a:latin typeface="Consolas" panose="020B0609020204030204"/>
              <a:ea typeface="Consolas" panose="020B0609020204030204"/>
              <a:cs typeface="Consolas" panose="020B0609020204030204"/>
            </a:endParaRPr>
          </a:p>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  participant F as 项目文件夹</a:t>
            </a:r>
            <a:endParaRPr sz="1275" b="0">
              <a:solidFill>
                <a:srgbClr val="263431"/>
              </a:solidFill>
              <a:latin typeface="Consolas" panose="020B0609020204030204"/>
              <a:ea typeface="Consolas" panose="020B0609020204030204"/>
              <a:cs typeface="Consolas" panose="020B0609020204030204"/>
            </a:endParaRPr>
          </a:p>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  U-&gt;&gt;C: 提出模糊目标</a:t>
            </a:r>
            <a:endParaRPr sz="1275" b="0">
              <a:solidFill>
                <a:srgbClr val="263431"/>
              </a:solidFill>
              <a:latin typeface="Consolas" panose="020B0609020204030204"/>
              <a:ea typeface="Consolas" panose="020B0609020204030204"/>
              <a:cs typeface="Consolas" panose="020B0609020204030204"/>
            </a:endParaRPr>
          </a:p>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  C-&gt;&gt;F: 读取现有材料</a:t>
            </a:r>
            <a:endParaRPr sz="1275" b="0">
              <a:solidFill>
                <a:srgbClr val="263431"/>
              </a:solidFill>
              <a:latin typeface="Consolas" panose="020B0609020204030204"/>
              <a:ea typeface="Consolas" panose="020B0609020204030204"/>
              <a:cs typeface="Consolas" panose="020B0609020204030204"/>
            </a:endParaRPr>
          </a:p>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  F--&gt;&gt;C: 返回项目上下文</a:t>
            </a:r>
            <a:endParaRPr sz="1275" b="0">
              <a:solidFill>
                <a:srgbClr val="263431"/>
              </a:solidFill>
              <a:latin typeface="Consolas" panose="020B0609020204030204"/>
              <a:ea typeface="Consolas" panose="020B0609020204030204"/>
              <a:cs typeface="Consolas" panose="020B0609020204030204"/>
            </a:endParaRPr>
          </a:p>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  C-&gt;&gt;U: 提出澄清问题</a:t>
            </a:r>
            <a:endParaRPr sz="1275" b="0">
              <a:solidFill>
                <a:srgbClr val="263431"/>
              </a:solidFill>
              <a:latin typeface="Consolas" panose="020B0609020204030204"/>
              <a:ea typeface="Consolas" panose="020B0609020204030204"/>
              <a:cs typeface="Consolas" panose="020B0609020204030204"/>
            </a:endParaRPr>
          </a:p>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  U--&gt;&gt;C: 确认范围与标准</a:t>
            </a:r>
            <a:endParaRPr sz="1275" b="0">
              <a:solidFill>
                <a:srgbClr val="263431"/>
              </a:solidFill>
              <a:latin typeface="Consolas" panose="020B0609020204030204"/>
              <a:ea typeface="Consolas" panose="020B0609020204030204"/>
              <a:cs typeface="Consolas" panose="020B0609020204030204"/>
            </a:endParaRPr>
          </a:p>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  C-&gt;&gt;F: 写入需求与成果</a:t>
            </a:r>
            <a:endParaRPr sz="1275" b="0">
              <a:solidFill>
                <a:srgbClr val="263431"/>
              </a:solidFill>
              <a:latin typeface="Consolas" panose="020B0609020204030204"/>
              <a:ea typeface="Consolas" panose="020B0609020204030204"/>
              <a:cs typeface="Consolas" panose="020B0609020204030204"/>
            </a:endParaRPr>
          </a:p>
          <a:p>
            <a:pPr algn="l">
              <a:lnSpc>
                <a:spcPct val="108000"/>
              </a:lnSpc>
              <a:buNone/>
              <a:defRPr sz="1275" b="0">
                <a:solidFill>
                  <a:srgbClr val="263431"/>
                </a:solidFill>
                <a:latin typeface="Consolas" panose="020B0609020204030204"/>
                <a:ea typeface="Consolas" panose="020B0609020204030204"/>
                <a:cs typeface="Consolas" panose="020B0609020204030204"/>
              </a:defRPr>
            </a:pPr>
            <a:r>
              <a:rPr sz="1275" b="0">
                <a:solidFill>
                  <a:srgbClr val="263431"/>
                </a:solidFill>
                <a:latin typeface="Consolas" panose="020B0609020204030204"/>
                <a:ea typeface="Consolas" panose="020B0609020204030204"/>
                <a:cs typeface="Consolas" panose="020B0609020204030204"/>
              </a:rPr>
              <a:t>```</a:t>
            </a:r>
            <a:endParaRPr sz="1275" b="0">
              <a:solidFill>
                <a:srgbClr val="263431"/>
              </a:solidFill>
              <a:latin typeface="Consolas" panose="020B0609020204030204"/>
              <a:ea typeface="Consolas" panose="020B0609020204030204"/>
              <a:cs typeface="Consolas" panose="020B0609020204030204"/>
            </a:endParaRPr>
          </a:p>
        </p:txBody>
      </p:sp>
      <p:sp>
        <p:nvSpPr>
          <p:cNvPr id="15" name="矩形 14"/>
          <p:cNvSpPr>
            <a:spLocks noGrp="1"/>
          </p:cNvSpPr>
          <p:nvPr/>
        </p:nvSpPr>
        <p:spPr>
          <a:xfrm>
            <a:off x="5715000" y="1752600"/>
            <a:ext cx="1809750" cy="323850"/>
          </a:xfrm>
          <a:prstGeom prst="rect">
            <a:avLst/>
          </a:prstGeom>
          <a:noFill/>
          <a:ln w="0">
            <a:noFill/>
            <a:prstDash val="solid"/>
          </a:ln>
        </p:spPr>
        <p:txBody>
          <a:bodyPr wrap="square" lIns="0" tIns="0" rIns="0" bIns="0" anchor="t">
            <a:normAutofit/>
          </a:bodyPr>
          <a:lstStyle/>
          <a:p>
            <a:pPr algn="l">
              <a:lnSpc>
                <a:spcPct val="112000"/>
              </a:lnSpc>
              <a:buNone/>
              <a:defRPr sz="1725" b="1">
                <a:solidFill>
                  <a:srgbClr val="315363"/>
                </a:solidFill>
                <a:latin typeface="微软雅黑" panose="020B0503020204020204" charset="-122"/>
                <a:ea typeface="微软雅黑" panose="020B0503020204020204" charset="-122"/>
                <a:cs typeface="微软雅黑" panose="020B0503020204020204" charset="-122"/>
              </a:defRPr>
            </a:pPr>
            <a:r>
              <a:rPr sz="1725" b="1">
                <a:solidFill>
                  <a:srgbClr val="315363"/>
                </a:solidFill>
                <a:latin typeface="微软雅黑" panose="020B0503020204020204" charset="-122"/>
                <a:ea typeface="微软雅黑" panose="020B0503020204020204" charset="-122"/>
                <a:cs typeface="微软雅黑" panose="020B0503020204020204" charset="-122"/>
              </a:rPr>
              <a:t>渲染后的时序图</a:t>
            </a:r>
            <a:endParaRPr sz="1725"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7524750" y="1781175"/>
            <a:ext cx="3790950" cy="285750"/>
          </a:xfrm>
          <a:prstGeom prst="rect">
            <a:avLst/>
          </a:prstGeom>
          <a:noFill/>
          <a:ln w="0">
            <a:noFill/>
            <a:prstDash val="solid"/>
          </a:ln>
        </p:spPr>
        <p:txBody>
          <a:bodyPr wrap="square" lIns="0" tIns="0" rIns="0" bIns="0" anchor="t">
            <a:normAutofit/>
          </a:bodyPr>
          <a:lstStyle/>
          <a:p>
            <a:pPr algn="l">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（VS Code中Ctrl+Shift+V渲染切换）</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5791200" y="2190750"/>
            <a:ext cx="1371600" cy="419100"/>
          </a:xfrm>
          <a:prstGeom prst="roundRect">
            <a:avLst>
              <a:gd name="adj" fmla="val 18182"/>
            </a:avLst>
          </a:prstGeom>
          <a:solidFill>
            <a:srgbClr val="F3F0E6"/>
          </a:solidFill>
          <a:ln w="9525">
            <a:solidFill>
              <a:srgbClr val="315F55"/>
            </a:solidFill>
            <a:prstDash val="solid"/>
          </a:ln>
        </p:spPr>
      </p:sp>
      <p:sp>
        <p:nvSpPr>
          <p:cNvPr id="18" name="矩形 17"/>
          <p:cNvSpPr>
            <a:spLocks noGrp="1"/>
          </p:cNvSpPr>
          <p:nvPr/>
        </p:nvSpPr>
        <p:spPr>
          <a:xfrm>
            <a:off x="5848350" y="2276475"/>
            <a:ext cx="1257300" cy="228600"/>
          </a:xfrm>
          <a:prstGeom prst="rect">
            <a:avLst/>
          </a:prstGeom>
          <a:noFill/>
          <a:ln w="0">
            <a:noFill/>
            <a:prstDash val="solid"/>
          </a:ln>
        </p:spPr>
        <p:txBody>
          <a:bodyPr wrap="square" lIns="0" tIns="0" rIns="0" bIns="0" anchor="ctr">
            <a:normAutofit fontScale="99206"/>
          </a:bodyPr>
          <a:lstStyle/>
          <a:p>
            <a:pPr algn="ctr">
              <a:lnSpc>
                <a:spcPct val="112000"/>
              </a:lnSpc>
              <a:buNone/>
              <a:defRPr sz="1350" b="1">
                <a:solidFill>
                  <a:srgbClr val="263431"/>
                </a:solidFill>
                <a:latin typeface="微软雅黑" panose="020B0503020204020204" charset="-122"/>
                <a:ea typeface="微软雅黑" panose="020B0503020204020204" charset="-122"/>
                <a:cs typeface="微软雅黑" panose="020B0503020204020204" charset="-122"/>
              </a:defRPr>
            </a:pPr>
            <a:r>
              <a:rPr sz="1350" b="1">
                <a:solidFill>
                  <a:srgbClr val="263431"/>
                </a:solidFill>
                <a:latin typeface="微软雅黑" panose="020B0503020204020204" charset="-122"/>
                <a:ea typeface="微软雅黑" panose="020B0503020204020204" charset="-122"/>
                <a:cs typeface="微软雅黑" panose="020B0503020204020204" charset="-122"/>
              </a:rPr>
              <a:t>用户</a:t>
            </a:r>
            <a:endParaRPr sz="135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9" name="直接连接符 18"/>
          <p:cNvSpPr>
            <a:spLocks noGrp="1"/>
          </p:cNvSpPr>
          <p:nvPr/>
        </p:nvSpPr>
        <p:spPr>
          <a:xfrm>
            <a:off x="6477000" y="2609850"/>
            <a:ext cx="0" cy="2857500"/>
          </a:xfrm>
          <a:prstGeom prst="line">
            <a:avLst/>
          </a:prstGeom>
          <a:noFill/>
          <a:ln w="9525">
            <a:solidFill>
              <a:srgbClr val="8FA99C"/>
            </a:solidFill>
            <a:prstDash val="solid"/>
          </a:ln>
        </p:spPr>
      </p:sp>
      <p:sp>
        <p:nvSpPr>
          <p:cNvPr id="20" name="圆角矩形 19"/>
          <p:cNvSpPr>
            <a:spLocks noGrp="1"/>
          </p:cNvSpPr>
          <p:nvPr/>
        </p:nvSpPr>
        <p:spPr>
          <a:xfrm>
            <a:off x="7886700" y="2190750"/>
            <a:ext cx="1371600" cy="419100"/>
          </a:xfrm>
          <a:prstGeom prst="roundRect">
            <a:avLst>
              <a:gd name="adj" fmla="val 18182"/>
            </a:avLst>
          </a:prstGeom>
          <a:solidFill>
            <a:srgbClr val="F3F0E6"/>
          </a:solidFill>
          <a:ln w="9525">
            <a:solidFill>
              <a:srgbClr val="315F55"/>
            </a:solidFill>
            <a:prstDash val="solid"/>
          </a:ln>
        </p:spPr>
      </p:sp>
      <p:sp>
        <p:nvSpPr>
          <p:cNvPr id="21" name="矩形 20"/>
          <p:cNvSpPr>
            <a:spLocks noGrp="1"/>
          </p:cNvSpPr>
          <p:nvPr/>
        </p:nvSpPr>
        <p:spPr>
          <a:xfrm>
            <a:off x="7943850" y="2276475"/>
            <a:ext cx="1257300" cy="228600"/>
          </a:xfrm>
          <a:prstGeom prst="rect">
            <a:avLst/>
          </a:prstGeom>
          <a:noFill/>
          <a:ln w="0">
            <a:noFill/>
            <a:prstDash val="solid"/>
          </a:ln>
        </p:spPr>
        <p:txBody>
          <a:bodyPr wrap="square" lIns="0" tIns="0" rIns="0" bIns="0" anchor="ctr">
            <a:normAutofit fontScale="99206"/>
          </a:bodyPr>
          <a:lstStyle/>
          <a:p>
            <a:pPr algn="ctr">
              <a:lnSpc>
                <a:spcPct val="112000"/>
              </a:lnSpc>
              <a:buNone/>
              <a:defRPr sz="1350" b="1">
                <a:solidFill>
                  <a:srgbClr val="263431"/>
                </a:solidFill>
                <a:latin typeface="微软雅黑" panose="020B0503020204020204" charset="-122"/>
                <a:ea typeface="微软雅黑" panose="020B0503020204020204" charset="-122"/>
                <a:cs typeface="微软雅黑" panose="020B0503020204020204" charset="-122"/>
              </a:defRPr>
            </a:pPr>
            <a:r>
              <a:rPr sz="1350" b="1">
                <a:solidFill>
                  <a:srgbClr val="263431"/>
                </a:solidFill>
                <a:latin typeface="微软雅黑" panose="020B0503020204020204" charset="-122"/>
                <a:ea typeface="微软雅黑" panose="020B0503020204020204" charset="-122"/>
                <a:cs typeface="微软雅黑" panose="020B0503020204020204" charset="-122"/>
              </a:rPr>
              <a:t>Codex</a:t>
            </a:r>
            <a:endParaRPr sz="135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2" name="直接连接符 21"/>
          <p:cNvSpPr>
            <a:spLocks noGrp="1"/>
          </p:cNvSpPr>
          <p:nvPr/>
        </p:nvSpPr>
        <p:spPr>
          <a:xfrm>
            <a:off x="8572500" y="2609850"/>
            <a:ext cx="0" cy="2857500"/>
          </a:xfrm>
          <a:prstGeom prst="line">
            <a:avLst/>
          </a:prstGeom>
          <a:noFill/>
          <a:ln w="9525">
            <a:solidFill>
              <a:srgbClr val="8FA99C"/>
            </a:solidFill>
            <a:prstDash val="solid"/>
          </a:ln>
        </p:spPr>
      </p:sp>
      <p:sp>
        <p:nvSpPr>
          <p:cNvPr id="23" name="圆角矩形 22"/>
          <p:cNvSpPr>
            <a:spLocks noGrp="1"/>
          </p:cNvSpPr>
          <p:nvPr/>
        </p:nvSpPr>
        <p:spPr>
          <a:xfrm>
            <a:off x="9982200" y="2190750"/>
            <a:ext cx="1371600" cy="419100"/>
          </a:xfrm>
          <a:prstGeom prst="roundRect">
            <a:avLst>
              <a:gd name="adj" fmla="val 18182"/>
            </a:avLst>
          </a:prstGeom>
          <a:solidFill>
            <a:srgbClr val="F3F0E6"/>
          </a:solidFill>
          <a:ln w="9525">
            <a:solidFill>
              <a:srgbClr val="315F55"/>
            </a:solidFill>
            <a:prstDash val="solid"/>
          </a:ln>
        </p:spPr>
      </p:sp>
      <p:sp>
        <p:nvSpPr>
          <p:cNvPr id="24" name="矩形 23"/>
          <p:cNvSpPr>
            <a:spLocks noGrp="1"/>
          </p:cNvSpPr>
          <p:nvPr/>
        </p:nvSpPr>
        <p:spPr>
          <a:xfrm>
            <a:off x="10039350" y="2276475"/>
            <a:ext cx="1257300" cy="228600"/>
          </a:xfrm>
          <a:prstGeom prst="rect">
            <a:avLst/>
          </a:prstGeom>
          <a:noFill/>
          <a:ln w="0">
            <a:noFill/>
            <a:prstDash val="solid"/>
          </a:ln>
        </p:spPr>
        <p:txBody>
          <a:bodyPr wrap="square" lIns="0" tIns="0" rIns="0" bIns="0" anchor="ctr">
            <a:normAutofit fontScale="99206"/>
          </a:bodyPr>
          <a:lstStyle/>
          <a:p>
            <a:pPr algn="ctr">
              <a:lnSpc>
                <a:spcPct val="112000"/>
              </a:lnSpc>
              <a:buNone/>
              <a:defRPr sz="1350" b="1">
                <a:solidFill>
                  <a:srgbClr val="263431"/>
                </a:solidFill>
                <a:latin typeface="微软雅黑" panose="020B0503020204020204" charset="-122"/>
                <a:ea typeface="微软雅黑" panose="020B0503020204020204" charset="-122"/>
                <a:cs typeface="微软雅黑" panose="020B0503020204020204" charset="-122"/>
              </a:defRPr>
            </a:pPr>
            <a:r>
              <a:rPr sz="1350" b="1">
                <a:solidFill>
                  <a:srgbClr val="263431"/>
                </a:solidFill>
                <a:latin typeface="微软雅黑" panose="020B0503020204020204" charset="-122"/>
                <a:ea typeface="微软雅黑" panose="020B0503020204020204" charset="-122"/>
                <a:cs typeface="微软雅黑" panose="020B0503020204020204" charset="-122"/>
              </a:rPr>
              <a:t>项目文件夹</a:t>
            </a:r>
            <a:endParaRPr sz="135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5" name="直接连接符 24"/>
          <p:cNvSpPr>
            <a:spLocks noGrp="1"/>
          </p:cNvSpPr>
          <p:nvPr/>
        </p:nvSpPr>
        <p:spPr>
          <a:xfrm>
            <a:off x="10668000" y="2609850"/>
            <a:ext cx="0" cy="2857500"/>
          </a:xfrm>
          <a:prstGeom prst="line">
            <a:avLst/>
          </a:prstGeom>
          <a:noFill/>
          <a:ln w="9525">
            <a:solidFill>
              <a:srgbClr val="8FA99C"/>
            </a:solidFill>
            <a:prstDash val="solid"/>
          </a:ln>
        </p:spPr>
      </p:sp>
      <p:sp>
        <p:nvSpPr>
          <p:cNvPr id="26" name="直接连接符 25"/>
          <p:cNvSpPr>
            <a:spLocks noGrp="1"/>
          </p:cNvSpPr>
          <p:nvPr/>
        </p:nvSpPr>
        <p:spPr>
          <a:xfrm>
            <a:off x="6477000" y="2952750"/>
            <a:ext cx="2000250" cy="0"/>
          </a:xfrm>
          <a:prstGeom prst="line">
            <a:avLst/>
          </a:prstGeom>
          <a:noFill/>
          <a:ln w="19050">
            <a:solidFill>
              <a:srgbClr val="315363"/>
            </a:solidFill>
            <a:prstDash val="solid"/>
          </a:ln>
        </p:spPr>
      </p:sp>
      <p:sp>
        <p:nvSpPr>
          <p:cNvPr id="27" name="矩形 26"/>
          <p:cNvSpPr>
            <a:spLocks noGrp="1"/>
          </p:cNvSpPr>
          <p:nvPr/>
        </p:nvSpPr>
        <p:spPr>
          <a:xfrm>
            <a:off x="8410575" y="2828925"/>
            <a:ext cx="171450" cy="228600"/>
          </a:xfrm>
          <a:prstGeom prst="rect">
            <a:avLst/>
          </a:prstGeom>
          <a:noFill/>
          <a:ln w="0">
            <a:noFill/>
            <a:prstDash val="solid"/>
          </a:ln>
        </p:spPr>
        <p:txBody>
          <a:bodyPr wrap="square" lIns="0" tIns="0" rIns="0" bIns="0" anchor="t">
            <a:normAutofit fontScale="71429"/>
          </a:bodyPr>
          <a:lstStyle/>
          <a:p>
            <a:pPr algn="ctr">
              <a:lnSpc>
                <a:spcPct val="112000"/>
              </a:lnSpc>
              <a:buNone/>
              <a:defRPr sz="1875" b="1">
                <a:solidFill>
                  <a:srgbClr val="315363"/>
                </a:solidFill>
                <a:latin typeface="微软雅黑" panose="020B0503020204020204" charset="-122"/>
                <a:ea typeface="微软雅黑" panose="020B0503020204020204" charset="-122"/>
                <a:cs typeface="微软雅黑" panose="020B0503020204020204" charset="-122"/>
              </a:defRPr>
            </a:pPr>
            <a:r>
              <a:rPr sz="1875" b="1">
                <a:solidFill>
                  <a:srgbClr val="315363"/>
                </a:solidFill>
                <a:latin typeface="微软雅黑" panose="020B0503020204020204" charset="-122"/>
                <a:ea typeface="微软雅黑" panose="020B0503020204020204" charset="-122"/>
                <a:cs typeface="微软雅黑" panose="020B0503020204020204" charset="-122"/>
              </a:rPr>
              <a:t>›</a:t>
            </a:r>
            <a:endParaRPr sz="1875"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6610350" y="2695575"/>
            <a:ext cx="1828800" cy="228600"/>
          </a:xfrm>
          <a:prstGeom prst="rect">
            <a:avLst/>
          </a:prstGeom>
          <a:noFill/>
          <a:ln w="0">
            <a:noFill/>
            <a:prstDash val="solid"/>
          </a:ln>
        </p:spPr>
        <p:txBody>
          <a:bodyPr wrap="square" lIns="0" tIns="0" rIns="0" bIns="0" anchor="t">
            <a:normAutofit/>
          </a:bodyPr>
          <a:lstStyle/>
          <a:p>
            <a:pPr algn="ctr">
              <a:lnSpc>
                <a:spcPct val="112000"/>
              </a:lnSpc>
              <a:buNone/>
              <a:defRPr sz="1125" b="0">
                <a:solidFill>
                  <a:srgbClr val="263431"/>
                </a:solidFill>
                <a:latin typeface="微软雅黑" panose="020B0503020204020204" charset="-122"/>
                <a:ea typeface="微软雅黑" panose="020B0503020204020204" charset="-122"/>
                <a:cs typeface="微软雅黑" panose="020B0503020204020204" charset="-122"/>
              </a:defRPr>
            </a:pPr>
            <a:r>
              <a:rPr sz="1125" b="0">
                <a:solidFill>
                  <a:srgbClr val="263431"/>
                </a:solidFill>
                <a:latin typeface="微软雅黑" panose="020B0503020204020204" charset="-122"/>
                <a:ea typeface="微软雅黑" panose="020B0503020204020204" charset="-122"/>
                <a:cs typeface="微软雅黑" panose="020B0503020204020204" charset="-122"/>
              </a:rPr>
              <a:t>提出模糊目标</a:t>
            </a:r>
            <a:endParaRPr sz="11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9" name="直接连接符 28"/>
          <p:cNvSpPr>
            <a:spLocks noGrp="1"/>
          </p:cNvSpPr>
          <p:nvPr/>
        </p:nvSpPr>
        <p:spPr>
          <a:xfrm>
            <a:off x="8572500" y="3429000"/>
            <a:ext cx="2000250" cy="0"/>
          </a:xfrm>
          <a:prstGeom prst="line">
            <a:avLst/>
          </a:prstGeom>
          <a:noFill/>
          <a:ln w="19050">
            <a:solidFill>
              <a:srgbClr val="315363"/>
            </a:solidFill>
            <a:prstDash val="solid"/>
          </a:ln>
        </p:spPr>
      </p:sp>
      <p:sp>
        <p:nvSpPr>
          <p:cNvPr id="30" name="矩形 29"/>
          <p:cNvSpPr>
            <a:spLocks noGrp="1"/>
          </p:cNvSpPr>
          <p:nvPr/>
        </p:nvSpPr>
        <p:spPr>
          <a:xfrm>
            <a:off x="10506075" y="3305175"/>
            <a:ext cx="171450" cy="228600"/>
          </a:xfrm>
          <a:prstGeom prst="rect">
            <a:avLst/>
          </a:prstGeom>
          <a:noFill/>
          <a:ln w="0">
            <a:noFill/>
            <a:prstDash val="solid"/>
          </a:ln>
        </p:spPr>
        <p:txBody>
          <a:bodyPr wrap="square" lIns="0" tIns="0" rIns="0" bIns="0" anchor="t">
            <a:normAutofit fontScale="71429"/>
          </a:bodyPr>
          <a:lstStyle/>
          <a:p>
            <a:pPr algn="ctr">
              <a:lnSpc>
                <a:spcPct val="112000"/>
              </a:lnSpc>
              <a:buNone/>
              <a:defRPr sz="1875" b="1">
                <a:solidFill>
                  <a:srgbClr val="315363"/>
                </a:solidFill>
                <a:latin typeface="微软雅黑" panose="020B0503020204020204" charset="-122"/>
                <a:ea typeface="微软雅黑" panose="020B0503020204020204" charset="-122"/>
                <a:cs typeface="微软雅黑" panose="020B0503020204020204" charset="-122"/>
              </a:defRPr>
            </a:pPr>
            <a:r>
              <a:rPr sz="1875" b="1">
                <a:solidFill>
                  <a:srgbClr val="315363"/>
                </a:solidFill>
                <a:latin typeface="微软雅黑" panose="020B0503020204020204" charset="-122"/>
                <a:ea typeface="微软雅黑" panose="020B0503020204020204" charset="-122"/>
                <a:cs typeface="微软雅黑" panose="020B0503020204020204" charset="-122"/>
              </a:rPr>
              <a:t>›</a:t>
            </a:r>
            <a:endParaRPr sz="1875"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8705850" y="3171825"/>
            <a:ext cx="1828800" cy="228600"/>
          </a:xfrm>
          <a:prstGeom prst="rect">
            <a:avLst/>
          </a:prstGeom>
          <a:noFill/>
          <a:ln w="0">
            <a:noFill/>
            <a:prstDash val="solid"/>
          </a:ln>
        </p:spPr>
        <p:txBody>
          <a:bodyPr wrap="square" lIns="0" tIns="0" rIns="0" bIns="0" anchor="t">
            <a:normAutofit/>
          </a:bodyPr>
          <a:lstStyle/>
          <a:p>
            <a:pPr algn="ctr">
              <a:lnSpc>
                <a:spcPct val="112000"/>
              </a:lnSpc>
              <a:buNone/>
              <a:defRPr sz="1125" b="0">
                <a:solidFill>
                  <a:srgbClr val="263431"/>
                </a:solidFill>
                <a:latin typeface="微软雅黑" panose="020B0503020204020204" charset="-122"/>
                <a:ea typeface="微软雅黑" panose="020B0503020204020204" charset="-122"/>
                <a:cs typeface="微软雅黑" panose="020B0503020204020204" charset="-122"/>
              </a:defRPr>
            </a:pPr>
            <a:r>
              <a:rPr sz="1125" b="0">
                <a:solidFill>
                  <a:srgbClr val="263431"/>
                </a:solidFill>
                <a:latin typeface="微软雅黑" panose="020B0503020204020204" charset="-122"/>
                <a:ea typeface="微软雅黑" panose="020B0503020204020204" charset="-122"/>
                <a:cs typeface="微软雅黑" panose="020B0503020204020204" charset="-122"/>
              </a:rPr>
              <a:t>读取现有材料</a:t>
            </a:r>
            <a:endParaRPr sz="11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2" name="直接连接符 31"/>
          <p:cNvSpPr>
            <a:spLocks noGrp="1"/>
          </p:cNvSpPr>
          <p:nvPr/>
        </p:nvSpPr>
        <p:spPr>
          <a:xfrm>
            <a:off x="8667750" y="3905250"/>
            <a:ext cx="2000250" cy="0"/>
          </a:xfrm>
          <a:prstGeom prst="line">
            <a:avLst/>
          </a:prstGeom>
          <a:noFill/>
          <a:ln w="19050">
            <a:solidFill>
              <a:srgbClr val="A18458"/>
            </a:solidFill>
            <a:prstDash val="solid"/>
          </a:ln>
        </p:spPr>
      </p:sp>
      <p:sp>
        <p:nvSpPr>
          <p:cNvPr id="33" name="矩形 32"/>
          <p:cNvSpPr>
            <a:spLocks noGrp="1"/>
          </p:cNvSpPr>
          <p:nvPr/>
        </p:nvSpPr>
        <p:spPr>
          <a:xfrm>
            <a:off x="8582025" y="3781425"/>
            <a:ext cx="171450" cy="228600"/>
          </a:xfrm>
          <a:prstGeom prst="rect">
            <a:avLst/>
          </a:prstGeom>
          <a:noFill/>
          <a:ln w="0">
            <a:noFill/>
            <a:prstDash val="solid"/>
          </a:ln>
        </p:spPr>
        <p:txBody>
          <a:bodyPr wrap="square" lIns="0" tIns="0" rIns="0" bIns="0" anchor="t">
            <a:normAutofit fontScale="71429"/>
          </a:bodyPr>
          <a:lstStyle/>
          <a:p>
            <a:pPr algn="ctr">
              <a:lnSpc>
                <a:spcPct val="112000"/>
              </a:lnSpc>
              <a:buNone/>
              <a:defRPr sz="1875" b="1">
                <a:solidFill>
                  <a:srgbClr val="A18458"/>
                </a:solidFill>
                <a:latin typeface="微软雅黑" panose="020B0503020204020204" charset="-122"/>
                <a:ea typeface="微软雅黑" panose="020B0503020204020204" charset="-122"/>
                <a:cs typeface="微软雅黑" panose="020B0503020204020204" charset="-122"/>
              </a:defRPr>
            </a:pPr>
            <a:r>
              <a:rPr sz="1875" b="1">
                <a:solidFill>
                  <a:srgbClr val="A18458"/>
                </a:solidFill>
                <a:latin typeface="微软雅黑" panose="020B0503020204020204" charset="-122"/>
                <a:ea typeface="微软雅黑" panose="020B0503020204020204" charset="-122"/>
                <a:cs typeface="微软雅黑" panose="020B0503020204020204" charset="-122"/>
              </a:rPr>
              <a:t>‹</a:t>
            </a:r>
            <a:endParaRPr sz="1875"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34" name="矩形 33"/>
          <p:cNvSpPr>
            <a:spLocks noGrp="1"/>
          </p:cNvSpPr>
          <p:nvPr/>
        </p:nvSpPr>
        <p:spPr>
          <a:xfrm>
            <a:off x="8705850" y="3648075"/>
            <a:ext cx="1828800" cy="228600"/>
          </a:xfrm>
          <a:prstGeom prst="rect">
            <a:avLst/>
          </a:prstGeom>
          <a:noFill/>
          <a:ln w="0">
            <a:noFill/>
            <a:prstDash val="solid"/>
          </a:ln>
        </p:spPr>
        <p:txBody>
          <a:bodyPr wrap="square" lIns="0" tIns="0" rIns="0" bIns="0" anchor="t">
            <a:normAutofit/>
          </a:bodyPr>
          <a:lstStyle/>
          <a:p>
            <a:pPr algn="ctr">
              <a:lnSpc>
                <a:spcPct val="112000"/>
              </a:lnSpc>
              <a:buNone/>
              <a:defRPr sz="1125" b="0">
                <a:solidFill>
                  <a:srgbClr val="263431"/>
                </a:solidFill>
                <a:latin typeface="微软雅黑" panose="020B0503020204020204" charset="-122"/>
                <a:ea typeface="微软雅黑" panose="020B0503020204020204" charset="-122"/>
                <a:cs typeface="微软雅黑" panose="020B0503020204020204" charset="-122"/>
              </a:defRPr>
            </a:pPr>
            <a:r>
              <a:rPr sz="1125" b="0">
                <a:solidFill>
                  <a:srgbClr val="263431"/>
                </a:solidFill>
                <a:latin typeface="微软雅黑" panose="020B0503020204020204" charset="-122"/>
                <a:ea typeface="微软雅黑" panose="020B0503020204020204" charset="-122"/>
                <a:cs typeface="微软雅黑" panose="020B0503020204020204" charset="-122"/>
              </a:rPr>
              <a:t>返回项目上下文</a:t>
            </a:r>
            <a:endParaRPr sz="11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5" name="直接连接符 34"/>
          <p:cNvSpPr>
            <a:spLocks noGrp="1"/>
          </p:cNvSpPr>
          <p:nvPr/>
        </p:nvSpPr>
        <p:spPr>
          <a:xfrm>
            <a:off x="6572250" y="4381500"/>
            <a:ext cx="2000250" cy="0"/>
          </a:xfrm>
          <a:prstGeom prst="line">
            <a:avLst/>
          </a:prstGeom>
          <a:noFill/>
          <a:ln w="19050">
            <a:solidFill>
              <a:srgbClr val="315363"/>
            </a:solidFill>
            <a:prstDash val="solid"/>
          </a:ln>
        </p:spPr>
      </p:sp>
      <p:sp>
        <p:nvSpPr>
          <p:cNvPr id="36" name="矩形 35"/>
          <p:cNvSpPr>
            <a:spLocks noGrp="1"/>
          </p:cNvSpPr>
          <p:nvPr/>
        </p:nvSpPr>
        <p:spPr>
          <a:xfrm>
            <a:off x="6486525" y="4257675"/>
            <a:ext cx="171450" cy="228600"/>
          </a:xfrm>
          <a:prstGeom prst="rect">
            <a:avLst/>
          </a:prstGeom>
          <a:noFill/>
          <a:ln w="0">
            <a:noFill/>
            <a:prstDash val="solid"/>
          </a:ln>
        </p:spPr>
        <p:txBody>
          <a:bodyPr wrap="square" lIns="0" tIns="0" rIns="0" bIns="0" anchor="t">
            <a:normAutofit fontScale="71429"/>
          </a:bodyPr>
          <a:lstStyle/>
          <a:p>
            <a:pPr algn="ctr">
              <a:lnSpc>
                <a:spcPct val="112000"/>
              </a:lnSpc>
              <a:buNone/>
              <a:defRPr sz="1875" b="1">
                <a:solidFill>
                  <a:srgbClr val="315363"/>
                </a:solidFill>
                <a:latin typeface="微软雅黑" panose="020B0503020204020204" charset="-122"/>
                <a:ea typeface="微软雅黑" panose="020B0503020204020204" charset="-122"/>
                <a:cs typeface="微软雅黑" panose="020B0503020204020204" charset="-122"/>
              </a:defRPr>
            </a:pPr>
            <a:r>
              <a:rPr sz="1875" b="1">
                <a:solidFill>
                  <a:srgbClr val="315363"/>
                </a:solidFill>
                <a:latin typeface="微软雅黑" panose="020B0503020204020204" charset="-122"/>
                <a:ea typeface="微软雅黑" panose="020B0503020204020204" charset="-122"/>
                <a:cs typeface="微软雅黑" panose="020B0503020204020204" charset="-122"/>
              </a:rPr>
              <a:t>‹</a:t>
            </a:r>
            <a:endParaRPr sz="1875"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37" name="矩形 36"/>
          <p:cNvSpPr>
            <a:spLocks noGrp="1"/>
          </p:cNvSpPr>
          <p:nvPr/>
        </p:nvSpPr>
        <p:spPr>
          <a:xfrm>
            <a:off x="6610350" y="4124325"/>
            <a:ext cx="1828800" cy="228600"/>
          </a:xfrm>
          <a:prstGeom prst="rect">
            <a:avLst/>
          </a:prstGeom>
          <a:noFill/>
          <a:ln w="0">
            <a:noFill/>
            <a:prstDash val="solid"/>
          </a:ln>
        </p:spPr>
        <p:txBody>
          <a:bodyPr wrap="square" lIns="0" tIns="0" rIns="0" bIns="0" anchor="t">
            <a:normAutofit/>
          </a:bodyPr>
          <a:lstStyle/>
          <a:p>
            <a:pPr algn="ctr">
              <a:lnSpc>
                <a:spcPct val="112000"/>
              </a:lnSpc>
              <a:buNone/>
              <a:defRPr sz="1125" b="0">
                <a:solidFill>
                  <a:srgbClr val="263431"/>
                </a:solidFill>
                <a:latin typeface="微软雅黑" panose="020B0503020204020204" charset="-122"/>
                <a:ea typeface="微软雅黑" panose="020B0503020204020204" charset="-122"/>
                <a:cs typeface="微软雅黑" panose="020B0503020204020204" charset="-122"/>
              </a:defRPr>
            </a:pPr>
            <a:r>
              <a:rPr sz="1125" b="0">
                <a:solidFill>
                  <a:srgbClr val="263431"/>
                </a:solidFill>
                <a:latin typeface="微软雅黑" panose="020B0503020204020204" charset="-122"/>
                <a:ea typeface="微软雅黑" panose="020B0503020204020204" charset="-122"/>
                <a:cs typeface="微软雅黑" panose="020B0503020204020204" charset="-122"/>
              </a:rPr>
              <a:t>提出澄清问题</a:t>
            </a:r>
            <a:endParaRPr sz="11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8" name="直接连接符 37"/>
          <p:cNvSpPr>
            <a:spLocks noGrp="1"/>
          </p:cNvSpPr>
          <p:nvPr/>
        </p:nvSpPr>
        <p:spPr>
          <a:xfrm>
            <a:off x="6477000" y="4857750"/>
            <a:ext cx="2000250" cy="0"/>
          </a:xfrm>
          <a:prstGeom prst="line">
            <a:avLst/>
          </a:prstGeom>
          <a:noFill/>
          <a:ln w="19050">
            <a:solidFill>
              <a:srgbClr val="315363"/>
            </a:solidFill>
            <a:prstDash val="solid"/>
          </a:ln>
        </p:spPr>
      </p:sp>
      <p:sp>
        <p:nvSpPr>
          <p:cNvPr id="39" name="矩形 38"/>
          <p:cNvSpPr>
            <a:spLocks noGrp="1"/>
          </p:cNvSpPr>
          <p:nvPr/>
        </p:nvSpPr>
        <p:spPr>
          <a:xfrm>
            <a:off x="8410575" y="4733925"/>
            <a:ext cx="171450" cy="228600"/>
          </a:xfrm>
          <a:prstGeom prst="rect">
            <a:avLst/>
          </a:prstGeom>
          <a:noFill/>
          <a:ln w="0">
            <a:noFill/>
            <a:prstDash val="solid"/>
          </a:ln>
        </p:spPr>
        <p:txBody>
          <a:bodyPr wrap="square" lIns="0" tIns="0" rIns="0" bIns="0" anchor="t">
            <a:normAutofit fontScale="71429"/>
          </a:bodyPr>
          <a:lstStyle/>
          <a:p>
            <a:pPr algn="ctr">
              <a:lnSpc>
                <a:spcPct val="112000"/>
              </a:lnSpc>
              <a:buNone/>
              <a:defRPr sz="1875" b="1">
                <a:solidFill>
                  <a:srgbClr val="315363"/>
                </a:solidFill>
                <a:latin typeface="微软雅黑" panose="020B0503020204020204" charset="-122"/>
                <a:ea typeface="微软雅黑" panose="020B0503020204020204" charset="-122"/>
                <a:cs typeface="微软雅黑" panose="020B0503020204020204" charset="-122"/>
              </a:defRPr>
            </a:pPr>
            <a:r>
              <a:rPr sz="1875" b="1">
                <a:solidFill>
                  <a:srgbClr val="315363"/>
                </a:solidFill>
                <a:latin typeface="微软雅黑" panose="020B0503020204020204" charset="-122"/>
                <a:ea typeface="微软雅黑" panose="020B0503020204020204" charset="-122"/>
                <a:cs typeface="微软雅黑" panose="020B0503020204020204" charset="-122"/>
              </a:rPr>
              <a:t>›</a:t>
            </a:r>
            <a:endParaRPr sz="1875"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40" name="矩形 39"/>
          <p:cNvSpPr>
            <a:spLocks noGrp="1"/>
          </p:cNvSpPr>
          <p:nvPr/>
        </p:nvSpPr>
        <p:spPr>
          <a:xfrm>
            <a:off x="6610350" y="4600575"/>
            <a:ext cx="1828800" cy="228600"/>
          </a:xfrm>
          <a:prstGeom prst="rect">
            <a:avLst/>
          </a:prstGeom>
          <a:noFill/>
          <a:ln w="0">
            <a:noFill/>
            <a:prstDash val="solid"/>
          </a:ln>
        </p:spPr>
        <p:txBody>
          <a:bodyPr wrap="square" lIns="0" tIns="0" rIns="0" bIns="0" anchor="t">
            <a:normAutofit/>
          </a:bodyPr>
          <a:lstStyle/>
          <a:p>
            <a:pPr algn="ctr">
              <a:lnSpc>
                <a:spcPct val="112000"/>
              </a:lnSpc>
              <a:buNone/>
              <a:defRPr sz="1125" b="0">
                <a:solidFill>
                  <a:srgbClr val="263431"/>
                </a:solidFill>
                <a:latin typeface="微软雅黑" panose="020B0503020204020204" charset="-122"/>
                <a:ea typeface="微软雅黑" panose="020B0503020204020204" charset="-122"/>
                <a:cs typeface="微软雅黑" panose="020B0503020204020204" charset="-122"/>
              </a:defRPr>
            </a:pPr>
            <a:r>
              <a:rPr sz="1125" b="0">
                <a:solidFill>
                  <a:srgbClr val="263431"/>
                </a:solidFill>
                <a:latin typeface="微软雅黑" panose="020B0503020204020204" charset="-122"/>
                <a:ea typeface="微软雅黑" panose="020B0503020204020204" charset="-122"/>
                <a:cs typeface="微软雅黑" panose="020B0503020204020204" charset="-122"/>
              </a:rPr>
              <a:t>确认范围与标准</a:t>
            </a:r>
            <a:endParaRPr sz="11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41" name="直接连接符 40"/>
          <p:cNvSpPr>
            <a:spLocks noGrp="1"/>
          </p:cNvSpPr>
          <p:nvPr/>
        </p:nvSpPr>
        <p:spPr>
          <a:xfrm>
            <a:off x="8572500" y="5334000"/>
            <a:ext cx="2000250" cy="0"/>
          </a:xfrm>
          <a:prstGeom prst="line">
            <a:avLst/>
          </a:prstGeom>
          <a:noFill/>
          <a:ln w="19050">
            <a:solidFill>
              <a:srgbClr val="315363"/>
            </a:solidFill>
            <a:prstDash val="solid"/>
          </a:ln>
        </p:spPr>
      </p:sp>
      <p:sp>
        <p:nvSpPr>
          <p:cNvPr id="42" name="矩形 41"/>
          <p:cNvSpPr>
            <a:spLocks noGrp="1"/>
          </p:cNvSpPr>
          <p:nvPr/>
        </p:nvSpPr>
        <p:spPr>
          <a:xfrm>
            <a:off x="10506075" y="5210175"/>
            <a:ext cx="171450" cy="228600"/>
          </a:xfrm>
          <a:prstGeom prst="rect">
            <a:avLst/>
          </a:prstGeom>
          <a:noFill/>
          <a:ln w="0">
            <a:noFill/>
            <a:prstDash val="solid"/>
          </a:ln>
        </p:spPr>
        <p:txBody>
          <a:bodyPr wrap="square" lIns="0" tIns="0" rIns="0" bIns="0" anchor="t">
            <a:normAutofit fontScale="71429"/>
          </a:bodyPr>
          <a:lstStyle/>
          <a:p>
            <a:pPr algn="ctr">
              <a:lnSpc>
                <a:spcPct val="112000"/>
              </a:lnSpc>
              <a:buNone/>
              <a:defRPr sz="1875" b="1">
                <a:solidFill>
                  <a:srgbClr val="315363"/>
                </a:solidFill>
                <a:latin typeface="微软雅黑" panose="020B0503020204020204" charset="-122"/>
                <a:ea typeface="微软雅黑" panose="020B0503020204020204" charset="-122"/>
                <a:cs typeface="微软雅黑" panose="020B0503020204020204" charset="-122"/>
              </a:defRPr>
            </a:pPr>
            <a:r>
              <a:rPr sz="1875" b="1">
                <a:solidFill>
                  <a:srgbClr val="315363"/>
                </a:solidFill>
                <a:latin typeface="微软雅黑" panose="020B0503020204020204" charset="-122"/>
                <a:ea typeface="微软雅黑" panose="020B0503020204020204" charset="-122"/>
                <a:cs typeface="微软雅黑" panose="020B0503020204020204" charset="-122"/>
              </a:rPr>
              <a:t>›</a:t>
            </a:r>
            <a:endParaRPr sz="1875"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43" name="矩形 42"/>
          <p:cNvSpPr>
            <a:spLocks noGrp="1"/>
          </p:cNvSpPr>
          <p:nvPr/>
        </p:nvSpPr>
        <p:spPr>
          <a:xfrm>
            <a:off x="8705850" y="5076825"/>
            <a:ext cx="1828800" cy="228600"/>
          </a:xfrm>
          <a:prstGeom prst="rect">
            <a:avLst/>
          </a:prstGeom>
          <a:noFill/>
          <a:ln w="0">
            <a:noFill/>
            <a:prstDash val="solid"/>
          </a:ln>
        </p:spPr>
        <p:txBody>
          <a:bodyPr wrap="square" lIns="0" tIns="0" rIns="0" bIns="0" anchor="t">
            <a:normAutofit/>
          </a:bodyPr>
          <a:lstStyle/>
          <a:p>
            <a:pPr algn="ctr">
              <a:lnSpc>
                <a:spcPct val="112000"/>
              </a:lnSpc>
              <a:buNone/>
              <a:defRPr sz="1125" b="0">
                <a:solidFill>
                  <a:srgbClr val="263431"/>
                </a:solidFill>
                <a:latin typeface="微软雅黑" panose="020B0503020204020204" charset="-122"/>
                <a:ea typeface="微软雅黑" panose="020B0503020204020204" charset="-122"/>
                <a:cs typeface="微软雅黑" panose="020B0503020204020204" charset="-122"/>
              </a:defRPr>
            </a:pPr>
            <a:r>
              <a:rPr sz="1125" b="0">
                <a:solidFill>
                  <a:srgbClr val="263431"/>
                </a:solidFill>
                <a:latin typeface="微软雅黑" panose="020B0503020204020204" charset="-122"/>
                <a:ea typeface="微软雅黑" panose="020B0503020204020204" charset="-122"/>
                <a:cs typeface="微软雅黑" panose="020B0503020204020204" charset="-122"/>
              </a:rPr>
              <a:t>写入需求与成果</a:t>
            </a:r>
            <a:endParaRPr sz="11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44" name="矩形 43"/>
          <p:cNvSpPr>
            <a:spLocks noGrp="1"/>
          </p:cNvSpPr>
          <p:nvPr/>
        </p:nvSpPr>
        <p:spPr>
          <a:xfrm>
            <a:off x="762000" y="5810250"/>
            <a:ext cx="10668000" cy="323850"/>
          </a:xfrm>
          <a:prstGeom prst="rect">
            <a:avLst/>
          </a:prstGeom>
          <a:noFill/>
          <a:ln w="0">
            <a:noFill/>
            <a:prstDash val="solid"/>
          </a:ln>
        </p:spPr>
        <p:txBody>
          <a:bodyPr wrap="square" lIns="0" tIns="0" rIns="0" bIns="0" anchor="t">
            <a:normAutofit/>
          </a:bodyPr>
          <a:lstStyle/>
          <a:p>
            <a:pPr algn="ctr">
              <a:lnSpc>
                <a:spcPct val="112000"/>
              </a:lnSpc>
              <a:buNone/>
              <a:defRPr sz="1500" b="1">
                <a:solidFill>
                  <a:srgbClr val="315F55"/>
                </a:solidFill>
                <a:latin typeface="微软雅黑" panose="020B0503020204020204" charset="-122"/>
                <a:ea typeface="微软雅黑" panose="020B0503020204020204" charset="-122"/>
                <a:cs typeface="微软雅黑" panose="020B0503020204020204" charset="-122"/>
              </a:defRPr>
            </a:pPr>
            <a:r>
              <a:rPr sz="1500" b="1">
                <a:solidFill>
                  <a:srgbClr val="315F55"/>
                </a:solidFill>
                <a:latin typeface="微软雅黑" panose="020B0503020204020204" charset="-122"/>
                <a:ea typeface="微软雅黑" panose="020B0503020204020204" charset="-122"/>
                <a:cs typeface="微软雅黑" panose="020B0503020204020204" charset="-122"/>
              </a:rPr>
              <a:t>在线编辑与预览： https://mermaid.live/</a:t>
            </a:r>
            <a:endParaRPr sz="1500" b="1">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3" name="矩形 22"/>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练习</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验证工作环境</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02 环境</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7" name="直接连接符 6"/>
          <p:cNvSpPr>
            <a:spLocks noGrp="1"/>
          </p:cNvSpPr>
          <p:nvPr/>
        </p:nvSpPr>
        <p:spPr>
          <a:xfrm>
            <a:off x="2495550" y="6410325"/>
            <a:ext cx="1028700" cy="0"/>
          </a:xfrm>
          <a:prstGeom prst="line">
            <a:avLst/>
          </a:prstGeom>
          <a:noFill/>
          <a:ln w="38100">
            <a:solidFill>
              <a:srgbClr val="315F55"/>
            </a:solidFill>
            <a:prstDash val="solid"/>
          </a:ln>
        </p:spPr>
      </p:sp>
      <p:sp>
        <p:nvSpPr>
          <p:cNvPr id="8" name="矩形 7"/>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19</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62000" y="1695450"/>
            <a:ext cx="10668000" cy="666750"/>
          </a:xfrm>
          <a:prstGeom prst="rect">
            <a:avLst/>
          </a:prstGeom>
          <a:noFill/>
          <a:ln w="0">
            <a:noFill/>
            <a:prstDash val="solid"/>
          </a:ln>
        </p:spPr>
        <p:txBody>
          <a:bodyPr wrap="square" lIns="0" tIns="0" rIns="0" bIns="0" anchor="ctr">
            <a:normAutofit/>
          </a:bodyPr>
          <a:lstStyle/>
          <a:p>
            <a:pPr algn="l">
              <a:lnSpc>
                <a:spcPct val="112000"/>
              </a:lnSpc>
              <a:buNone/>
              <a:defRPr sz="2250" b="1">
                <a:solidFill>
                  <a:srgbClr val="315F55"/>
                </a:solidFill>
                <a:latin typeface="微软雅黑" panose="020B0503020204020204" charset="-122"/>
                <a:ea typeface="微软雅黑" panose="020B0503020204020204" charset="-122"/>
                <a:cs typeface="微软雅黑" panose="020B0503020204020204" charset="-122"/>
              </a:defRPr>
            </a:pPr>
            <a:r>
              <a:rPr sz="2250" b="1">
                <a:solidFill>
                  <a:srgbClr val="315F55"/>
                </a:solidFill>
                <a:latin typeface="微软雅黑" panose="020B0503020204020204" charset="-122"/>
                <a:ea typeface="微软雅黑" panose="020B0503020204020204" charset="-122"/>
                <a:cs typeface="微软雅黑" panose="020B0503020204020204" charset="-122"/>
              </a:rPr>
              <a:t>在一个新项目文件夹中完成四项检查。</a:t>
            </a:r>
            <a:endParaRPr sz="225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762000" y="2476500"/>
            <a:ext cx="10668000" cy="0"/>
          </a:xfrm>
          <a:prstGeom prst="line">
            <a:avLst/>
          </a:prstGeom>
          <a:noFill/>
          <a:ln w="9525">
            <a:solidFill>
              <a:srgbClr val="E3E8E1"/>
            </a:solidFill>
            <a:prstDash val="solid"/>
          </a:ln>
        </p:spPr>
      </p:sp>
      <p:sp>
        <p:nvSpPr>
          <p:cNvPr id="15" name="矩形 14"/>
          <p:cNvSpPr>
            <a:spLocks noGrp="1"/>
          </p:cNvSpPr>
          <p:nvPr/>
        </p:nvSpPr>
        <p:spPr>
          <a:xfrm>
            <a:off x="7810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材料</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7810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空项目文件夹</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一份测试文档</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4057650" y="2819400"/>
            <a:ext cx="0" cy="2714625"/>
          </a:xfrm>
          <a:prstGeom prst="line">
            <a:avLst/>
          </a:prstGeom>
          <a:noFill/>
          <a:ln w="9525">
            <a:solidFill>
              <a:srgbClr val="C9D0C8"/>
            </a:solidFill>
            <a:prstDash val="solid"/>
          </a:ln>
        </p:spPr>
      </p:sp>
      <p:sp>
        <p:nvSpPr>
          <p:cNvPr id="18" name="矩形 17"/>
          <p:cNvSpPr>
            <a:spLocks noGrp="1"/>
          </p:cNvSpPr>
          <p:nvPr/>
        </p:nvSpPr>
        <p:spPr>
          <a:xfrm>
            <a:off x="43624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成果</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43624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Codex可以读取文件</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VS Code可以打开目录</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Git可以查看状态</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639050" y="2819400"/>
            <a:ext cx="0" cy="2714625"/>
          </a:xfrm>
          <a:prstGeom prst="line">
            <a:avLst/>
          </a:prstGeom>
          <a:noFill/>
          <a:ln w="9525">
            <a:solidFill>
              <a:srgbClr val="C9D0C8"/>
            </a:solidFill>
            <a:prstDash val="solid"/>
          </a:ln>
        </p:spPr>
      </p:sp>
      <p:sp>
        <p:nvSpPr>
          <p:cNvPr id="21" name="矩形 20"/>
          <p:cNvSpPr>
            <a:spLocks noGrp="1"/>
          </p:cNvSpPr>
          <p:nvPr/>
        </p:nvSpPr>
        <p:spPr>
          <a:xfrm>
            <a:off x="79438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A18458"/>
                </a:solidFill>
                <a:latin typeface="微软雅黑" panose="020B0503020204020204" charset="-122"/>
                <a:ea typeface="微软雅黑" panose="020B0503020204020204" charset="-122"/>
                <a:cs typeface="微软雅黑" panose="020B0503020204020204" charset="-122"/>
              </a:defRPr>
            </a:pPr>
            <a:r>
              <a:rPr sz="1500" b="1">
                <a:solidFill>
                  <a:srgbClr val="A18458"/>
                </a:solidFill>
                <a:latin typeface="微软雅黑" panose="020B0503020204020204" charset="-122"/>
                <a:ea typeface="微软雅黑" panose="020B0503020204020204" charset="-122"/>
                <a:cs typeface="微软雅黑" panose="020B0503020204020204" charset="-122"/>
              </a:rPr>
              <a:t>检查</a:t>
            </a:r>
            <a:endParaRPr sz="15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79438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没有修改原始材料</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没有泄露密码或Key</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权限已经恢复</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t="27" b="27"/>
          <a:stretch>
            <a:fillRect/>
          </a:stretch>
        </p:blipFill>
        <p:spPr>
          <a:xfrm>
            <a:off x="0" y="0"/>
            <a:ext cx="12192000" cy="6858000"/>
          </a:xfrm>
          <a:prstGeom prst="rect">
            <a:avLst/>
          </a:prstGeom>
        </p:spPr>
      </p:pic>
      <p:sp>
        <p:nvSpPr>
          <p:cNvPr id="2" name="矩形 1"/>
          <p:cNvSpPr>
            <a:spLocks noGrp="1"/>
          </p:cNvSpPr>
          <p:nvPr/>
        </p:nvSpPr>
        <p:spPr>
          <a:xfrm>
            <a:off x="0" y="0"/>
            <a:ext cx="6667500" cy="6858000"/>
          </a:xfrm>
          <a:prstGeom prst="rect">
            <a:avLst/>
          </a:prstGeom>
          <a:solidFill>
            <a:srgbClr val="F3F0E6"/>
          </a:solidFill>
          <a:ln w="0">
            <a:noFill/>
            <a:prstDash val="solid"/>
          </a:ln>
        </p:spPr>
      </p:sp>
      <p:sp>
        <p:nvSpPr>
          <p:cNvPr id="3" name="矩形 2"/>
          <p:cNvSpPr>
            <a:spLocks noGrp="1"/>
          </p:cNvSpPr>
          <p:nvPr/>
        </p:nvSpPr>
        <p:spPr>
          <a:xfrm>
            <a:off x="647700" y="400050"/>
            <a:ext cx="2190750" cy="1066800"/>
          </a:xfrm>
          <a:prstGeom prst="rect">
            <a:avLst/>
          </a:prstGeom>
          <a:noFill/>
          <a:ln w="0">
            <a:noFill/>
            <a:prstDash val="solid"/>
          </a:ln>
        </p:spPr>
        <p:txBody>
          <a:bodyPr wrap="square" lIns="0" tIns="0" rIns="0" bIns="0" anchor="t">
            <a:normAutofit fontScale="96899"/>
          </a:bodyPr>
          <a:lstStyle/>
          <a:p>
            <a:pPr algn="l">
              <a:lnSpc>
                <a:spcPct val="112000"/>
              </a:lnSpc>
              <a:buNone/>
              <a:defRPr sz="6450" b="0">
                <a:solidFill>
                  <a:srgbClr val="A18458"/>
                </a:solidFill>
                <a:latin typeface="Times New Roman" panose="02020603050405020304"/>
                <a:ea typeface="Times New Roman" panose="02020603050405020304"/>
                <a:cs typeface="Times New Roman" panose="02020603050405020304"/>
              </a:defRPr>
            </a:pPr>
            <a:r>
              <a:rPr sz="6450" b="0">
                <a:solidFill>
                  <a:srgbClr val="A18458"/>
                </a:solidFill>
                <a:latin typeface="Times New Roman" panose="02020603050405020304"/>
                <a:ea typeface="Times New Roman" panose="02020603050405020304"/>
                <a:cs typeface="Times New Roman" panose="02020603050405020304"/>
              </a:rPr>
              <a:t>03</a:t>
            </a:r>
            <a:endParaRPr sz="6450" b="0">
              <a:solidFill>
                <a:srgbClr val="A18458"/>
              </a:solidFill>
              <a:latin typeface="Times New Roman" panose="02020603050405020304"/>
              <a:ea typeface="Times New Roman" panose="02020603050405020304"/>
              <a:cs typeface="Times New Roman" panose="02020603050405020304"/>
            </a:endParaRPr>
          </a:p>
        </p:txBody>
      </p:sp>
      <p:sp>
        <p:nvSpPr>
          <p:cNvPr id="4" name="直接连接符 3"/>
          <p:cNvSpPr>
            <a:spLocks noGrp="1"/>
          </p:cNvSpPr>
          <p:nvPr/>
        </p:nvSpPr>
        <p:spPr>
          <a:xfrm>
            <a:off x="704850" y="1466850"/>
            <a:ext cx="1104900" cy="0"/>
          </a:xfrm>
          <a:prstGeom prst="line">
            <a:avLst/>
          </a:prstGeom>
          <a:noFill/>
          <a:ln w="14288">
            <a:solidFill>
              <a:srgbClr val="A18458"/>
            </a:solidFill>
            <a:prstDash val="solid"/>
          </a:ln>
        </p:spPr>
      </p:sp>
      <p:sp>
        <p:nvSpPr>
          <p:cNvPr id="5" name="矩形 4"/>
          <p:cNvSpPr>
            <a:spLocks noGrp="1"/>
          </p:cNvSpPr>
          <p:nvPr/>
        </p:nvSpPr>
        <p:spPr>
          <a:xfrm>
            <a:off x="685800" y="1790700"/>
            <a:ext cx="5334000" cy="838200"/>
          </a:xfrm>
          <a:prstGeom prst="rect">
            <a:avLst/>
          </a:prstGeom>
          <a:noFill/>
          <a:ln w="0">
            <a:noFill/>
            <a:prstDash val="solid"/>
          </a:ln>
        </p:spPr>
        <p:txBody>
          <a:bodyPr wrap="square" lIns="0" tIns="0" rIns="0" bIns="0" anchor="t">
            <a:normAutofit/>
          </a:bodyPr>
          <a:lstStyle/>
          <a:p>
            <a:pPr algn="l">
              <a:lnSpc>
                <a:spcPct val="112000"/>
              </a:lnSpc>
              <a:buNone/>
              <a:defRPr sz="4050" b="0">
                <a:solidFill>
                  <a:srgbClr val="263431"/>
                </a:solidFill>
                <a:latin typeface="黑体" panose="02010609060101010101" charset="-122"/>
                <a:ea typeface="黑体" panose="02010609060101010101" charset="-122"/>
                <a:cs typeface="黑体" panose="02010609060101010101" charset="-122"/>
              </a:defRPr>
            </a:pPr>
            <a:r>
              <a:rPr sz="4050" b="0">
                <a:solidFill>
                  <a:srgbClr val="263431"/>
                </a:solidFill>
                <a:latin typeface="黑体" panose="02010609060101010101" charset="-122"/>
                <a:ea typeface="黑体" panose="02010609060101010101" charset="-122"/>
                <a:cs typeface="黑体" panose="02010609060101010101" charset="-122"/>
              </a:rPr>
              <a:t>基本概念与配置</a:t>
            </a:r>
            <a:endParaRPr sz="4050" b="0">
              <a:solidFill>
                <a:srgbClr val="263431"/>
              </a:solidFill>
              <a:latin typeface="黑体" panose="02010609060101010101" charset="-122"/>
              <a:ea typeface="黑体" panose="02010609060101010101" charset="-122"/>
              <a:cs typeface="黑体" panose="02010609060101010101" charset="-122"/>
            </a:endParaRPr>
          </a:p>
        </p:txBody>
      </p:sp>
      <p:sp>
        <p:nvSpPr>
          <p:cNvPr id="6" name="矩形 5"/>
          <p:cNvSpPr>
            <a:spLocks noGrp="1"/>
          </p:cNvSpPr>
          <p:nvPr/>
        </p:nvSpPr>
        <p:spPr>
          <a:xfrm>
            <a:off x="781050" y="32575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01  模型与厂商</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81050" y="37147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02  Agent与工具</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81050" y="41719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03  产品名称</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81050" y="46291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04  配置层级</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781050" y="50863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05  AGENTS与Skills</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5800" y="5753100"/>
            <a:ext cx="5334000" cy="38100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本部分成果：看懂常见名称，并知道设置放在哪里</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4" name="矩形 23"/>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几个概念构成一套完整工作环境</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03 概念</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7" name="直接连接符 6"/>
          <p:cNvSpPr>
            <a:spLocks noGrp="1"/>
          </p:cNvSpPr>
          <p:nvPr/>
        </p:nvSpPr>
        <p:spPr>
          <a:xfrm>
            <a:off x="4133850" y="6410325"/>
            <a:ext cx="1028700" cy="0"/>
          </a:xfrm>
          <a:prstGeom prst="line">
            <a:avLst/>
          </a:prstGeom>
          <a:noFill/>
          <a:ln w="38100">
            <a:solidFill>
              <a:srgbClr val="315F55"/>
            </a:solidFill>
            <a:prstDash val="solid"/>
          </a:ln>
        </p:spPr>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21</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2809875" y="3000375"/>
            <a:ext cx="781050" cy="0"/>
          </a:xfrm>
          <a:prstGeom prst="line">
            <a:avLst/>
          </a:prstGeom>
          <a:noFill/>
          <a:ln w="28575">
            <a:solidFill>
              <a:srgbClr val="8FA99C"/>
            </a:solidFill>
            <a:prstDash val="solid"/>
          </a:ln>
        </p:spPr>
      </p:sp>
      <p:sp>
        <p:nvSpPr>
          <p:cNvPr id="13" name="矩形 12"/>
          <p:cNvSpPr>
            <a:spLocks noGrp="1"/>
          </p:cNvSpPr>
          <p:nvPr/>
        </p:nvSpPr>
        <p:spPr>
          <a:xfrm>
            <a:off x="1000125" y="2476500"/>
            <a:ext cx="1809750" cy="381000"/>
          </a:xfrm>
          <a:prstGeom prst="rect">
            <a:avLst/>
          </a:prstGeom>
          <a:noFill/>
          <a:ln w="0">
            <a:noFill/>
            <a:prstDash val="solid"/>
          </a:ln>
        </p:spPr>
        <p:txBody>
          <a:bodyPr wrap="square" lIns="0" tIns="0" rIns="0" bIns="0" anchor="t">
            <a:normAutofit/>
          </a:bodyPr>
          <a:lstStyle/>
          <a:p>
            <a:pPr algn="ctr">
              <a:lnSpc>
                <a:spcPct val="112000"/>
              </a:lnSpc>
              <a:buNone/>
              <a:defRPr sz="2025" b="1">
                <a:solidFill>
                  <a:srgbClr val="315F55"/>
                </a:solidFill>
                <a:latin typeface="微软雅黑" panose="020B0503020204020204" charset="-122"/>
                <a:ea typeface="微软雅黑" panose="020B0503020204020204" charset="-122"/>
                <a:cs typeface="微软雅黑" panose="020B0503020204020204" charset="-122"/>
              </a:defRPr>
            </a:pPr>
            <a:r>
              <a:rPr sz="2025" b="1">
                <a:solidFill>
                  <a:srgbClr val="315F55"/>
                </a:solidFill>
                <a:latin typeface="微软雅黑" panose="020B0503020204020204" charset="-122"/>
                <a:ea typeface="微软雅黑" panose="020B0503020204020204" charset="-122"/>
                <a:cs typeface="微软雅黑" panose="020B0503020204020204" charset="-122"/>
              </a:rPr>
              <a:t>模型</a:t>
            </a:r>
            <a:endParaRPr sz="20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000125" y="3009900"/>
            <a:ext cx="1809750" cy="666750"/>
          </a:xfrm>
          <a:prstGeom prst="rect">
            <a:avLst/>
          </a:prstGeom>
          <a:noFill/>
          <a:ln w="0">
            <a:noFill/>
            <a:prstDash val="solid"/>
          </a:ln>
        </p:spPr>
        <p:txBody>
          <a:bodyPr wrap="square" lIns="0" tIns="0" rIns="0" bIns="0" anchor="t">
            <a:normAutofit/>
          </a:bodyPr>
          <a:lstStyle/>
          <a:p>
            <a:pPr algn="ctr">
              <a:lnSpc>
                <a:spcPct val="112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负责理解和生成</a:t>
            </a:r>
            <a:endParaRPr sz="15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5" name="直接连接符 14"/>
          <p:cNvSpPr>
            <a:spLocks noGrp="1"/>
          </p:cNvSpPr>
          <p:nvPr/>
        </p:nvSpPr>
        <p:spPr>
          <a:xfrm>
            <a:off x="5524500" y="3000375"/>
            <a:ext cx="781050" cy="0"/>
          </a:xfrm>
          <a:prstGeom prst="line">
            <a:avLst/>
          </a:prstGeom>
          <a:noFill/>
          <a:ln w="28575">
            <a:solidFill>
              <a:srgbClr val="8FA99C"/>
            </a:solidFill>
            <a:prstDash val="solid"/>
          </a:ln>
        </p:spPr>
      </p:sp>
      <p:sp>
        <p:nvSpPr>
          <p:cNvPr id="16" name="矩形 15"/>
          <p:cNvSpPr>
            <a:spLocks noGrp="1"/>
          </p:cNvSpPr>
          <p:nvPr/>
        </p:nvSpPr>
        <p:spPr>
          <a:xfrm>
            <a:off x="3714750" y="2476500"/>
            <a:ext cx="1809750" cy="381000"/>
          </a:xfrm>
          <a:prstGeom prst="rect">
            <a:avLst/>
          </a:prstGeom>
          <a:noFill/>
          <a:ln w="0">
            <a:noFill/>
            <a:prstDash val="solid"/>
          </a:ln>
        </p:spPr>
        <p:txBody>
          <a:bodyPr wrap="square" lIns="0" tIns="0" rIns="0" bIns="0" anchor="t">
            <a:normAutofit/>
          </a:bodyPr>
          <a:lstStyle/>
          <a:p>
            <a:pPr algn="ctr">
              <a:lnSpc>
                <a:spcPct val="112000"/>
              </a:lnSpc>
              <a:buNone/>
              <a:defRPr sz="2025" b="1">
                <a:solidFill>
                  <a:srgbClr val="315F55"/>
                </a:solidFill>
                <a:latin typeface="微软雅黑" panose="020B0503020204020204" charset="-122"/>
                <a:ea typeface="微软雅黑" panose="020B0503020204020204" charset="-122"/>
                <a:cs typeface="微软雅黑" panose="020B0503020204020204" charset="-122"/>
              </a:defRPr>
            </a:pPr>
            <a:r>
              <a:rPr sz="2025" b="1">
                <a:solidFill>
                  <a:srgbClr val="315F55"/>
                </a:solidFill>
                <a:latin typeface="微软雅黑" panose="020B0503020204020204" charset="-122"/>
                <a:ea typeface="微软雅黑" panose="020B0503020204020204" charset="-122"/>
                <a:cs typeface="微软雅黑" panose="020B0503020204020204" charset="-122"/>
              </a:rPr>
              <a:t>Codex</a:t>
            </a:r>
            <a:endParaRPr sz="20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3714750" y="3009900"/>
            <a:ext cx="1809750" cy="666750"/>
          </a:xfrm>
          <a:prstGeom prst="rect">
            <a:avLst/>
          </a:prstGeom>
          <a:noFill/>
          <a:ln w="0">
            <a:noFill/>
            <a:prstDash val="solid"/>
          </a:ln>
        </p:spPr>
        <p:txBody>
          <a:bodyPr wrap="square" lIns="0" tIns="0" rIns="0" bIns="0" anchor="t">
            <a:normAutofit/>
          </a:bodyPr>
          <a:lstStyle/>
          <a:p>
            <a:pPr algn="ctr">
              <a:lnSpc>
                <a:spcPct val="112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安排步骤并调用工具</a:t>
            </a:r>
            <a:endParaRPr sz="15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直接连接符 17"/>
          <p:cNvSpPr>
            <a:spLocks noGrp="1"/>
          </p:cNvSpPr>
          <p:nvPr/>
        </p:nvSpPr>
        <p:spPr>
          <a:xfrm>
            <a:off x="8239125" y="3000375"/>
            <a:ext cx="781050" cy="0"/>
          </a:xfrm>
          <a:prstGeom prst="line">
            <a:avLst/>
          </a:prstGeom>
          <a:noFill/>
          <a:ln w="28575">
            <a:solidFill>
              <a:srgbClr val="8FA99C"/>
            </a:solidFill>
            <a:prstDash val="solid"/>
          </a:ln>
        </p:spPr>
      </p:sp>
      <p:sp>
        <p:nvSpPr>
          <p:cNvPr id="19" name="矩形 18"/>
          <p:cNvSpPr>
            <a:spLocks noGrp="1"/>
          </p:cNvSpPr>
          <p:nvPr/>
        </p:nvSpPr>
        <p:spPr>
          <a:xfrm>
            <a:off x="6429375" y="2476500"/>
            <a:ext cx="1809750" cy="381000"/>
          </a:xfrm>
          <a:prstGeom prst="rect">
            <a:avLst/>
          </a:prstGeom>
          <a:noFill/>
          <a:ln w="0">
            <a:noFill/>
            <a:prstDash val="solid"/>
          </a:ln>
        </p:spPr>
        <p:txBody>
          <a:bodyPr wrap="square" lIns="0" tIns="0" rIns="0" bIns="0" anchor="t">
            <a:normAutofit/>
          </a:bodyPr>
          <a:lstStyle/>
          <a:p>
            <a:pPr algn="ctr">
              <a:lnSpc>
                <a:spcPct val="112000"/>
              </a:lnSpc>
              <a:buNone/>
              <a:defRPr sz="2025" b="1">
                <a:solidFill>
                  <a:srgbClr val="315F55"/>
                </a:solidFill>
                <a:latin typeface="微软雅黑" panose="020B0503020204020204" charset="-122"/>
                <a:ea typeface="微软雅黑" panose="020B0503020204020204" charset="-122"/>
                <a:cs typeface="微软雅黑" panose="020B0503020204020204" charset="-122"/>
              </a:defRPr>
            </a:pPr>
            <a:r>
              <a:rPr sz="2025" b="1">
                <a:solidFill>
                  <a:srgbClr val="315F55"/>
                </a:solidFill>
                <a:latin typeface="微软雅黑" panose="020B0503020204020204" charset="-122"/>
                <a:ea typeface="微软雅黑" panose="020B0503020204020204" charset="-122"/>
                <a:cs typeface="微软雅黑" panose="020B0503020204020204" charset="-122"/>
              </a:rPr>
              <a:t>工具</a:t>
            </a:r>
            <a:endParaRPr sz="20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6429375" y="3009900"/>
            <a:ext cx="1809750" cy="666750"/>
          </a:xfrm>
          <a:prstGeom prst="rect">
            <a:avLst/>
          </a:prstGeom>
          <a:noFill/>
          <a:ln w="0">
            <a:noFill/>
            <a:prstDash val="solid"/>
          </a:ln>
        </p:spPr>
        <p:txBody>
          <a:bodyPr wrap="square" lIns="0" tIns="0" rIns="0" bIns="0" anchor="t">
            <a:normAutofit/>
          </a:bodyPr>
          <a:lstStyle/>
          <a:p>
            <a:pPr algn="ctr">
              <a:lnSpc>
                <a:spcPct val="112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读取、修改和执行</a:t>
            </a:r>
            <a:endParaRPr sz="15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9144000" y="2476500"/>
            <a:ext cx="1809750" cy="381000"/>
          </a:xfrm>
          <a:prstGeom prst="rect">
            <a:avLst/>
          </a:prstGeom>
          <a:noFill/>
          <a:ln w="0">
            <a:noFill/>
            <a:prstDash val="solid"/>
          </a:ln>
        </p:spPr>
        <p:txBody>
          <a:bodyPr wrap="square" lIns="0" tIns="0" rIns="0" bIns="0" anchor="t">
            <a:normAutofit/>
          </a:bodyPr>
          <a:lstStyle/>
          <a:p>
            <a:pPr algn="ctr">
              <a:lnSpc>
                <a:spcPct val="112000"/>
              </a:lnSpc>
              <a:buNone/>
              <a:defRPr sz="2025" b="1">
                <a:solidFill>
                  <a:srgbClr val="315F55"/>
                </a:solidFill>
                <a:latin typeface="微软雅黑" panose="020B0503020204020204" charset="-122"/>
                <a:ea typeface="微软雅黑" panose="020B0503020204020204" charset="-122"/>
                <a:cs typeface="微软雅黑" panose="020B0503020204020204" charset="-122"/>
              </a:defRPr>
            </a:pPr>
            <a:r>
              <a:rPr sz="2025" b="1">
                <a:solidFill>
                  <a:srgbClr val="315F55"/>
                </a:solidFill>
                <a:latin typeface="微软雅黑" panose="020B0503020204020204" charset="-122"/>
                <a:ea typeface="微软雅黑" panose="020B0503020204020204" charset="-122"/>
                <a:cs typeface="微软雅黑" panose="020B0503020204020204" charset="-122"/>
              </a:rPr>
              <a:t>文件夹</a:t>
            </a:r>
            <a:endParaRPr sz="20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9144000" y="3009900"/>
            <a:ext cx="1809750" cy="666750"/>
          </a:xfrm>
          <a:prstGeom prst="rect">
            <a:avLst/>
          </a:prstGeom>
          <a:noFill/>
          <a:ln w="0">
            <a:noFill/>
            <a:prstDash val="solid"/>
          </a:ln>
        </p:spPr>
        <p:txBody>
          <a:bodyPr wrap="square" lIns="0" tIns="0" rIns="0" bIns="0" anchor="t">
            <a:normAutofit/>
          </a:bodyPr>
          <a:lstStyle/>
          <a:p>
            <a:pPr algn="ctr">
              <a:lnSpc>
                <a:spcPct val="112000"/>
              </a:lnSpc>
              <a:buNone/>
              <a:defRPr sz="1575" b="0">
                <a:solidFill>
                  <a:srgbClr val="263431"/>
                </a:solidFill>
                <a:latin typeface="微软雅黑" panose="020B0503020204020204" charset="-122"/>
                <a:ea typeface="微软雅黑" panose="020B0503020204020204" charset="-122"/>
                <a:cs typeface="微软雅黑" panose="020B0503020204020204" charset="-122"/>
              </a:defRPr>
            </a:pPr>
            <a:r>
              <a:rPr sz="1575" b="0">
                <a:solidFill>
                  <a:srgbClr val="263431"/>
                </a:solidFill>
                <a:latin typeface="微软雅黑" panose="020B0503020204020204" charset="-122"/>
                <a:ea typeface="微软雅黑" panose="020B0503020204020204" charset="-122"/>
                <a:cs typeface="微软雅黑" panose="020B0503020204020204" charset="-122"/>
              </a:rPr>
              <a:t>保存材料和成果</a:t>
            </a:r>
            <a:endParaRPr sz="15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1524000" y="4762500"/>
            <a:ext cx="9144000" cy="428625"/>
          </a:xfrm>
          <a:prstGeom prst="rect">
            <a:avLst/>
          </a:prstGeom>
          <a:noFill/>
          <a:ln w="0">
            <a:noFill/>
            <a:prstDash val="solid"/>
          </a:ln>
        </p:spPr>
        <p:txBody>
          <a:bodyPr wrap="square" lIns="0" tIns="0" rIns="0" bIns="0" anchor="t">
            <a:normAutofit/>
          </a:bodyPr>
          <a:lstStyle/>
          <a:p>
            <a:pPr algn="ctr">
              <a:lnSpc>
                <a:spcPct val="112000"/>
              </a:lnSpc>
              <a:buNone/>
              <a:defRPr sz="1875" b="1">
                <a:solidFill>
                  <a:srgbClr val="315363"/>
                </a:solidFill>
                <a:latin typeface="微软雅黑" panose="020B0503020204020204" charset="-122"/>
                <a:ea typeface="微软雅黑" panose="020B0503020204020204" charset="-122"/>
                <a:cs typeface="微软雅黑" panose="020B0503020204020204" charset="-122"/>
              </a:defRPr>
            </a:pPr>
            <a:r>
              <a:rPr sz="1875" b="1">
                <a:solidFill>
                  <a:srgbClr val="315363"/>
                </a:solidFill>
                <a:latin typeface="微软雅黑" panose="020B0503020204020204" charset="-122"/>
                <a:ea typeface="微软雅黑" panose="020B0503020204020204" charset="-122"/>
                <a:cs typeface="微软雅黑" panose="020B0503020204020204" charset="-122"/>
              </a:rPr>
              <a:t>权限决定这些工具可以接触哪些文件、命令和网络。</a:t>
            </a:r>
            <a:endParaRPr sz="1875" b="1">
              <a:solidFill>
                <a:srgbClr val="3153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2" name="矩形 2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厂商、模型和Agent工具不是一回事</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03 概念</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7" name="直接连接符 6"/>
          <p:cNvSpPr>
            <a:spLocks noGrp="1"/>
          </p:cNvSpPr>
          <p:nvPr/>
        </p:nvSpPr>
        <p:spPr>
          <a:xfrm>
            <a:off x="4133850" y="6410325"/>
            <a:ext cx="1028700" cy="0"/>
          </a:xfrm>
          <a:prstGeom prst="line">
            <a:avLst/>
          </a:prstGeom>
          <a:noFill/>
          <a:ln w="38100">
            <a:solidFill>
              <a:srgbClr val="315F55"/>
            </a:solidFill>
            <a:prstDash val="solid"/>
          </a:ln>
        </p:spPr>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22</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952500" y="2076450"/>
            <a:ext cx="2952750" cy="419100"/>
          </a:xfrm>
          <a:prstGeom prst="rect">
            <a:avLst/>
          </a:prstGeom>
          <a:noFill/>
          <a:ln w="0">
            <a:noFill/>
            <a:prstDash val="solid"/>
          </a:ln>
        </p:spPr>
        <p:txBody>
          <a:bodyPr wrap="square" lIns="0" tIns="0" rIns="0" bIns="0" anchor="t">
            <a:normAutofit/>
          </a:bodyPr>
          <a:lstStyle/>
          <a:p>
            <a:pPr algn="ctr">
              <a:lnSpc>
                <a:spcPct val="112000"/>
              </a:lnSpc>
              <a:buNone/>
              <a:defRPr sz="1875" b="1">
                <a:solidFill>
                  <a:srgbClr val="315363"/>
                </a:solidFill>
                <a:latin typeface="微软雅黑" panose="020B0503020204020204" charset="-122"/>
                <a:ea typeface="微软雅黑" panose="020B0503020204020204" charset="-122"/>
                <a:cs typeface="微软雅黑" panose="020B0503020204020204" charset="-122"/>
              </a:defRPr>
            </a:pPr>
            <a:r>
              <a:rPr sz="1875" b="1">
                <a:solidFill>
                  <a:srgbClr val="315363"/>
                </a:solidFill>
                <a:latin typeface="微软雅黑" panose="020B0503020204020204" charset="-122"/>
                <a:ea typeface="微软雅黑" panose="020B0503020204020204" charset="-122"/>
                <a:cs typeface="微软雅黑" panose="020B0503020204020204" charset="-122"/>
              </a:rPr>
              <a:t>国际厂商</a:t>
            </a:r>
            <a:endParaRPr sz="1875"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3" name="直接连接符 12"/>
          <p:cNvSpPr>
            <a:spLocks noGrp="1"/>
          </p:cNvSpPr>
          <p:nvPr/>
        </p:nvSpPr>
        <p:spPr>
          <a:xfrm>
            <a:off x="1476375" y="2667000"/>
            <a:ext cx="1905000" cy="0"/>
          </a:xfrm>
          <a:prstGeom prst="line">
            <a:avLst/>
          </a:prstGeom>
          <a:noFill/>
          <a:ln w="19050">
            <a:solidFill>
              <a:srgbClr val="8FA99C"/>
            </a:solidFill>
            <a:prstDash val="solid"/>
          </a:ln>
        </p:spPr>
      </p:sp>
      <p:sp>
        <p:nvSpPr>
          <p:cNvPr id="14" name="矩形 13"/>
          <p:cNvSpPr>
            <a:spLocks noGrp="1"/>
          </p:cNvSpPr>
          <p:nvPr/>
        </p:nvSpPr>
        <p:spPr>
          <a:xfrm>
            <a:off x="952500" y="3028950"/>
            <a:ext cx="2952750" cy="1666875"/>
          </a:xfrm>
          <a:prstGeom prst="rect">
            <a:avLst/>
          </a:prstGeom>
          <a:noFill/>
          <a:ln w="0">
            <a:noFill/>
            <a:prstDash val="solid"/>
          </a:ln>
        </p:spPr>
        <p:txBody>
          <a:bodyPr wrap="square" lIns="0" tIns="0" rIns="0" bIns="0" anchor="t">
            <a:normAutofit/>
          </a:bodyPr>
          <a:lstStyle/>
          <a:p>
            <a:pPr algn="ctr">
              <a:lnSpc>
                <a:spcPct val="13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OpenAI</a:t>
            </a:r>
            <a:endParaRPr sz="2025" b="0">
              <a:solidFill>
                <a:srgbClr val="263431"/>
              </a:solidFill>
              <a:latin typeface="微软雅黑" panose="020B0503020204020204" charset="-122"/>
              <a:ea typeface="微软雅黑" panose="020B0503020204020204" charset="-122"/>
              <a:cs typeface="微软雅黑" panose="020B0503020204020204" charset="-122"/>
            </a:endParaRPr>
          </a:p>
          <a:p>
            <a:pPr algn="ctr">
              <a:lnSpc>
                <a:spcPct val="13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Anthropic</a:t>
            </a:r>
            <a:endParaRPr sz="2025" b="0">
              <a:solidFill>
                <a:srgbClr val="263431"/>
              </a:solidFill>
              <a:latin typeface="微软雅黑" panose="020B0503020204020204" charset="-122"/>
              <a:ea typeface="微软雅黑" panose="020B0503020204020204" charset="-122"/>
              <a:cs typeface="微软雅黑" panose="020B0503020204020204" charset="-122"/>
            </a:endParaRPr>
          </a:p>
          <a:p>
            <a:pPr algn="ctr">
              <a:lnSpc>
                <a:spcPct val="13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Google</a:t>
            </a:r>
            <a:endParaRPr sz="20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4591050" y="2076450"/>
            <a:ext cx="2952750" cy="419100"/>
          </a:xfrm>
          <a:prstGeom prst="rect">
            <a:avLst/>
          </a:prstGeom>
          <a:noFill/>
          <a:ln w="0">
            <a:noFill/>
            <a:prstDash val="solid"/>
          </a:ln>
        </p:spPr>
        <p:txBody>
          <a:bodyPr wrap="square" lIns="0" tIns="0" rIns="0" bIns="0" anchor="t">
            <a:normAutofit/>
          </a:bodyPr>
          <a:lstStyle/>
          <a:p>
            <a:pPr algn="ctr">
              <a:lnSpc>
                <a:spcPct val="112000"/>
              </a:lnSpc>
              <a:buNone/>
              <a:defRPr sz="1875" b="1">
                <a:solidFill>
                  <a:srgbClr val="315F55"/>
                </a:solidFill>
                <a:latin typeface="微软雅黑" panose="020B0503020204020204" charset="-122"/>
                <a:ea typeface="微软雅黑" panose="020B0503020204020204" charset="-122"/>
                <a:cs typeface="微软雅黑" panose="020B0503020204020204" charset="-122"/>
              </a:defRPr>
            </a:pPr>
            <a:r>
              <a:rPr sz="1875" b="1">
                <a:solidFill>
                  <a:srgbClr val="315F55"/>
                </a:solidFill>
                <a:latin typeface="微软雅黑" panose="020B0503020204020204" charset="-122"/>
                <a:ea typeface="微软雅黑" panose="020B0503020204020204" charset="-122"/>
                <a:cs typeface="微软雅黑" panose="020B0503020204020204" charset="-122"/>
              </a:rPr>
              <a:t>国内厂商</a:t>
            </a:r>
            <a:endParaRPr sz="187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5114925" y="2667000"/>
            <a:ext cx="1905000" cy="0"/>
          </a:xfrm>
          <a:prstGeom prst="line">
            <a:avLst/>
          </a:prstGeom>
          <a:noFill/>
          <a:ln w="19050">
            <a:solidFill>
              <a:srgbClr val="8FA99C"/>
            </a:solidFill>
            <a:prstDash val="solid"/>
          </a:ln>
        </p:spPr>
      </p:sp>
      <p:sp>
        <p:nvSpPr>
          <p:cNvPr id="17" name="矩形 16"/>
          <p:cNvSpPr>
            <a:spLocks noGrp="1"/>
          </p:cNvSpPr>
          <p:nvPr/>
        </p:nvSpPr>
        <p:spPr>
          <a:xfrm>
            <a:off x="4591050" y="3028950"/>
            <a:ext cx="2952750" cy="1666875"/>
          </a:xfrm>
          <a:prstGeom prst="rect">
            <a:avLst/>
          </a:prstGeom>
          <a:noFill/>
          <a:ln w="0">
            <a:noFill/>
            <a:prstDash val="solid"/>
          </a:ln>
        </p:spPr>
        <p:txBody>
          <a:bodyPr wrap="square" lIns="0" tIns="0" rIns="0" bIns="0" anchor="t">
            <a:normAutofit/>
          </a:bodyPr>
          <a:lstStyle/>
          <a:p>
            <a:pPr algn="ctr">
              <a:lnSpc>
                <a:spcPct val="13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阿里</a:t>
            </a:r>
            <a:endParaRPr sz="2025" b="0">
              <a:solidFill>
                <a:srgbClr val="263431"/>
              </a:solidFill>
              <a:latin typeface="微软雅黑" panose="020B0503020204020204" charset="-122"/>
              <a:ea typeface="微软雅黑" panose="020B0503020204020204" charset="-122"/>
              <a:cs typeface="微软雅黑" panose="020B0503020204020204" charset="-122"/>
            </a:endParaRPr>
          </a:p>
          <a:p>
            <a:pPr algn="ctr">
              <a:lnSpc>
                <a:spcPct val="13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字节</a:t>
            </a:r>
            <a:endParaRPr sz="2025" b="0">
              <a:solidFill>
                <a:srgbClr val="263431"/>
              </a:solidFill>
              <a:latin typeface="微软雅黑" panose="020B0503020204020204" charset="-122"/>
              <a:ea typeface="微软雅黑" panose="020B0503020204020204" charset="-122"/>
              <a:cs typeface="微软雅黑" panose="020B0503020204020204" charset="-122"/>
            </a:endParaRPr>
          </a:p>
          <a:p>
            <a:pPr algn="ctr">
              <a:lnSpc>
                <a:spcPct val="13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腾讯</a:t>
            </a:r>
            <a:endParaRPr sz="20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8229600" y="2076450"/>
            <a:ext cx="2952750" cy="419100"/>
          </a:xfrm>
          <a:prstGeom prst="rect">
            <a:avLst/>
          </a:prstGeom>
          <a:noFill/>
          <a:ln w="0">
            <a:noFill/>
            <a:prstDash val="solid"/>
          </a:ln>
        </p:spPr>
        <p:txBody>
          <a:bodyPr wrap="square" lIns="0" tIns="0" rIns="0" bIns="0" anchor="t">
            <a:normAutofit/>
          </a:bodyPr>
          <a:lstStyle/>
          <a:p>
            <a:pPr algn="ctr">
              <a:lnSpc>
                <a:spcPct val="112000"/>
              </a:lnSpc>
              <a:buNone/>
              <a:defRPr sz="1875" b="1">
                <a:solidFill>
                  <a:srgbClr val="315363"/>
                </a:solidFill>
                <a:latin typeface="微软雅黑" panose="020B0503020204020204" charset="-122"/>
                <a:ea typeface="微软雅黑" panose="020B0503020204020204" charset="-122"/>
                <a:cs typeface="微软雅黑" panose="020B0503020204020204" charset="-122"/>
              </a:defRPr>
            </a:pPr>
            <a:r>
              <a:rPr sz="1875" b="1">
                <a:solidFill>
                  <a:srgbClr val="315363"/>
                </a:solidFill>
                <a:latin typeface="微软雅黑" panose="020B0503020204020204" charset="-122"/>
                <a:ea typeface="微软雅黑" panose="020B0503020204020204" charset="-122"/>
                <a:cs typeface="微软雅黑" panose="020B0503020204020204" charset="-122"/>
              </a:rPr>
              <a:t>其他代表</a:t>
            </a:r>
            <a:endParaRPr sz="1875"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9" name="直接连接符 18"/>
          <p:cNvSpPr>
            <a:spLocks noGrp="1"/>
          </p:cNvSpPr>
          <p:nvPr/>
        </p:nvSpPr>
        <p:spPr>
          <a:xfrm>
            <a:off x="8753475" y="2667000"/>
            <a:ext cx="1905000" cy="0"/>
          </a:xfrm>
          <a:prstGeom prst="line">
            <a:avLst/>
          </a:prstGeom>
          <a:noFill/>
          <a:ln w="19050">
            <a:solidFill>
              <a:srgbClr val="8FA99C"/>
            </a:solidFill>
            <a:prstDash val="solid"/>
          </a:ln>
        </p:spPr>
      </p:sp>
      <p:sp>
        <p:nvSpPr>
          <p:cNvPr id="20" name="矩形 19"/>
          <p:cNvSpPr>
            <a:spLocks noGrp="1"/>
          </p:cNvSpPr>
          <p:nvPr/>
        </p:nvSpPr>
        <p:spPr>
          <a:xfrm>
            <a:off x="8229600" y="3028950"/>
            <a:ext cx="2952750" cy="1666875"/>
          </a:xfrm>
          <a:prstGeom prst="rect">
            <a:avLst/>
          </a:prstGeom>
          <a:noFill/>
          <a:ln w="0">
            <a:noFill/>
            <a:prstDash val="solid"/>
          </a:ln>
        </p:spPr>
        <p:txBody>
          <a:bodyPr wrap="square" lIns="0" tIns="0" rIns="0" bIns="0" anchor="t">
            <a:normAutofit/>
          </a:bodyPr>
          <a:lstStyle/>
          <a:p>
            <a:pPr algn="ctr">
              <a:lnSpc>
                <a:spcPct val="13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DeepSeek</a:t>
            </a:r>
            <a:endParaRPr sz="2025" b="0">
              <a:solidFill>
                <a:srgbClr val="263431"/>
              </a:solidFill>
              <a:latin typeface="微软雅黑" panose="020B0503020204020204" charset="-122"/>
              <a:ea typeface="微软雅黑" panose="020B0503020204020204" charset="-122"/>
              <a:cs typeface="微软雅黑" panose="020B0503020204020204" charset="-122"/>
            </a:endParaRPr>
          </a:p>
          <a:p>
            <a:pPr algn="ctr">
              <a:lnSpc>
                <a:spcPct val="13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百度 · 华为</a:t>
            </a:r>
            <a:endParaRPr sz="2025" b="0">
              <a:solidFill>
                <a:srgbClr val="263431"/>
              </a:solidFill>
              <a:latin typeface="微软雅黑" panose="020B0503020204020204" charset="-122"/>
              <a:ea typeface="微软雅黑" panose="020B0503020204020204" charset="-122"/>
              <a:cs typeface="微软雅黑" panose="020B0503020204020204" charset="-122"/>
            </a:endParaRPr>
          </a:p>
          <a:p>
            <a:pPr algn="ctr">
              <a:lnSpc>
                <a:spcPct val="13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智谱 · MiniMax</a:t>
            </a:r>
            <a:endParaRPr sz="20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1619250" y="5381625"/>
            <a:ext cx="8953500" cy="361950"/>
          </a:xfrm>
          <a:prstGeom prst="rect">
            <a:avLst/>
          </a:prstGeom>
          <a:noFill/>
          <a:ln w="0">
            <a:noFill/>
            <a:prstDash val="solid"/>
          </a:ln>
        </p:spPr>
        <p:txBody>
          <a:bodyPr wrap="square" lIns="0" tIns="0" rIns="0" bIns="0" anchor="t">
            <a:normAutofit/>
          </a:bodyPr>
          <a:lstStyle/>
          <a:p>
            <a:pPr algn="ctr">
              <a:lnSpc>
                <a:spcPct val="112000"/>
              </a:lnSpc>
              <a:buNone/>
              <a:defRPr sz="1575" b="0">
                <a:solidFill>
                  <a:srgbClr val="68756F"/>
                </a:solidFill>
                <a:latin typeface="微软雅黑" panose="020B0503020204020204" charset="-122"/>
                <a:ea typeface="微软雅黑" panose="020B0503020204020204" charset="-122"/>
                <a:cs typeface="微软雅黑" panose="020B0503020204020204" charset="-122"/>
              </a:defRPr>
            </a:pPr>
            <a:r>
              <a:rPr sz="1575" b="0">
                <a:solidFill>
                  <a:srgbClr val="68756F"/>
                </a:solidFill>
                <a:latin typeface="微软雅黑" panose="020B0503020204020204" charset="-122"/>
                <a:ea typeface="微软雅黑" panose="020B0503020204020204" charset="-122"/>
                <a:cs typeface="微软雅黑" panose="020B0503020204020204" charset="-122"/>
              </a:rPr>
              <a:t>这里按代表性生态介绍，不作市场排名。</a:t>
            </a:r>
            <a:endParaRPr sz="1575" b="0">
              <a:solidFill>
                <a:srgbClr val="68756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30" name="矩形 29"/>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一串产品名称可以逐层拆开</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03 概念</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7" name="直接连接符 6"/>
          <p:cNvSpPr>
            <a:spLocks noGrp="1"/>
          </p:cNvSpPr>
          <p:nvPr/>
        </p:nvSpPr>
        <p:spPr>
          <a:xfrm>
            <a:off x="4133850" y="6410325"/>
            <a:ext cx="1028700" cy="0"/>
          </a:xfrm>
          <a:prstGeom prst="line">
            <a:avLst/>
          </a:prstGeom>
          <a:noFill/>
          <a:ln w="38100">
            <a:solidFill>
              <a:srgbClr val="315F55"/>
            </a:solidFill>
            <a:prstDash val="solid"/>
          </a:ln>
        </p:spPr>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23</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714375" y="2438400"/>
            <a:ext cx="1619250" cy="4572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OpenAI</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14375" y="3124200"/>
            <a:ext cx="1619250" cy="304800"/>
          </a:xfrm>
          <a:prstGeom prst="rect">
            <a:avLst/>
          </a:prstGeom>
          <a:noFill/>
          <a:ln w="0">
            <a:noFill/>
            <a:prstDash val="solid"/>
          </a:ln>
        </p:spPr>
        <p:txBody>
          <a:bodyPr wrap="square" lIns="0" tIns="0" rIns="0" bIns="0" anchor="t">
            <a:normAutofit/>
          </a:bodyPr>
          <a:lstStyle/>
          <a:p>
            <a:pPr algn="ctr">
              <a:lnSpc>
                <a:spcPct val="112000"/>
              </a:lnSpc>
              <a:buNone/>
              <a:defRPr sz="1350" b="0">
                <a:solidFill>
                  <a:srgbClr val="68756F"/>
                </a:solidFill>
                <a:latin typeface="微软雅黑" panose="020B0503020204020204" charset="-122"/>
                <a:ea typeface="微软雅黑" panose="020B0503020204020204" charset="-122"/>
                <a:cs typeface="微软雅黑" panose="020B0503020204020204" charset="-122"/>
              </a:defRPr>
            </a:pPr>
            <a:r>
              <a:rPr sz="1350" b="0">
                <a:solidFill>
                  <a:srgbClr val="68756F"/>
                </a:solidFill>
                <a:latin typeface="微软雅黑" panose="020B0503020204020204" charset="-122"/>
                <a:ea typeface="微软雅黑" panose="020B0503020204020204" charset="-122"/>
                <a:cs typeface="微软雅黑" panose="020B0503020204020204" charset="-122"/>
              </a:rPr>
              <a:t>厂商</a:t>
            </a:r>
            <a:endParaRPr sz="135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2295525" y="2543175"/>
            <a:ext cx="228600" cy="304800"/>
          </a:xfrm>
          <a:prstGeom prst="rect">
            <a:avLst/>
          </a:prstGeom>
          <a:noFill/>
          <a:ln w="0">
            <a:noFill/>
            <a:prstDash val="solid"/>
          </a:ln>
        </p:spPr>
        <p:txBody>
          <a:bodyPr wrap="square" lIns="0" tIns="0" rIns="0" bIns="0" anchor="t">
            <a:normAutofit fontScale="99206"/>
          </a:bodyPr>
          <a:lstStyle/>
          <a:p>
            <a:pPr algn="ctr">
              <a:lnSpc>
                <a:spcPct val="112000"/>
              </a:lnSpc>
              <a:buNone/>
              <a:defRPr sz="1800" b="0">
                <a:solidFill>
                  <a:srgbClr val="A18458"/>
                </a:solidFill>
                <a:latin typeface="微软雅黑" panose="020B0503020204020204" charset="-122"/>
                <a:ea typeface="微软雅黑" panose="020B0503020204020204" charset="-122"/>
                <a:cs typeface="微软雅黑" panose="020B0503020204020204" charset="-122"/>
              </a:defRPr>
            </a:pPr>
            <a:r>
              <a:rPr sz="1800" b="0">
                <a:solidFill>
                  <a:srgbClr val="A18458"/>
                </a:solidFill>
                <a:latin typeface="微软雅黑" panose="020B0503020204020204" charset="-122"/>
                <a:ea typeface="微软雅黑" panose="020B0503020204020204" charset="-122"/>
                <a:cs typeface="微软雅黑" panose="020B0503020204020204" charset="-122"/>
              </a:rPr>
              <a:t>/</a:t>
            </a:r>
            <a:endParaRPr sz="1800" b="0">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2524125" y="2438400"/>
            <a:ext cx="1619250" cy="4572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GPT-5.6</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2524125" y="3124200"/>
            <a:ext cx="1619250" cy="304800"/>
          </a:xfrm>
          <a:prstGeom prst="rect">
            <a:avLst/>
          </a:prstGeom>
          <a:noFill/>
          <a:ln w="0">
            <a:noFill/>
            <a:prstDash val="solid"/>
          </a:ln>
        </p:spPr>
        <p:txBody>
          <a:bodyPr wrap="square" lIns="0" tIns="0" rIns="0" bIns="0" anchor="t">
            <a:normAutofit/>
          </a:bodyPr>
          <a:lstStyle/>
          <a:p>
            <a:pPr algn="ctr">
              <a:lnSpc>
                <a:spcPct val="112000"/>
              </a:lnSpc>
              <a:buNone/>
              <a:defRPr sz="1350" b="0">
                <a:solidFill>
                  <a:srgbClr val="68756F"/>
                </a:solidFill>
                <a:latin typeface="微软雅黑" panose="020B0503020204020204" charset="-122"/>
                <a:ea typeface="微软雅黑" panose="020B0503020204020204" charset="-122"/>
                <a:cs typeface="微软雅黑" panose="020B0503020204020204" charset="-122"/>
              </a:defRPr>
            </a:pPr>
            <a:r>
              <a:rPr sz="1350" b="0">
                <a:solidFill>
                  <a:srgbClr val="68756F"/>
                </a:solidFill>
                <a:latin typeface="微软雅黑" panose="020B0503020204020204" charset="-122"/>
                <a:ea typeface="微软雅黑" panose="020B0503020204020204" charset="-122"/>
                <a:cs typeface="微软雅黑" panose="020B0503020204020204" charset="-122"/>
              </a:rPr>
              <a:t>模型</a:t>
            </a:r>
            <a:endParaRPr sz="135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4105275" y="2543175"/>
            <a:ext cx="228600" cy="304800"/>
          </a:xfrm>
          <a:prstGeom prst="rect">
            <a:avLst/>
          </a:prstGeom>
          <a:noFill/>
          <a:ln w="0">
            <a:noFill/>
            <a:prstDash val="solid"/>
          </a:ln>
        </p:spPr>
        <p:txBody>
          <a:bodyPr wrap="square" lIns="0" tIns="0" rIns="0" bIns="0" anchor="t">
            <a:normAutofit fontScale="99206"/>
          </a:bodyPr>
          <a:lstStyle/>
          <a:p>
            <a:pPr algn="ctr">
              <a:lnSpc>
                <a:spcPct val="112000"/>
              </a:lnSpc>
              <a:buNone/>
              <a:defRPr sz="1800" b="0">
                <a:solidFill>
                  <a:srgbClr val="A18458"/>
                </a:solidFill>
                <a:latin typeface="微软雅黑" panose="020B0503020204020204" charset="-122"/>
                <a:ea typeface="微软雅黑" panose="020B0503020204020204" charset="-122"/>
                <a:cs typeface="微软雅黑" panose="020B0503020204020204" charset="-122"/>
              </a:defRPr>
            </a:pPr>
            <a:r>
              <a:rPr sz="1800" b="0">
                <a:solidFill>
                  <a:srgbClr val="A18458"/>
                </a:solidFill>
                <a:latin typeface="微软雅黑" panose="020B0503020204020204" charset="-122"/>
                <a:ea typeface="微软雅黑" panose="020B0503020204020204" charset="-122"/>
                <a:cs typeface="微软雅黑" panose="020B0503020204020204" charset="-122"/>
              </a:rPr>
              <a:t>/</a:t>
            </a:r>
            <a:endParaRPr sz="1800" b="0">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4333875" y="2438400"/>
            <a:ext cx="1619250" cy="4572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Sol</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4333875" y="3124200"/>
            <a:ext cx="1619250" cy="304800"/>
          </a:xfrm>
          <a:prstGeom prst="rect">
            <a:avLst/>
          </a:prstGeom>
          <a:noFill/>
          <a:ln w="0">
            <a:noFill/>
            <a:prstDash val="solid"/>
          </a:ln>
        </p:spPr>
        <p:txBody>
          <a:bodyPr wrap="square" lIns="0" tIns="0" rIns="0" bIns="0" anchor="t">
            <a:normAutofit/>
          </a:bodyPr>
          <a:lstStyle/>
          <a:p>
            <a:pPr algn="ctr">
              <a:lnSpc>
                <a:spcPct val="112000"/>
              </a:lnSpc>
              <a:buNone/>
              <a:defRPr sz="1350" b="0">
                <a:solidFill>
                  <a:srgbClr val="68756F"/>
                </a:solidFill>
                <a:latin typeface="微软雅黑" panose="020B0503020204020204" charset="-122"/>
                <a:ea typeface="微软雅黑" panose="020B0503020204020204" charset="-122"/>
                <a:cs typeface="微软雅黑" panose="020B0503020204020204" charset="-122"/>
              </a:defRPr>
            </a:pPr>
            <a:r>
              <a:rPr sz="1350" b="0">
                <a:solidFill>
                  <a:srgbClr val="68756F"/>
                </a:solidFill>
                <a:latin typeface="微软雅黑" panose="020B0503020204020204" charset="-122"/>
                <a:ea typeface="微软雅黑" panose="020B0503020204020204" charset="-122"/>
                <a:cs typeface="微软雅黑" panose="020B0503020204020204" charset="-122"/>
              </a:rPr>
              <a:t>变体</a:t>
            </a:r>
            <a:endParaRPr sz="135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5915025" y="2543175"/>
            <a:ext cx="228600" cy="304800"/>
          </a:xfrm>
          <a:prstGeom prst="rect">
            <a:avLst/>
          </a:prstGeom>
          <a:noFill/>
          <a:ln w="0">
            <a:noFill/>
            <a:prstDash val="solid"/>
          </a:ln>
        </p:spPr>
        <p:txBody>
          <a:bodyPr wrap="square" lIns="0" tIns="0" rIns="0" bIns="0" anchor="t">
            <a:normAutofit fontScale="99206"/>
          </a:bodyPr>
          <a:lstStyle/>
          <a:p>
            <a:pPr algn="ctr">
              <a:lnSpc>
                <a:spcPct val="112000"/>
              </a:lnSpc>
              <a:buNone/>
              <a:defRPr sz="1800" b="0">
                <a:solidFill>
                  <a:srgbClr val="A18458"/>
                </a:solidFill>
                <a:latin typeface="微软雅黑" panose="020B0503020204020204" charset="-122"/>
                <a:ea typeface="微软雅黑" panose="020B0503020204020204" charset="-122"/>
                <a:cs typeface="微软雅黑" panose="020B0503020204020204" charset="-122"/>
              </a:defRPr>
            </a:pPr>
            <a:r>
              <a:rPr sz="1800" b="0">
                <a:solidFill>
                  <a:srgbClr val="A18458"/>
                </a:solidFill>
                <a:latin typeface="微软雅黑" panose="020B0503020204020204" charset="-122"/>
                <a:ea typeface="微软雅黑" panose="020B0503020204020204" charset="-122"/>
                <a:cs typeface="微软雅黑" panose="020B0503020204020204" charset="-122"/>
              </a:rPr>
              <a:t>/</a:t>
            </a:r>
            <a:endParaRPr sz="1800" b="0">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6143625" y="2438400"/>
            <a:ext cx="1619250" cy="4572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high</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6143625" y="3124200"/>
            <a:ext cx="1619250" cy="304800"/>
          </a:xfrm>
          <a:prstGeom prst="rect">
            <a:avLst/>
          </a:prstGeom>
          <a:noFill/>
          <a:ln w="0">
            <a:noFill/>
            <a:prstDash val="solid"/>
          </a:ln>
        </p:spPr>
        <p:txBody>
          <a:bodyPr wrap="square" lIns="0" tIns="0" rIns="0" bIns="0" anchor="t">
            <a:normAutofit/>
          </a:bodyPr>
          <a:lstStyle/>
          <a:p>
            <a:pPr algn="ctr">
              <a:lnSpc>
                <a:spcPct val="112000"/>
              </a:lnSpc>
              <a:buNone/>
              <a:defRPr sz="1350" b="0">
                <a:solidFill>
                  <a:srgbClr val="68756F"/>
                </a:solidFill>
                <a:latin typeface="微软雅黑" panose="020B0503020204020204" charset="-122"/>
                <a:ea typeface="微软雅黑" panose="020B0503020204020204" charset="-122"/>
                <a:cs typeface="微软雅黑" panose="020B0503020204020204" charset="-122"/>
              </a:defRPr>
            </a:pPr>
            <a:r>
              <a:rPr sz="1350" b="0">
                <a:solidFill>
                  <a:srgbClr val="68756F"/>
                </a:solidFill>
                <a:latin typeface="微软雅黑" panose="020B0503020204020204" charset="-122"/>
                <a:ea typeface="微软雅黑" panose="020B0503020204020204" charset="-122"/>
                <a:cs typeface="微软雅黑" panose="020B0503020204020204" charset="-122"/>
              </a:rPr>
              <a:t>推理强度</a:t>
            </a:r>
            <a:endParaRPr sz="135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7724775" y="2543175"/>
            <a:ext cx="228600" cy="304800"/>
          </a:xfrm>
          <a:prstGeom prst="rect">
            <a:avLst/>
          </a:prstGeom>
          <a:noFill/>
          <a:ln w="0">
            <a:noFill/>
            <a:prstDash val="solid"/>
          </a:ln>
        </p:spPr>
        <p:txBody>
          <a:bodyPr wrap="square" lIns="0" tIns="0" rIns="0" bIns="0" anchor="t">
            <a:normAutofit fontScale="99206"/>
          </a:bodyPr>
          <a:lstStyle/>
          <a:p>
            <a:pPr algn="ctr">
              <a:lnSpc>
                <a:spcPct val="112000"/>
              </a:lnSpc>
              <a:buNone/>
              <a:defRPr sz="1800" b="0">
                <a:solidFill>
                  <a:srgbClr val="A18458"/>
                </a:solidFill>
                <a:latin typeface="微软雅黑" panose="020B0503020204020204" charset="-122"/>
                <a:ea typeface="微软雅黑" panose="020B0503020204020204" charset="-122"/>
                <a:cs typeface="微软雅黑" panose="020B0503020204020204" charset="-122"/>
              </a:defRPr>
            </a:pPr>
            <a:r>
              <a:rPr sz="1800" b="0">
                <a:solidFill>
                  <a:srgbClr val="A18458"/>
                </a:solidFill>
                <a:latin typeface="微软雅黑" panose="020B0503020204020204" charset="-122"/>
                <a:ea typeface="微软雅黑" panose="020B0503020204020204" charset="-122"/>
                <a:cs typeface="微软雅黑" panose="020B0503020204020204" charset="-122"/>
              </a:rPr>
              <a:t>/</a:t>
            </a:r>
            <a:endParaRPr sz="1800" b="0">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7953375" y="2438400"/>
            <a:ext cx="1619250" cy="4572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Codex</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5" name="矩形 24"/>
          <p:cNvSpPr>
            <a:spLocks noGrp="1"/>
          </p:cNvSpPr>
          <p:nvPr/>
        </p:nvSpPr>
        <p:spPr>
          <a:xfrm>
            <a:off x="7953375" y="3124200"/>
            <a:ext cx="1619250" cy="304800"/>
          </a:xfrm>
          <a:prstGeom prst="rect">
            <a:avLst/>
          </a:prstGeom>
          <a:noFill/>
          <a:ln w="0">
            <a:noFill/>
            <a:prstDash val="solid"/>
          </a:ln>
        </p:spPr>
        <p:txBody>
          <a:bodyPr wrap="square" lIns="0" tIns="0" rIns="0" bIns="0" anchor="t">
            <a:normAutofit/>
          </a:bodyPr>
          <a:lstStyle/>
          <a:p>
            <a:pPr algn="ctr">
              <a:lnSpc>
                <a:spcPct val="112000"/>
              </a:lnSpc>
              <a:buNone/>
              <a:defRPr sz="1350" b="0">
                <a:solidFill>
                  <a:srgbClr val="68756F"/>
                </a:solidFill>
                <a:latin typeface="微软雅黑" panose="020B0503020204020204" charset="-122"/>
                <a:ea typeface="微软雅黑" panose="020B0503020204020204" charset="-122"/>
                <a:cs typeface="微软雅黑" panose="020B0503020204020204" charset="-122"/>
              </a:defRPr>
            </a:pPr>
            <a:r>
              <a:rPr sz="1350" b="0">
                <a:solidFill>
                  <a:srgbClr val="68756F"/>
                </a:solidFill>
                <a:latin typeface="微软雅黑" panose="020B0503020204020204" charset="-122"/>
                <a:ea typeface="微软雅黑" panose="020B0503020204020204" charset="-122"/>
                <a:cs typeface="微软雅黑" panose="020B0503020204020204" charset="-122"/>
              </a:rPr>
              <a:t>Agent工具</a:t>
            </a:r>
            <a:endParaRPr sz="135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nvSpPr>
        <p:spPr>
          <a:xfrm>
            <a:off x="9534525" y="2543175"/>
            <a:ext cx="228600" cy="304800"/>
          </a:xfrm>
          <a:prstGeom prst="rect">
            <a:avLst/>
          </a:prstGeom>
          <a:noFill/>
          <a:ln w="0">
            <a:noFill/>
            <a:prstDash val="solid"/>
          </a:ln>
        </p:spPr>
        <p:txBody>
          <a:bodyPr wrap="square" lIns="0" tIns="0" rIns="0" bIns="0" anchor="t">
            <a:normAutofit fontScale="99206"/>
          </a:bodyPr>
          <a:lstStyle/>
          <a:p>
            <a:pPr algn="ctr">
              <a:lnSpc>
                <a:spcPct val="112000"/>
              </a:lnSpc>
              <a:buNone/>
              <a:defRPr sz="1800" b="0">
                <a:solidFill>
                  <a:srgbClr val="A18458"/>
                </a:solidFill>
                <a:latin typeface="微软雅黑" panose="020B0503020204020204" charset="-122"/>
                <a:ea typeface="微软雅黑" panose="020B0503020204020204" charset="-122"/>
                <a:cs typeface="微软雅黑" panose="020B0503020204020204" charset="-122"/>
              </a:defRPr>
            </a:pPr>
            <a:r>
              <a:rPr sz="1800" b="0">
                <a:solidFill>
                  <a:srgbClr val="A18458"/>
                </a:solidFill>
                <a:latin typeface="微软雅黑" panose="020B0503020204020204" charset="-122"/>
                <a:ea typeface="微软雅黑" panose="020B0503020204020204" charset="-122"/>
                <a:cs typeface="微软雅黑" panose="020B0503020204020204" charset="-122"/>
              </a:rPr>
              <a:t>/</a:t>
            </a:r>
            <a:endParaRPr sz="1800" b="0">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9763125" y="2438400"/>
            <a:ext cx="1619250" cy="4572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当前文件夹</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9763125" y="3124200"/>
            <a:ext cx="1619250" cy="304800"/>
          </a:xfrm>
          <a:prstGeom prst="rect">
            <a:avLst/>
          </a:prstGeom>
          <a:noFill/>
          <a:ln w="0">
            <a:noFill/>
            <a:prstDash val="solid"/>
          </a:ln>
        </p:spPr>
        <p:txBody>
          <a:bodyPr wrap="square" lIns="0" tIns="0" rIns="0" bIns="0" anchor="t">
            <a:normAutofit/>
          </a:bodyPr>
          <a:lstStyle/>
          <a:p>
            <a:pPr algn="ctr">
              <a:lnSpc>
                <a:spcPct val="112000"/>
              </a:lnSpc>
              <a:buNone/>
              <a:defRPr sz="1350" b="0">
                <a:solidFill>
                  <a:srgbClr val="68756F"/>
                </a:solidFill>
                <a:latin typeface="微软雅黑" panose="020B0503020204020204" charset="-122"/>
                <a:ea typeface="微软雅黑" panose="020B0503020204020204" charset="-122"/>
                <a:cs typeface="微软雅黑" panose="020B0503020204020204" charset="-122"/>
              </a:defRPr>
            </a:pPr>
            <a:r>
              <a:rPr sz="1350" b="0">
                <a:solidFill>
                  <a:srgbClr val="68756F"/>
                </a:solidFill>
                <a:latin typeface="微软雅黑" panose="020B0503020204020204" charset="-122"/>
                <a:ea typeface="微软雅黑" panose="020B0503020204020204" charset="-122"/>
                <a:cs typeface="微软雅黑" panose="020B0503020204020204" charset="-122"/>
              </a:rPr>
              <a:t>工作范围</a:t>
            </a:r>
            <a:endParaRPr sz="135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1619250" y="4572000"/>
            <a:ext cx="8953500" cy="419100"/>
          </a:xfrm>
          <a:prstGeom prst="rect">
            <a:avLst/>
          </a:prstGeom>
          <a:noFill/>
          <a:ln w="0">
            <a:noFill/>
            <a:prstDash val="solid"/>
          </a:ln>
        </p:spPr>
        <p:txBody>
          <a:bodyPr wrap="square" lIns="0" tIns="0" rIns="0" bIns="0" anchor="t">
            <a:normAutofit/>
          </a:bodyPr>
          <a:lstStyle/>
          <a:p>
            <a:pPr algn="ctr">
              <a:lnSpc>
                <a:spcPct val="112000"/>
              </a:lnSpc>
              <a:buNone/>
              <a:defRPr sz="1875" b="0">
                <a:solidFill>
                  <a:srgbClr val="315F55"/>
                </a:solidFill>
                <a:latin typeface="微软雅黑" panose="020B0503020204020204" charset="-122"/>
                <a:ea typeface="微软雅黑" panose="020B0503020204020204" charset="-122"/>
                <a:cs typeface="微软雅黑" panose="020B0503020204020204" charset="-122"/>
              </a:defRPr>
            </a:pPr>
            <a:r>
              <a:rPr sz="1875" b="0">
                <a:solidFill>
                  <a:srgbClr val="315F55"/>
                </a:solidFill>
                <a:latin typeface="微软雅黑" panose="020B0503020204020204" charset="-122"/>
                <a:ea typeface="微软雅黑" panose="020B0503020204020204" charset="-122"/>
                <a:cs typeface="微软雅黑" panose="020B0503020204020204" charset="-122"/>
              </a:rPr>
              <a:t>名称会变化，拆解方法可以长期使用。</a:t>
            </a:r>
            <a:endParaRPr sz="1875" b="0">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7" name="矩形 16"/>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订阅、API和本地软件分别管理</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03 概念</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7" name="直接连接符 6"/>
          <p:cNvSpPr>
            <a:spLocks noGrp="1"/>
          </p:cNvSpPr>
          <p:nvPr/>
        </p:nvSpPr>
        <p:spPr>
          <a:xfrm>
            <a:off x="4133850" y="6410325"/>
            <a:ext cx="1028700" cy="0"/>
          </a:xfrm>
          <a:prstGeom prst="line">
            <a:avLst/>
          </a:prstGeom>
          <a:noFill/>
          <a:ln w="38100">
            <a:solidFill>
              <a:srgbClr val="315F55"/>
            </a:solidFill>
            <a:prstDash val="solid"/>
          </a:ln>
        </p:spPr>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24</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6096000" y="1838325"/>
            <a:ext cx="0" cy="3857625"/>
          </a:xfrm>
          <a:prstGeom prst="line">
            <a:avLst/>
          </a:prstGeom>
          <a:noFill/>
          <a:ln w="9525">
            <a:solidFill>
              <a:srgbClr val="C9D0C8"/>
            </a:solidFill>
            <a:prstDash val="solid"/>
          </a:ln>
        </p:spPr>
      </p:sp>
      <p:sp>
        <p:nvSpPr>
          <p:cNvPr id="13" name="矩形 12"/>
          <p:cNvSpPr>
            <a:spLocks noGrp="1"/>
          </p:cNvSpPr>
          <p:nvPr/>
        </p:nvSpPr>
        <p:spPr>
          <a:xfrm>
            <a:off x="8001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账户和费用</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6294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本地环境</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001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ChatGPT订阅</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OpenAI API账户</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DeepSeek Platform账户</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66294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ChatGPT网页版与Codex CLI</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VS Code及扩展</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项目文件夹和本地配置</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1" name="矩形 20"/>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配置分为个人、项目和当前任务</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03 概念</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7" name="直接连接符 6"/>
          <p:cNvSpPr>
            <a:spLocks noGrp="1"/>
          </p:cNvSpPr>
          <p:nvPr/>
        </p:nvSpPr>
        <p:spPr>
          <a:xfrm>
            <a:off x="4133850" y="6410325"/>
            <a:ext cx="1028700" cy="0"/>
          </a:xfrm>
          <a:prstGeom prst="line">
            <a:avLst/>
          </a:prstGeom>
          <a:noFill/>
          <a:ln w="38100">
            <a:solidFill>
              <a:srgbClr val="315F55"/>
            </a:solidFill>
            <a:prstDash val="solid"/>
          </a:ln>
        </p:spPr>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25</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57250" y="1943100"/>
            <a:ext cx="1619250"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A18458"/>
                </a:solidFill>
                <a:latin typeface="微软雅黑" panose="020B0503020204020204" charset="-122"/>
                <a:ea typeface="微软雅黑" panose="020B0503020204020204" charset="-122"/>
                <a:cs typeface="微软雅黑" panose="020B0503020204020204" charset="-122"/>
              </a:defRPr>
            </a:pPr>
            <a:r>
              <a:rPr sz="1875" b="1">
                <a:solidFill>
                  <a:srgbClr val="A18458"/>
                </a:solidFill>
                <a:latin typeface="微软雅黑" panose="020B0503020204020204" charset="-122"/>
                <a:ea typeface="微软雅黑" panose="020B0503020204020204" charset="-122"/>
                <a:cs typeface="微软雅黑" panose="020B0503020204020204" charset="-122"/>
              </a:rPr>
              <a:t>个人级</a:t>
            </a:r>
            <a:endParaRPr sz="1875"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2762250" y="1905000"/>
            <a:ext cx="3524250" cy="742950"/>
          </a:xfrm>
          <a:prstGeom prst="rect">
            <a:avLst/>
          </a:prstGeom>
          <a:noFill/>
          <a:ln w="0">
            <a:noFill/>
            <a:prstDash val="solid"/>
          </a:ln>
        </p:spPr>
        <p:txBody>
          <a:bodyPr wrap="square" lIns="0" tIns="0" rIns="0" bIns="0" anchor="t">
            <a:normAutofit/>
          </a:bodyPr>
          <a:lstStyle/>
          <a:p>
            <a:pPr algn="l">
              <a:lnSpc>
                <a:spcPct val="118000"/>
              </a:lnSpc>
              <a:buNone/>
              <a:defRPr sz="1650" b="0">
                <a:solidFill>
                  <a:srgbClr val="315363"/>
                </a:solidFill>
                <a:latin typeface="Consolas" panose="020B0609020204030204"/>
                <a:ea typeface="Consolas" panose="020B0609020204030204"/>
                <a:cs typeface="Consolas" panose="020B0609020204030204"/>
              </a:defRPr>
            </a:pPr>
            <a:r>
              <a:rPr sz="1650" b="0">
                <a:solidFill>
                  <a:srgbClr val="315363"/>
                </a:solidFill>
                <a:latin typeface="Consolas" panose="020B0609020204030204"/>
                <a:ea typeface="Consolas" panose="020B0609020204030204"/>
                <a:cs typeface="Consolas" panose="020B0609020204030204"/>
              </a:rPr>
              <a:t>~/.codex/config.toml</a:t>
            </a:r>
            <a:endParaRPr sz="1650" b="0">
              <a:solidFill>
                <a:srgbClr val="315363"/>
              </a:solidFill>
              <a:latin typeface="Consolas" panose="020B0609020204030204"/>
              <a:ea typeface="Consolas" panose="020B0609020204030204"/>
              <a:cs typeface="Consolas" panose="020B0609020204030204"/>
            </a:endParaRPr>
          </a:p>
          <a:p>
            <a:pPr algn="l">
              <a:lnSpc>
                <a:spcPct val="118000"/>
              </a:lnSpc>
              <a:buNone/>
              <a:defRPr sz="1650" b="0">
                <a:solidFill>
                  <a:srgbClr val="315363"/>
                </a:solidFill>
                <a:latin typeface="Consolas" panose="020B0609020204030204"/>
                <a:ea typeface="Consolas" panose="020B0609020204030204"/>
                <a:cs typeface="Consolas" panose="020B0609020204030204"/>
              </a:defRPr>
            </a:pPr>
            <a:r>
              <a:rPr sz="1650" b="0">
                <a:solidFill>
                  <a:srgbClr val="315363"/>
                </a:solidFill>
                <a:latin typeface="Consolas" panose="020B0609020204030204"/>
                <a:ea typeface="Consolas" panose="020B0609020204030204"/>
                <a:cs typeface="Consolas" panose="020B0609020204030204"/>
              </a:rPr>
              <a:t>~/.codex/AGENTS.md</a:t>
            </a:r>
            <a:endParaRPr sz="1650" b="0">
              <a:solidFill>
                <a:srgbClr val="315363"/>
              </a:solidFill>
              <a:latin typeface="Consolas" panose="020B0609020204030204"/>
              <a:ea typeface="Consolas" panose="020B0609020204030204"/>
              <a:cs typeface="Consolas" panose="020B0609020204030204"/>
            </a:endParaRPr>
          </a:p>
        </p:txBody>
      </p:sp>
      <p:sp>
        <p:nvSpPr>
          <p:cNvPr id="14" name="矩形 13"/>
          <p:cNvSpPr>
            <a:spLocks noGrp="1"/>
          </p:cNvSpPr>
          <p:nvPr/>
        </p:nvSpPr>
        <p:spPr>
          <a:xfrm>
            <a:off x="6667500" y="1943100"/>
            <a:ext cx="4095750" cy="590550"/>
          </a:xfrm>
          <a:prstGeom prst="rect">
            <a:avLst/>
          </a:prstGeom>
          <a:noFill/>
          <a:ln w="0">
            <a:noFill/>
            <a:prstDash val="solid"/>
          </a:ln>
        </p:spPr>
        <p:txBody>
          <a:bodyPr wrap="square" lIns="0" tIns="0" rIns="0" bIns="0" anchor="t">
            <a:normAutofit/>
          </a:bodyPr>
          <a:lstStyle/>
          <a:p>
            <a:pPr algn="l">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稳定偏好和默认设置</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57250" y="3162300"/>
            <a:ext cx="1619250"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A18458"/>
                </a:solidFill>
                <a:latin typeface="微软雅黑" panose="020B0503020204020204" charset="-122"/>
                <a:ea typeface="微软雅黑" panose="020B0503020204020204" charset="-122"/>
                <a:cs typeface="微软雅黑" panose="020B0503020204020204" charset="-122"/>
              </a:defRPr>
            </a:pPr>
            <a:r>
              <a:rPr sz="1875" b="1">
                <a:solidFill>
                  <a:srgbClr val="A18458"/>
                </a:solidFill>
                <a:latin typeface="微软雅黑" panose="020B0503020204020204" charset="-122"/>
                <a:ea typeface="微软雅黑" panose="020B0503020204020204" charset="-122"/>
                <a:cs typeface="微软雅黑" panose="020B0503020204020204" charset="-122"/>
              </a:rPr>
              <a:t>项目级</a:t>
            </a:r>
            <a:endParaRPr sz="1875"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2762250" y="3124200"/>
            <a:ext cx="3524250" cy="742950"/>
          </a:xfrm>
          <a:prstGeom prst="rect">
            <a:avLst/>
          </a:prstGeom>
          <a:noFill/>
          <a:ln w="0">
            <a:noFill/>
            <a:prstDash val="solid"/>
          </a:ln>
        </p:spPr>
        <p:txBody>
          <a:bodyPr wrap="square" lIns="0" tIns="0" rIns="0" bIns="0" anchor="t">
            <a:normAutofit/>
          </a:bodyPr>
          <a:lstStyle/>
          <a:p>
            <a:pPr algn="l">
              <a:lnSpc>
                <a:spcPct val="118000"/>
              </a:lnSpc>
              <a:buNone/>
              <a:defRPr sz="1650" b="0">
                <a:solidFill>
                  <a:srgbClr val="315363"/>
                </a:solidFill>
                <a:latin typeface="Consolas" panose="020B0609020204030204"/>
                <a:ea typeface="Consolas" panose="020B0609020204030204"/>
                <a:cs typeface="Consolas" panose="020B0609020204030204"/>
              </a:defRPr>
            </a:pPr>
            <a:r>
              <a:rPr sz="1650" b="0">
                <a:solidFill>
                  <a:srgbClr val="315363"/>
                </a:solidFill>
                <a:latin typeface="Consolas" panose="020B0609020204030204"/>
                <a:ea typeface="Consolas" panose="020B0609020204030204"/>
                <a:cs typeface="Consolas" panose="020B0609020204030204"/>
              </a:rPr>
              <a:t>.codex/config.toml</a:t>
            </a:r>
            <a:endParaRPr sz="1650" b="0">
              <a:solidFill>
                <a:srgbClr val="315363"/>
              </a:solidFill>
              <a:latin typeface="Consolas" panose="020B0609020204030204"/>
              <a:ea typeface="Consolas" panose="020B0609020204030204"/>
              <a:cs typeface="Consolas" panose="020B0609020204030204"/>
            </a:endParaRPr>
          </a:p>
          <a:p>
            <a:pPr algn="l">
              <a:lnSpc>
                <a:spcPct val="118000"/>
              </a:lnSpc>
              <a:buNone/>
              <a:defRPr sz="1650" b="0">
                <a:solidFill>
                  <a:srgbClr val="315363"/>
                </a:solidFill>
                <a:latin typeface="Consolas" panose="020B0609020204030204"/>
                <a:ea typeface="Consolas" panose="020B0609020204030204"/>
                <a:cs typeface="Consolas" panose="020B0609020204030204"/>
              </a:defRPr>
            </a:pPr>
            <a:r>
              <a:rPr sz="1650" b="0">
                <a:solidFill>
                  <a:srgbClr val="315363"/>
                </a:solidFill>
                <a:latin typeface="Consolas" panose="020B0609020204030204"/>
                <a:ea typeface="Consolas" panose="020B0609020204030204"/>
                <a:cs typeface="Consolas" panose="020B0609020204030204"/>
              </a:rPr>
              <a:t>项目/AGENTS.md</a:t>
            </a:r>
            <a:endParaRPr sz="1650" b="0">
              <a:solidFill>
                <a:srgbClr val="315363"/>
              </a:solidFill>
              <a:latin typeface="Consolas" panose="020B0609020204030204"/>
              <a:ea typeface="Consolas" panose="020B0609020204030204"/>
              <a:cs typeface="Consolas" panose="020B0609020204030204"/>
            </a:endParaRPr>
          </a:p>
        </p:txBody>
      </p:sp>
      <p:sp>
        <p:nvSpPr>
          <p:cNvPr id="17" name="矩形 16"/>
          <p:cNvSpPr>
            <a:spLocks noGrp="1"/>
          </p:cNvSpPr>
          <p:nvPr/>
        </p:nvSpPr>
        <p:spPr>
          <a:xfrm>
            <a:off x="6667500" y="3162300"/>
            <a:ext cx="4095750" cy="590550"/>
          </a:xfrm>
          <a:prstGeom prst="rect">
            <a:avLst/>
          </a:prstGeom>
          <a:noFill/>
          <a:ln w="0">
            <a:noFill/>
            <a:prstDash val="solid"/>
          </a:ln>
        </p:spPr>
        <p:txBody>
          <a:bodyPr wrap="square" lIns="0" tIns="0" rIns="0" bIns="0" anchor="t">
            <a:normAutofit/>
          </a:bodyPr>
          <a:lstStyle/>
          <a:p>
            <a:pPr algn="l">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本项目的规则和范围</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857250" y="4381500"/>
            <a:ext cx="1619250"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A18458"/>
                </a:solidFill>
                <a:latin typeface="微软雅黑" panose="020B0503020204020204" charset="-122"/>
                <a:ea typeface="微软雅黑" panose="020B0503020204020204" charset="-122"/>
                <a:cs typeface="微软雅黑" panose="020B0503020204020204" charset="-122"/>
              </a:defRPr>
            </a:pPr>
            <a:r>
              <a:rPr sz="1875" b="1">
                <a:solidFill>
                  <a:srgbClr val="A18458"/>
                </a:solidFill>
                <a:latin typeface="微软雅黑" panose="020B0503020204020204" charset="-122"/>
                <a:ea typeface="微软雅黑" panose="020B0503020204020204" charset="-122"/>
                <a:cs typeface="微软雅黑" panose="020B0503020204020204" charset="-122"/>
              </a:rPr>
              <a:t>当前任务</a:t>
            </a:r>
            <a:endParaRPr sz="1875"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2762250" y="4343400"/>
            <a:ext cx="3524250" cy="742950"/>
          </a:xfrm>
          <a:prstGeom prst="rect">
            <a:avLst/>
          </a:prstGeom>
          <a:noFill/>
          <a:ln w="0">
            <a:noFill/>
            <a:prstDash val="solid"/>
          </a:ln>
        </p:spPr>
        <p:txBody>
          <a:bodyPr wrap="square" lIns="0" tIns="0" rIns="0" bIns="0" anchor="t">
            <a:normAutofit/>
          </a:bodyPr>
          <a:lstStyle/>
          <a:p>
            <a:pPr algn="l">
              <a:lnSpc>
                <a:spcPct val="118000"/>
              </a:lnSpc>
              <a:buNone/>
              <a:defRPr sz="1650" b="0">
                <a:solidFill>
                  <a:srgbClr val="315363"/>
                </a:solidFill>
                <a:latin typeface="Consolas" panose="020B0609020204030204"/>
                <a:ea typeface="Consolas" panose="020B0609020204030204"/>
                <a:cs typeface="Consolas" panose="020B0609020204030204"/>
              </a:defRPr>
            </a:pPr>
            <a:r>
              <a:rPr sz="1650" b="0">
                <a:solidFill>
                  <a:srgbClr val="315363"/>
                </a:solidFill>
                <a:latin typeface="Consolas" panose="020B0609020204030204"/>
                <a:ea typeface="Consolas" panose="020B0609020204030204"/>
                <a:cs typeface="Consolas" panose="020B0609020204030204"/>
              </a:rPr>
              <a:t>REQUIREMENTS.md</a:t>
            </a:r>
            <a:endParaRPr sz="1650" b="0">
              <a:solidFill>
                <a:srgbClr val="315363"/>
              </a:solidFill>
              <a:latin typeface="Consolas" panose="020B0609020204030204"/>
              <a:ea typeface="Consolas" panose="020B0609020204030204"/>
              <a:cs typeface="Consolas" panose="020B0609020204030204"/>
            </a:endParaRPr>
          </a:p>
        </p:txBody>
      </p:sp>
      <p:sp>
        <p:nvSpPr>
          <p:cNvPr id="20" name="矩形 19"/>
          <p:cNvSpPr>
            <a:spLocks noGrp="1"/>
          </p:cNvSpPr>
          <p:nvPr/>
        </p:nvSpPr>
        <p:spPr>
          <a:xfrm>
            <a:off x="6667500" y="4381500"/>
            <a:ext cx="4095750" cy="590550"/>
          </a:xfrm>
          <a:prstGeom prst="rect">
            <a:avLst/>
          </a:prstGeom>
          <a:noFill/>
          <a:ln w="0">
            <a:noFill/>
            <a:prstDash val="solid"/>
          </a:ln>
        </p:spPr>
        <p:txBody>
          <a:bodyPr wrap="square" lIns="0" tIns="0" rIns="0" bIns="0" anchor="t">
            <a:normAutofit/>
          </a:bodyPr>
          <a:lstStyle/>
          <a:p>
            <a:pPr algn="l">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本次交付和验收标准</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0" name="矩形 19"/>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四种文件解决四类问题</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03 概念</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7" name="直接连接符 6"/>
          <p:cNvSpPr>
            <a:spLocks noGrp="1"/>
          </p:cNvSpPr>
          <p:nvPr/>
        </p:nvSpPr>
        <p:spPr>
          <a:xfrm>
            <a:off x="4133850" y="6410325"/>
            <a:ext cx="1028700" cy="0"/>
          </a:xfrm>
          <a:prstGeom prst="line">
            <a:avLst/>
          </a:prstGeom>
          <a:noFill/>
          <a:ln w="38100">
            <a:solidFill>
              <a:srgbClr val="315F55"/>
            </a:solidFill>
            <a:prstDash val="solid"/>
          </a:ln>
        </p:spPr>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26</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952500" y="1952625"/>
            <a:ext cx="2524125"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315363"/>
                </a:solidFill>
                <a:latin typeface="微软雅黑" panose="020B0503020204020204" charset="-122"/>
                <a:ea typeface="微软雅黑" panose="020B0503020204020204" charset="-122"/>
                <a:cs typeface="微软雅黑" panose="020B0503020204020204" charset="-122"/>
              </a:defRPr>
            </a:pPr>
            <a:r>
              <a:rPr sz="1875" b="1">
                <a:solidFill>
                  <a:srgbClr val="315363"/>
                </a:solidFill>
                <a:latin typeface="微软雅黑" panose="020B0503020204020204" charset="-122"/>
                <a:ea typeface="微软雅黑" panose="020B0503020204020204" charset="-122"/>
                <a:cs typeface="微软雅黑" panose="020B0503020204020204" charset="-122"/>
              </a:rPr>
              <a:t>README</a:t>
            </a:r>
            <a:endParaRPr sz="1875"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3714750" y="1952625"/>
            <a:ext cx="7239000" cy="361950"/>
          </a:xfrm>
          <a:prstGeom prst="rect">
            <a:avLst/>
          </a:prstGeom>
          <a:noFill/>
          <a:ln w="0">
            <a:noFill/>
            <a:prstDash val="solid"/>
          </a:ln>
        </p:spPr>
        <p:txBody>
          <a:bodyPr wrap="square" lIns="0" tIns="0" rIns="0" bIns="0" anchor="t">
            <a:normAutofit/>
          </a:bodyPr>
          <a:lstStyle/>
          <a:p>
            <a:pPr algn="l">
              <a:lnSpc>
                <a:spcPct val="112000"/>
              </a:lnSpc>
              <a:buNone/>
              <a:defRPr sz="1875" b="0">
                <a:solidFill>
                  <a:srgbClr val="263431"/>
                </a:solidFill>
                <a:latin typeface="微软雅黑" panose="020B0503020204020204" charset="-122"/>
                <a:ea typeface="微软雅黑" panose="020B0503020204020204" charset="-122"/>
                <a:cs typeface="微软雅黑" panose="020B0503020204020204" charset="-122"/>
              </a:defRPr>
            </a:pPr>
            <a:r>
              <a:rPr sz="1875" b="0">
                <a:solidFill>
                  <a:srgbClr val="263431"/>
                </a:solidFill>
                <a:latin typeface="微软雅黑" panose="020B0503020204020204" charset="-122"/>
                <a:ea typeface="微软雅黑" panose="020B0503020204020204" charset="-122"/>
                <a:cs typeface="微软雅黑" panose="020B0503020204020204" charset="-122"/>
              </a:rPr>
              <a:t>项目是什么，现在做到哪里</a:t>
            </a:r>
            <a:endParaRPr sz="18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952500" y="2828925"/>
            <a:ext cx="2524125"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315363"/>
                </a:solidFill>
                <a:latin typeface="微软雅黑" panose="020B0503020204020204" charset="-122"/>
                <a:ea typeface="微软雅黑" panose="020B0503020204020204" charset="-122"/>
                <a:cs typeface="微软雅黑" panose="020B0503020204020204" charset="-122"/>
              </a:defRPr>
            </a:pPr>
            <a:r>
              <a:rPr sz="1875" b="1">
                <a:solidFill>
                  <a:srgbClr val="315363"/>
                </a:solidFill>
                <a:latin typeface="微软雅黑" panose="020B0503020204020204" charset="-122"/>
                <a:ea typeface="微软雅黑" panose="020B0503020204020204" charset="-122"/>
                <a:cs typeface="微软雅黑" panose="020B0503020204020204" charset="-122"/>
              </a:rPr>
              <a:t>REQUIREMENTS</a:t>
            </a:r>
            <a:endParaRPr sz="1875"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3714750" y="2828925"/>
            <a:ext cx="7239000" cy="361950"/>
          </a:xfrm>
          <a:prstGeom prst="rect">
            <a:avLst/>
          </a:prstGeom>
          <a:noFill/>
          <a:ln w="0">
            <a:noFill/>
            <a:prstDash val="solid"/>
          </a:ln>
        </p:spPr>
        <p:txBody>
          <a:bodyPr wrap="square" lIns="0" tIns="0" rIns="0" bIns="0" anchor="t">
            <a:normAutofit/>
          </a:bodyPr>
          <a:lstStyle/>
          <a:p>
            <a:pPr algn="l">
              <a:lnSpc>
                <a:spcPct val="112000"/>
              </a:lnSpc>
              <a:buNone/>
              <a:defRPr sz="1875" b="0">
                <a:solidFill>
                  <a:srgbClr val="263431"/>
                </a:solidFill>
                <a:latin typeface="微软雅黑" panose="020B0503020204020204" charset="-122"/>
                <a:ea typeface="微软雅黑" panose="020B0503020204020204" charset="-122"/>
                <a:cs typeface="微软雅黑" panose="020B0503020204020204" charset="-122"/>
              </a:defRPr>
            </a:pPr>
            <a:r>
              <a:rPr sz="1875" b="0">
                <a:solidFill>
                  <a:srgbClr val="263431"/>
                </a:solidFill>
                <a:latin typeface="微软雅黑" panose="020B0503020204020204" charset="-122"/>
                <a:ea typeface="微软雅黑" panose="020B0503020204020204" charset="-122"/>
                <a:cs typeface="微软雅黑" panose="020B0503020204020204" charset="-122"/>
              </a:rPr>
              <a:t>这次要交付什么</a:t>
            </a:r>
            <a:endParaRPr sz="18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952500" y="3705225"/>
            <a:ext cx="2524125"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315F55"/>
                </a:solidFill>
                <a:latin typeface="微软雅黑" panose="020B0503020204020204" charset="-122"/>
                <a:ea typeface="微软雅黑" panose="020B0503020204020204" charset="-122"/>
                <a:cs typeface="微软雅黑" panose="020B0503020204020204" charset="-122"/>
              </a:defRPr>
            </a:pPr>
            <a:r>
              <a:rPr sz="1875" b="1">
                <a:solidFill>
                  <a:srgbClr val="315F55"/>
                </a:solidFill>
                <a:latin typeface="微软雅黑" panose="020B0503020204020204" charset="-122"/>
                <a:ea typeface="微软雅黑" panose="020B0503020204020204" charset="-122"/>
                <a:cs typeface="微软雅黑" panose="020B0503020204020204" charset="-122"/>
              </a:rPr>
              <a:t>AGENTS</a:t>
            </a:r>
            <a:endParaRPr sz="187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3714750" y="3705225"/>
            <a:ext cx="7239000" cy="361950"/>
          </a:xfrm>
          <a:prstGeom prst="rect">
            <a:avLst/>
          </a:prstGeom>
          <a:noFill/>
          <a:ln w="0">
            <a:noFill/>
            <a:prstDash val="solid"/>
          </a:ln>
        </p:spPr>
        <p:txBody>
          <a:bodyPr wrap="square" lIns="0" tIns="0" rIns="0" bIns="0" anchor="t">
            <a:normAutofit/>
          </a:bodyPr>
          <a:lstStyle/>
          <a:p>
            <a:pPr algn="l">
              <a:lnSpc>
                <a:spcPct val="112000"/>
              </a:lnSpc>
              <a:buNone/>
              <a:defRPr sz="1875" b="0">
                <a:solidFill>
                  <a:srgbClr val="263431"/>
                </a:solidFill>
                <a:latin typeface="微软雅黑" panose="020B0503020204020204" charset="-122"/>
                <a:ea typeface="微软雅黑" panose="020B0503020204020204" charset="-122"/>
                <a:cs typeface="微软雅黑" panose="020B0503020204020204" charset="-122"/>
              </a:defRPr>
            </a:pPr>
            <a:r>
              <a:rPr sz="1875" b="0">
                <a:solidFill>
                  <a:srgbClr val="263431"/>
                </a:solidFill>
                <a:latin typeface="微软雅黑" panose="020B0503020204020204" charset="-122"/>
                <a:ea typeface="微软雅黑" panose="020B0503020204020204" charset="-122"/>
                <a:cs typeface="微软雅黑" panose="020B0503020204020204" charset="-122"/>
              </a:rPr>
              <a:t>Codex在项目中怎样工作</a:t>
            </a:r>
            <a:endParaRPr sz="187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952500" y="4581525"/>
            <a:ext cx="2524125"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315F55"/>
                </a:solidFill>
                <a:latin typeface="微软雅黑" panose="020B0503020204020204" charset="-122"/>
                <a:ea typeface="微软雅黑" panose="020B0503020204020204" charset="-122"/>
                <a:cs typeface="微软雅黑" panose="020B0503020204020204" charset="-122"/>
              </a:defRPr>
            </a:pPr>
            <a:r>
              <a:rPr sz="1875" b="1">
                <a:solidFill>
                  <a:srgbClr val="315F55"/>
                </a:solidFill>
                <a:latin typeface="微软雅黑" panose="020B0503020204020204" charset="-122"/>
                <a:ea typeface="微软雅黑" panose="020B0503020204020204" charset="-122"/>
                <a:cs typeface="微软雅黑" panose="020B0503020204020204" charset="-122"/>
              </a:rPr>
              <a:t>Skill</a:t>
            </a:r>
            <a:endParaRPr sz="187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3714750" y="4581525"/>
            <a:ext cx="7239000" cy="361950"/>
          </a:xfrm>
          <a:prstGeom prst="rect">
            <a:avLst/>
          </a:prstGeom>
          <a:noFill/>
          <a:ln w="0">
            <a:noFill/>
            <a:prstDash val="solid"/>
          </a:ln>
        </p:spPr>
        <p:txBody>
          <a:bodyPr wrap="square" lIns="0" tIns="0" rIns="0" bIns="0" anchor="t">
            <a:normAutofit/>
          </a:bodyPr>
          <a:lstStyle/>
          <a:p>
            <a:pPr algn="l">
              <a:lnSpc>
                <a:spcPct val="112000"/>
              </a:lnSpc>
              <a:buNone/>
              <a:defRPr sz="1875" b="0">
                <a:solidFill>
                  <a:srgbClr val="263431"/>
                </a:solidFill>
                <a:latin typeface="微软雅黑" panose="020B0503020204020204" charset="-122"/>
                <a:ea typeface="微软雅黑" panose="020B0503020204020204" charset="-122"/>
                <a:cs typeface="微软雅黑" panose="020B0503020204020204" charset="-122"/>
              </a:defRPr>
            </a:pPr>
            <a:r>
              <a:rPr sz="1875" b="0">
                <a:solidFill>
                  <a:srgbClr val="263431"/>
                </a:solidFill>
                <a:latin typeface="微软雅黑" panose="020B0503020204020204" charset="-122"/>
                <a:ea typeface="微软雅黑" panose="020B0503020204020204" charset="-122"/>
                <a:cs typeface="微软雅黑" panose="020B0503020204020204" charset="-122"/>
              </a:rPr>
              <a:t>哪些方法可以跨项目重复使用</a:t>
            </a:r>
            <a:endParaRPr sz="1875"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7" name="矩形 16"/>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Codex作为主工具，DSH作为选修</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03 概念</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7" name="直接连接符 6"/>
          <p:cNvSpPr>
            <a:spLocks noGrp="1"/>
          </p:cNvSpPr>
          <p:nvPr/>
        </p:nvSpPr>
        <p:spPr>
          <a:xfrm>
            <a:off x="4133850" y="6410325"/>
            <a:ext cx="1028700" cy="0"/>
          </a:xfrm>
          <a:prstGeom prst="line">
            <a:avLst/>
          </a:prstGeom>
          <a:noFill/>
          <a:ln w="38100">
            <a:solidFill>
              <a:srgbClr val="315F55"/>
            </a:solidFill>
            <a:prstDash val="solid"/>
          </a:ln>
        </p:spPr>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27</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6096000" y="1838325"/>
            <a:ext cx="0" cy="3857625"/>
          </a:xfrm>
          <a:prstGeom prst="line">
            <a:avLst/>
          </a:prstGeom>
          <a:noFill/>
          <a:ln w="9525">
            <a:solidFill>
              <a:srgbClr val="C9D0C8"/>
            </a:solidFill>
            <a:prstDash val="solid"/>
          </a:ln>
        </p:spPr>
      </p:sp>
      <p:sp>
        <p:nvSpPr>
          <p:cNvPr id="13" name="矩形 12"/>
          <p:cNvSpPr>
            <a:spLocks noGrp="1"/>
          </p:cNvSpPr>
          <p:nvPr/>
        </p:nvSpPr>
        <p:spPr>
          <a:xfrm>
            <a:off x="8001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Codex</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6294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DeepSeek Harness</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001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本课程主要工具</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ChatGPT、CLI和IDE入口较完整</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用于日常项目文件工作</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66294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开源Agent Harness</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需要Node.js和模型配置</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目前仍属Developer Preview</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t="27" b="27"/>
          <a:stretch>
            <a:fillRect/>
          </a:stretch>
        </p:blipFill>
        <p:spPr>
          <a:xfrm>
            <a:off x="0" y="0"/>
            <a:ext cx="12192000" cy="6858000"/>
          </a:xfrm>
          <a:prstGeom prst="rect">
            <a:avLst/>
          </a:prstGeom>
        </p:spPr>
      </p:pic>
      <p:sp>
        <p:nvSpPr>
          <p:cNvPr id="2" name="矩形 1"/>
          <p:cNvSpPr>
            <a:spLocks noGrp="1"/>
          </p:cNvSpPr>
          <p:nvPr/>
        </p:nvSpPr>
        <p:spPr>
          <a:xfrm>
            <a:off x="0" y="0"/>
            <a:ext cx="6667500" cy="6858000"/>
          </a:xfrm>
          <a:prstGeom prst="rect">
            <a:avLst/>
          </a:prstGeom>
          <a:solidFill>
            <a:srgbClr val="F3F0E6"/>
          </a:solidFill>
          <a:ln w="0">
            <a:noFill/>
            <a:prstDash val="solid"/>
          </a:ln>
        </p:spPr>
      </p:sp>
      <p:sp>
        <p:nvSpPr>
          <p:cNvPr id="3" name="矩形 2"/>
          <p:cNvSpPr>
            <a:spLocks noGrp="1"/>
          </p:cNvSpPr>
          <p:nvPr/>
        </p:nvSpPr>
        <p:spPr>
          <a:xfrm>
            <a:off x="647700" y="400050"/>
            <a:ext cx="2190750" cy="1066800"/>
          </a:xfrm>
          <a:prstGeom prst="rect">
            <a:avLst/>
          </a:prstGeom>
          <a:noFill/>
          <a:ln w="0">
            <a:noFill/>
            <a:prstDash val="solid"/>
          </a:ln>
        </p:spPr>
        <p:txBody>
          <a:bodyPr wrap="square" lIns="0" tIns="0" rIns="0" bIns="0" anchor="t">
            <a:normAutofit fontScale="96899"/>
          </a:bodyPr>
          <a:lstStyle/>
          <a:p>
            <a:pPr algn="l">
              <a:lnSpc>
                <a:spcPct val="112000"/>
              </a:lnSpc>
              <a:buNone/>
              <a:defRPr sz="6450" b="0">
                <a:solidFill>
                  <a:srgbClr val="A18458"/>
                </a:solidFill>
                <a:latin typeface="Times New Roman" panose="02020603050405020304"/>
                <a:ea typeface="Times New Roman" panose="02020603050405020304"/>
                <a:cs typeface="Times New Roman" panose="02020603050405020304"/>
              </a:defRPr>
            </a:pPr>
            <a:r>
              <a:rPr sz="6450" b="0">
                <a:solidFill>
                  <a:srgbClr val="A18458"/>
                </a:solidFill>
                <a:latin typeface="Times New Roman" panose="02020603050405020304"/>
                <a:ea typeface="Times New Roman" panose="02020603050405020304"/>
                <a:cs typeface="Times New Roman" panose="02020603050405020304"/>
              </a:rPr>
              <a:t>04</a:t>
            </a:r>
            <a:endParaRPr sz="6450" b="0">
              <a:solidFill>
                <a:srgbClr val="A18458"/>
              </a:solidFill>
              <a:latin typeface="Times New Roman" panose="02020603050405020304"/>
              <a:ea typeface="Times New Roman" panose="02020603050405020304"/>
              <a:cs typeface="Times New Roman" panose="02020603050405020304"/>
            </a:endParaRPr>
          </a:p>
        </p:txBody>
      </p:sp>
      <p:sp>
        <p:nvSpPr>
          <p:cNvPr id="4" name="直接连接符 3"/>
          <p:cNvSpPr>
            <a:spLocks noGrp="1"/>
          </p:cNvSpPr>
          <p:nvPr/>
        </p:nvSpPr>
        <p:spPr>
          <a:xfrm>
            <a:off x="704850" y="1466850"/>
            <a:ext cx="1104900" cy="0"/>
          </a:xfrm>
          <a:prstGeom prst="line">
            <a:avLst/>
          </a:prstGeom>
          <a:noFill/>
          <a:ln w="14288">
            <a:solidFill>
              <a:srgbClr val="A18458"/>
            </a:solidFill>
            <a:prstDash val="solid"/>
          </a:ln>
        </p:spPr>
      </p:sp>
      <p:sp>
        <p:nvSpPr>
          <p:cNvPr id="5" name="矩形 4"/>
          <p:cNvSpPr>
            <a:spLocks noGrp="1"/>
          </p:cNvSpPr>
          <p:nvPr/>
        </p:nvSpPr>
        <p:spPr>
          <a:xfrm>
            <a:off x="685800" y="1790700"/>
            <a:ext cx="5334000" cy="838200"/>
          </a:xfrm>
          <a:prstGeom prst="rect">
            <a:avLst/>
          </a:prstGeom>
          <a:noFill/>
          <a:ln w="0">
            <a:noFill/>
            <a:prstDash val="solid"/>
          </a:ln>
        </p:spPr>
        <p:txBody>
          <a:bodyPr wrap="square" lIns="0" tIns="0" rIns="0" bIns="0" anchor="t">
            <a:normAutofit/>
          </a:bodyPr>
          <a:lstStyle/>
          <a:p>
            <a:pPr algn="l">
              <a:lnSpc>
                <a:spcPct val="112000"/>
              </a:lnSpc>
              <a:buNone/>
              <a:defRPr sz="4050" b="0">
                <a:solidFill>
                  <a:srgbClr val="263431"/>
                </a:solidFill>
                <a:latin typeface="黑体" panose="02010609060101010101" charset="-122"/>
                <a:ea typeface="黑体" panose="02010609060101010101" charset="-122"/>
                <a:cs typeface="黑体" panose="02010609060101010101" charset="-122"/>
              </a:defRPr>
            </a:pPr>
            <a:r>
              <a:rPr sz="4050" b="0">
                <a:solidFill>
                  <a:srgbClr val="263431"/>
                </a:solidFill>
                <a:latin typeface="黑体" panose="02010609060101010101" charset="-122"/>
                <a:ea typeface="黑体" panose="02010609060101010101" charset="-122"/>
                <a:cs typeface="黑体" panose="02010609060101010101" charset="-122"/>
              </a:rPr>
              <a:t>从目标到需求</a:t>
            </a:r>
            <a:endParaRPr sz="4050" b="0">
              <a:solidFill>
                <a:srgbClr val="263431"/>
              </a:solidFill>
              <a:latin typeface="黑体" panose="02010609060101010101" charset="-122"/>
              <a:ea typeface="黑体" panose="02010609060101010101" charset="-122"/>
              <a:cs typeface="黑体" panose="02010609060101010101" charset="-122"/>
            </a:endParaRPr>
          </a:p>
        </p:txBody>
      </p:sp>
      <p:sp>
        <p:nvSpPr>
          <p:cNvPr id="6" name="矩形 5"/>
          <p:cNvSpPr>
            <a:spLocks noGrp="1"/>
          </p:cNvSpPr>
          <p:nvPr/>
        </p:nvSpPr>
        <p:spPr>
          <a:xfrm>
            <a:off x="781050" y="32575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01  表达模糊目标</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81050" y="37147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02  反问澄清</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81050" y="41719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03  确认范围</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81050" y="46291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04  编制需求文档</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781050" y="50863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05  确定验收标准</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5800" y="5753100"/>
            <a:ext cx="5334000" cy="38100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本部分成果：完成一个真实项目的REQUIREMENTS.md</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5" name="矩形 14"/>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模糊目标可以作为工作的起点</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04 需求</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8" name="直接连接符 7"/>
          <p:cNvSpPr>
            <a:spLocks noGrp="1"/>
          </p:cNvSpPr>
          <p:nvPr/>
        </p:nvSpPr>
        <p:spPr>
          <a:xfrm>
            <a:off x="5772150" y="6410325"/>
            <a:ext cx="1028700" cy="0"/>
          </a:xfrm>
          <a:prstGeom prst="line">
            <a:avLst/>
          </a:prstGeom>
          <a:noFill/>
          <a:ln w="38100">
            <a:solidFill>
              <a:srgbClr val="315F55"/>
            </a:solidFill>
            <a:prstDash val="solid"/>
          </a:ln>
        </p:spPr>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29</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095375" y="2286000"/>
            <a:ext cx="10001250" cy="952500"/>
          </a:xfrm>
          <a:prstGeom prst="rect">
            <a:avLst/>
          </a:prstGeom>
          <a:noFill/>
          <a:ln w="0">
            <a:noFill/>
            <a:prstDash val="solid"/>
          </a:ln>
        </p:spPr>
        <p:txBody>
          <a:bodyPr wrap="square" lIns="0" tIns="0" rIns="0" bIns="0" anchor="ctr">
            <a:normAutofit/>
          </a:bodyPr>
          <a:lstStyle/>
          <a:p>
            <a:pPr algn="ctr">
              <a:lnSpc>
                <a:spcPct val="112000"/>
              </a:lnSpc>
              <a:buNone/>
              <a:defRPr sz="2550" b="1">
                <a:solidFill>
                  <a:srgbClr val="315F55"/>
                </a:solidFill>
                <a:latin typeface="宋体" panose="02010600030101010101" pitchFamily="2" charset="-122"/>
                <a:ea typeface="宋体" panose="02010600030101010101" pitchFamily="2" charset="-122"/>
                <a:cs typeface="宋体" panose="02010600030101010101" pitchFamily="2" charset="-122"/>
              </a:defRPr>
            </a:pPr>
            <a:r>
              <a:rPr sz="2550" b="1">
                <a:solidFill>
                  <a:srgbClr val="315F55"/>
                </a:solidFill>
                <a:latin typeface="宋体" panose="02010600030101010101" pitchFamily="2" charset="-122"/>
                <a:ea typeface="宋体" panose="02010600030101010101" pitchFamily="2" charset="-122"/>
                <a:cs typeface="宋体" panose="02010600030101010101" pitchFamily="2" charset="-122"/>
              </a:rPr>
              <a:t>“为这个数据中心项目准备一份给Sponsor的前期建议书。”</a:t>
            </a:r>
            <a:endParaRPr sz="2550" b="1">
              <a:solidFill>
                <a:srgbClr val="315F55"/>
              </a:solidFill>
              <a:latin typeface="宋体" panose="02010600030101010101" pitchFamily="2" charset="-122"/>
              <a:ea typeface="宋体" panose="02010600030101010101" pitchFamily="2" charset="-122"/>
              <a:cs typeface="宋体" panose="02010600030101010101" pitchFamily="2" charset="-122"/>
            </a:endParaRPr>
          </a:p>
        </p:txBody>
      </p:sp>
      <p:sp>
        <p:nvSpPr>
          <p:cNvPr id="13" name="直接连接符 12"/>
          <p:cNvSpPr>
            <a:spLocks noGrp="1"/>
          </p:cNvSpPr>
          <p:nvPr/>
        </p:nvSpPr>
        <p:spPr>
          <a:xfrm>
            <a:off x="2952750" y="3600450"/>
            <a:ext cx="6286500" cy="0"/>
          </a:xfrm>
          <a:prstGeom prst="line">
            <a:avLst/>
          </a:prstGeom>
          <a:noFill/>
          <a:ln w="19050">
            <a:solidFill>
              <a:srgbClr val="8FA99C"/>
            </a:solidFill>
            <a:prstDash val="solid"/>
          </a:ln>
        </p:spPr>
      </p:sp>
      <p:sp>
        <p:nvSpPr>
          <p:cNvPr id="14" name="矩形 13"/>
          <p:cNvSpPr>
            <a:spLocks noGrp="1"/>
          </p:cNvSpPr>
          <p:nvPr/>
        </p:nvSpPr>
        <p:spPr>
          <a:xfrm>
            <a:off x="1714500" y="4038600"/>
            <a:ext cx="8763000" cy="419100"/>
          </a:xfrm>
          <a:prstGeom prst="rect">
            <a:avLst/>
          </a:prstGeom>
          <a:noFill/>
          <a:ln w="0">
            <a:noFill/>
            <a:prstDash val="solid"/>
          </a:ln>
        </p:spPr>
        <p:txBody>
          <a:bodyPr wrap="square" lIns="0" tIns="0" rIns="0" bIns="0" anchor="t">
            <a:normAutofit/>
          </a:bodyPr>
          <a:lstStyle/>
          <a:p>
            <a:pPr algn="ctr">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目标不必一次说完整，但应允许Codex先提问。</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6" name="矩形 25"/>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澄清问题只问会影响结果的事项</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04 需求</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8" name="直接连接符 7"/>
          <p:cNvSpPr>
            <a:spLocks noGrp="1"/>
          </p:cNvSpPr>
          <p:nvPr/>
        </p:nvSpPr>
        <p:spPr>
          <a:xfrm>
            <a:off x="5772150" y="6410325"/>
            <a:ext cx="1028700" cy="0"/>
          </a:xfrm>
          <a:prstGeom prst="line">
            <a:avLst/>
          </a:prstGeom>
          <a:noFill/>
          <a:ln w="38100">
            <a:solidFill>
              <a:srgbClr val="315F55"/>
            </a:solidFill>
            <a:prstDash val="solid"/>
          </a:ln>
        </p:spPr>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30</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00100" y="18288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01</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466850" y="18097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谁阅读，准备作出什么决定</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1466850" y="2457450"/>
            <a:ext cx="9429750" cy="0"/>
          </a:xfrm>
          <a:prstGeom prst="line">
            <a:avLst/>
          </a:prstGeom>
          <a:noFill/>
          <a:ln w="9525">
            <a:solidFill>
              <a:srgbClr val="E3E8E1"/>
            </a:solidFill>
            <a:prstDash val="solid"/>
          </a:ln>
        </p:spPr>
      </p:sp>
      <p:sp>
        <p:nvSpPr>
          <p:cNvPr id="15" name="矩形 14"/>
          <p:cNvSpPr>
            <a:spLocks noGrp="1"/>
          </p:cNvSpPr>
          <p:nvPr/>
        </p:nvSpPr>
        <p:spPr>
          <a:xfrm>
            <a:off x="800100" y="25527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02</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1466850" y="25336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项目处于什么阶段，讨论范围是什么</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1466850" y="3181350"/>
            <a:ext cx="9429750" cy="0"/>
          </a:xfrm>
          <a:prstGeom prst="line">
            <a:avLst/>
          </a:prstGeom>
          <a:noFill/>
          <a:ln w="9525">
            <a:solidFill>
              <a:srgbClr val="E3E8E1"/>
            </a:solidFill>
            <a:prstDash val="solid"/>
          </a:ln>
        </p:spPr>
      </p:sp>
      <p:sp>
        <p:nvSpPr>
          <p:cNvPr id="18" name="矩形 17"/>
          <p:cNvSpPr>
            <a:spLocks noGrp="1"/>
          </p:cNvSpPr>
          <p:nvPr/>
        </p:nvSpPr>
        <p:spPr>
          <a:xfrm>
            <a:off x="800100" y="32766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03</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1466850" y="32575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已有材料和缺失信息有哪些</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1466850" y="3905250"/>
            <a:ext cx="9429750" cy="0"/>
          </a:xfrm>
          <a:prstGeom prst="line">
            <a:avLst/>
          </a:prstGeom>
          <a:noFill/>
          <a:ln w="9525">
            <a:solidFill>
              <a:srgbClr val="E3E8E1"/>
            </a:solidFill>
            <a:prstDash val="solid"/>
          </a:ln>
        </p:spPr>
      </p:sp>
      <p:sp>
        <p:nvSpPr>
          <p:cNvPr id="21" name="矩形 20"/>
          <p:cNvSpPr>
            <a:spLocks noGrp="1"/>
          </p:cNvSpPr>
          <p:nvPr/>
        </p:nvSpPr>
        <p:spPr>
          <a:xfrm>
            <a:off x="800100" y="40005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04</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1466850" y="39814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必须遵守哪些限制和口径</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3" name="直接连接符 22"/>
          <p:cNvSpPr>
            <a:spLocks noGrp="1"/>
          </p:cNvSpPr>
          <p:nvPr/>
        </p:nvSpPr>
        <p:spPr>
          <a:xfrm>
            <a:off x="1466850" y="4629150"/>
            <a:ext cx="9429750" cy="0"/>
          </a:xfrm>
          <a:prstGeom prst="line">
            <a:avLst/>
          </a:prstGeom>
          <a:noFill/>
          <a:ln w="9525">
            <a:solidFill>
              <a:srgbClr val="E3E8E1"/>
            </a:solidFill>
            <a:prstDash val="solid"/>
          </a:ln>
        </p:spPr>
      </p:sp>
      <p:sp>
        <p:nvSpPr>
          <p:cNvPr id="24" name="矩形 23"/>
          <p:cNvSpPr>
            <a:spLocks noGrp="1"/>
          </p:cNvSpPr>
          <p:nvPr/>
        </p:nvSpPr>
        <p:spPr>
          <a:xfrm>
            <a:off x="800100" y="4724400"/>
            <a:ext cx="514350" cy="3238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05</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5" name="矩形 24"/>
          <p:cNvSpPr>
            <a:spLocks noGrp="1"/>
          </p:cNvSpPr>
          <p:nvPr/>
        </p:nvSpPr>
        <p:spPr>
          <a:xfrm>
            <a:off x="1466850" y="4705350"/>
            <a:ext cx="9429750" cy="685800"/>
          </a:xfrm>
          <a:prstGeom prst="rect">
            <a:avLst/>
          </a:prstGeom>
          <a:noFill/>
          <a:ln w="0">
            <a:noFill/>
            <a:prstDash val="solid"/>
          </a:ln>
        </p:spPr>
        <p:txBody>
          <a:bodyPr wrap="square" lIns="0" tIns="0" rIns="0" bIns="0" anchor="t">
            <a:normAutofit/>
          </a:bodyPr>
          <a:lstStyle/>
          <a:p>
            <a:pPr algn="l">
              <a:lnSpc>
                <a:spcPct val="112000"/>
              </a:lnSpc>
              <a:buNone/>
              <a:defRPr sz="1950" b="0">
                <a:solidFill>
                  <a:srgbClr val="263431"/>
                </a:solidFill>
                <a:latin typeface="微软雅黑" panose="020B0503020204020204" charset="-122"/>
                <a:ea typeface="微软雅黑" panose="020B0503020204020204" charset="-122"/>
                <a:cs typeface="微软雅黑" panose="020B0503020204020204" charset="-122"/>
              </a:defRPr>
            </a:pPr>
            <a:r>
              <a:rPr sz="1950" b="0">
                <a:solidFill>
                  <a:srgbClr val="263431"/>
                </a:solidFill>
                <a:latin typeface="微软雅黑" panose="020B0503020204020204" charset="-122"/>
                <a:ea typeface="微软雅黑" panose="020B0503020204020204" charset="-122"/>
                <a:cs typeface="微软雅黑" panose="020B0503020204020204" charset="-122"/>
              </a:rPr>
              <a:t>需要什么格式，怎样才算完成</a:t>
            </a:r>
            <a:endParaRPr sz="195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32" name="矩形 3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需求编制是一项独立工作</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04 需求</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8" name="直接连接符 7"/>
          <p:cNvSpPr>
            <a:spLocks noGrp="1"/>
          </p:cNvSpPr>
          <p:nvPr/>
        </p:nvSpPr>
        <p:spPr>
          <a:xfrm>
            <a:off x="5772150" y="6410325"/>
            <a:ext cx="1028700" cy="0"/>
          </a:xfrm>
          <a:prstGeom prst="line">
            <a:avLst/>
          </a:prstGeom>
          <a:noFill/>
          <a:ln w="38100">
            <a:solidFill>
              <a:srgbClr val="315F55"/>
            </a:solidFill>
            <a:prstDash val="solid"/>
          </a:ln>
        </p:spPr>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31</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2735580" y="3219450"/>
            <a:ext cx="247650" cy="0"/>
          </a:xfrm>
          <a:prstGeom prst="line">
            <a:avLst/>
          </a:prstGeom>
          <a:noFill/>
          <a:ln w="28575">
            <a:solidFill>
              <a:srgbClr val="8FA99C"/>
            </a:solidFill>
            <a:prstDash val="solid"/>
          </a:ln>
        </p:spPr>
      </p:sp>
      <p:sp>
        <p:nvSpPr>
          <p:cNvPr id="13" name="圆角矩形 12"/>
          <p:cNvSpPr>
            <a:spLocks noGrp="1"/>
          </p:cNvSpPr>
          <p:nvPr/>
        </p:nvSpPr>
        <p:spPr>
          <a:xfrm>
            <a:off x="762000" y="2628900"/>
            <a:ext cx="1935480" cy="1181100"/>
          </a:xfrm>
          <a:prstGeom prst="roundRect">
            <a:avLst>
              <a:gd name="adj" fmla="val 11290"/>
            </a:avLst>
          </a:prstGeom>
          <a:solidFill>
            <a:srgbClr val="F3F0E6"/>
          </a:solidFill>
          <a:ln w="9525">
            <a:solidFill>
              <a:srgbClr val="8FA99C"/>
            </a:solidFill>
            <a:prstDash val="solid"/>
          </a:ln>
        </p:spPr>
      </p:sp>
      <p:sp>
        <p:nvSpPr>
          <p:cNvPr id="14" name="矩形 13"/>
          <p:cNvSpPr>
            <a:spLocks noGrp="1"/>
          </p:cNvSpPr>
          <p:nvPr/>
        </p:nvSpPr>
        <p:spPr>
          <a:xfrm>
            <a:off x="91440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01</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91440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读取材料</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4918710" y="3219450"/>
            <a:ext cx="247650" cy="0"/>
          </a:xfrm>
          <a:prstGeom prst="line">
            <a:avLst/>
          </a:prstGeom>
          <a:noFill/>
          <a:ln w="28575">
            <a:solidFill>
              <a:srgbClr val="8FA99C"/>
            </a:solidFill>
            <a:prstDash val="solid"/>
          </a:ln>
        </p:spPr>
      </p:sp>
      <p:sp>
        <p:nvSpPr>
          <p:cNvPr id="17" name="圆角矩形 16"/>
          <p:cNvSpPr>
            <a:spLocks noGrp="1"/>
          </p:cNvSpPr>
          <p:nvPr/>
        </p:nvSpPr>
        <p:spPr>
          <a:xfrm>
            <a:off x="2945130" y="2628900"/>
            <a:ext cx="1935480" cy="1181100"/>
          </a:xfrm>
          <a:prstGeom prst="roundRect">
            <a:avLst>
              <a:gd name="adj" fmla="val 11290"/>
            </a:avLst>
          </a:prstGeom>
          <a:solidFill>
            <a:srgbClr val="F3F0E6"/>
          </a:solidFill>
          <a:ln w="9525">
            <a:solidFill>
              <a:srgbClr val="8FA99C"/>
            </a:solidFill>
            <a:prstDash val="solid"/>
          </a:ln>
        </p:spPr>
      </p:sp>
      <p:sp>
        <p:nvSpPr>
          <p:cNvPr id="18" name="矩形 17"/>
          <p:cNvSpPr>
            <a:spLocks noGrp="1"/>
          </p:cNvSpPr>
          <p:nvPr/>
        </p:nvSpPr>
        <p:spPr>
          <a:xfrm>
            <a:off x="309753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02</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309753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提出问题</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101840" y="3219450"/>
            <a:ext cx="247650" cy="0"/>
          </a:xfrm>
          <a:prstGeom prst="line">
            <a:avLst/>
          </a:prstGeom>
          <a:noFill/>
          <a:ln w="28575">
            <a:solidFill>
              <a:srgbClr val="8FA99C"/>
            </a:solidFill>
            <a:prstDash val="solid"/>
          </a:ln>
        </p:spPr>
      </p:sp>
      <p:sp>
        <p:nvSpPr>
          <p:cNvPr id="21" name="圆角矩形 20"/>
          <p:cNvSpPr>
            <a:spLocks noGrp="1"/>
          </p:cNvSpPr>
          <p:nvPr/>
        </p:nvSpPr>
        <p:spPr>
          <a:xfrm>
            <a:off x="5128260" y="2628900"/>
            <a:ext cx="1935480" cy="1181100"/>
          </a:xfrm>
          <a:prstGeom prst="roundRect">
            <a:avLst>
              <a:gd name="adj" fmla="val 11290"/>
            </a:avLst>
          </a:prstGeom>
          <a:solidFill>
            <a:srgbClr val="F3F0E6"/>
          </a:solidFill>
          <a:ln w="9525">
            <a:solidFill>
              <a:srgbClr val="8FA99C"/>
            </a:solidFill>
            <a:prstDash val="solid"/>
          </a:ln>
        </p:spPr>
      </p:sp>
      <p:sp>
        <p:nvSpPr>
          <p:cNvPr id="22" name="矩形 21"/>
          <p:cNvSpPr>
            <a:spLocks noGrp="1"/>
          </p:cNvSpPr>
          <p:nvPr/>
        </p:nvSpPr>
        <p:spPr>
          <a:xfrm>
            <a:off x="528066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03</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528066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确认答案</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直接连接符 23"/>
          <p:cNvSpPr>
            <a:spLocks noGrp="1"/>
          </p:cNvSpPr>
          <p:nvPr/>
        </p:nvSpPr>
        <p:spPr>
          <a:xfrm>
            <a:off x="9284970" y="3219450"/>
            <a:ext cx="247650" cy="0"/>
          </a:xfrm>
          <a:prstGeom prst="line">
            <a:avLst/>
          </a:prstGeom>
          <a:noFill/>
          <a:ln w="28575">
            <a:solidFill>
              <a:srgbClr val="8FA99C"/>
            </a:solidFill>
            <a:prstDash val="solid"/>
          </a:ln>
        </p:spPr>
      </p:sp>
      <p:sp>
        <p:nvSpPr>
          <p:cNvPr id="25" name="圆角矩形 24"/>
          <p:cNvSpPr>
            <a:spLocks noGrp="1"/>
          </p:cNvSpPr>
          <p:nvPr/>
        </p:nvSpPr>
        <p:spPr>
          <a:xfrm>
            <a:off x="7311390" y="2628900"/>
            <a:ext cx="1935480" cy="1181100"/>
          </a:xfrm>
          <a:prstGeom prst="roundRect">
            <a:avLst>
              <a:gd name="adj" fmla="val 11290"/>
            </a:avLst>
          </a:prstGeom>
          <a:solidFill>
            <a:srgbClr val="F3F0E6"/>
          </a:solidFill>
          <a:ln w="9525">
            <a:solidFill>
              <a:srgbClr val="8FA99C"/>
            </a:solidFill>
            <a:prstDash val="solid"/>
          </a:ln>
        </p:spPr>
      </p:sp>
      <p:sp>
        <p:nvSpPr>
          <p:cNvPr id="26" name="矩形 25"/>
          <p:cNvSpPr>
            <a:spLocks noGrp="1"/>
          </p:cNvSpPr>
          <p:nvPr/>
        </p:nvSpPr>
        <p:spPr>
          <a:xfrm>
            <a:off x="746379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04</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746379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写入文档</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9494520" y="2628900"/>
            <a:ext cx="1935480" cy="1181100"/>
          </a:xfrm>
          <a:prstGeom prst="roundRect">
            <a:avLst>
              <a:gd name="adj" fmla="val 11290"/>
            </a:avLst>
          </a:prstGeom>
          <a:solidFill>
            <a:srgbClr val="F3F0E6"/>
          </a:solidFill>
          <a:ln w="9525">
            <a:solidFill>
              <a:srgbClr val="8FA99C"/>
            </a:solidFill>
            <a:prstDash val="solid"/>
          </a:ln>
        </p:spPr>
      </p:sp>
      <p:sp>
        <p:nvSpPr>
          <p:cNvPr id="29" name="矩形 28"/>
          <p:cNvSpPr>
            <a:spLocks noGrp="1"/>
          </p:cNvSpPr>
          <p:nvPr/>
        </p:nvSpPr>
        <p:spPr>
          <a:xfrm>
            <a:off x="964692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05</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964692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等待确认</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1143000" y="4333875"/>
            <a:ext cx="9906000" cy="666750"/>
          </a:xfrm>
          <a:prstGeom prst="rect">
            <a:avLst/>
          </a:prstGeom>
          <a:noFill/>
          <a:ln w="0">
            <a:noFill/>
            <a:prstDash val="solid"/>
          </a:ln>
        </p:spPr>
        <p:txBody>
          <a:bodyPr wrap="square" lIns="0" tIns="0" rIns="0" bIns="0" anchor="ctr">
            <a:normAutofit/>
          </a:bodyPr>
          <a:lstStyle/>
          <a:p>
            <a:pPr algn="ctr">
              <a:lnSpc>
                <a:spcPct val="112000"/>
              </a:lnSpc>
              <a:buNone/>
              <a:defRPr sz="1800" b="0">
                <a:solidFill>
                  <a:srgbClr val="315F55"/>
                </a:solidFill>
                <a:latin typeface="微软雅黑" panose="020B0503020204020204" charset="-122"/>
                <a:ea typeface="微软雅黑" panose="020B0503020204020204" charset="-122"/>
                <a:cs typeface="微软雅黑" panose="020B0503020204020204" charset="-122"/>
              </a:defRPr>
            </a:pPr>
            <a:r>
              <a:rPr sz="1800" b="0">
                <a:solidFill>
                  <a:srgbClr val="315F55"/>
                </a:solidFill>
                <a:latin typeface="微软雅黑" panose="020B0503020204020204" charset="-122"/>
                <a:ea typeface="微软雅黑" panose="020B0503020204020204" charset="-122"/>
                <a:cs typeface="微软雅黑" panose="020B0503020204020204" charset="-122"/>
              </a:rPr>
              <a:t>未确认事项应明确标记，不应由Codex自行决定。</a:t>
            </a:r>
            <a:endParaRPr sz="1800" b="0">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30" name="矩形 29"/>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需求文档只保留必要内容</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04 需求</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8" name="直接连接符 7"/>
          <p:cNvSpPr>
            <a:spLocks noGrp="1"/>
          </p:cNvSpPr>
          <p:nvPr/>
        </p:nvSpPr>
        <p:spPr>
          <a:xfrm>
            <a:off x="5772150" y="6410325"/>
            <a:ext cx="1028700" cy="0"/>
          </a:xfrm>
          <a:prstGeom prst="line">
            <a:avLst/>
          </a:prstGeom>
          <a:noFill/>
          <a:ln w="38100">
            <a:solidFill>
              <a:srgbClr val="315F55"/>
            </a:solidFill>
            <a:prstDash val="solid"/>
          </a:ln>
        </p:spPr>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32</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904875" y="2000250"/>
            <a:ext cx="514350" cy="3048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01</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476375" y="1971675"/>
            <a:ext cx="2476500" cy="361950"/>
          </a:xfrm>
          <a:prstGeom prst="rect">
            <a:avLst/>
          </a:prstGeom>
          <a:noFill/>
          <a:ln w="0">
            <a:noFill/>
            <a:prstDash val="solid"/>
          </a:ln>
        </p:spPr>
        <p:txBody>
          <a:bodyPr wrap="square" lIns="0" tIns="0" rIns="0" bIns="0" anchor="t">
            <a:normAutofit/>
          </a:bodyPr>
          <a:lstStyle/>
          <a:p>
            <a:pPr algn="l">
              <a:lnSpc>
                <a:spcPct val="112000"/>
              </a:lnSpc>
              <a:buNone/>
              <a:defRPr sz="1950" b="1">
                <a:solidFill>
                  <a:srgbClr val="263431"/>
                </a:solidFill>
                <a:latin typeface="微软雅黑" panose="020B0503020204020204" charset="-122"/>
                <a:ea typeface="微软雅黑" panose="020B0503020204020204" charset="-122"/>
                <a:cs typeface="微软雅黑" panose="020B0503020204020204" charset="-122"/>
              </a:defRPr>
            </a:pPr>
            <a:r>
              <a:rPr sz="1950" b="1">
                <a:solidFill>
                  <a:srgbClr val="263431"/>
                </a:solidFill>
                <a:latin typeface="微软雅黑" panose="020B0503020204020204" charset="-122"/>
                <a:ea typeface="微软雅黑" panose="020B0503020204020204" charset="-122"/>
                <a:cs typeface="微软雅黑" panose="020B0503020204020204" charset="-122"/>
              </a:rPr>
              <a:t>背景</a:t>
            </a:r>
            <a:endParaRPr sz="195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4524375" y="2000250"/>
            <a:ext cx="514350" cy="3048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02</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5095875" y="1971675"/>
            <a:ext cx="2476500" cy="361950"/>
          </a:xfrm>
          <a:prstGeom prst="rect">
            <a:avLst/>
          </a:prstGeom>
          <a:noFill/>
          <a:ln w="0">
            <a:noFill/>
            <a:prstDash val="solid"/>
          </a:ln>
        </p:spPr>
        <p:txBody>
          <a:bodyPr wrap="square" lIns="0" tIns="0" rIns="0" bIns="0" anchor="t">
            <a:normAutofit/>
          </a:bodyPr>
          <a:lstStyle/>
          <a:p>
            <a:pPr algn="l">
              <a:lnSpc>
                <a:spcPct val="112000"/>
              </a:lnSpc>
              <a:buNone/>
              <a:defRPr sz="1950" b="1">
                <a:solidFill>
                  <a:srgbClr val="263431"/>
                </a:solidFill>
                <a:latin typeface="微软雅黑" panose="020B0503020204020204" charset="-122"/>
                <a:ea typeface="微软雅黑" panose="020B0503020204020204" charset="-122"/>
                <a:cs typeface="微软雅黑" panose="020B0503020204020204" charset="-122"/>
              </a:defRPr>
            </a:pPr>
            <a:r>
              <a:rPr sz="1950" b="1">
                <a:solidFill>
                  <a:srgbClr val="263431"/>
                </a:solidFill>
                <a:latin typeface="微软雅黑" panose="020B0503020204020204" charset="-122"/>
                <a:ea typeface="微软雅黑" panose="020B0503020204020204" charset="-122"/>
                <a:cs typeface="微软雅黑" panose="020B0503020204020204" charset="-122"/>
              </a:rPr>
              <a:t>受众</a:t>
            </a:r>
            <a:endParaRPr sz="195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8143875" y="2000250"/>
            <a:ext cx="514350" cy="3048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03</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8715375" y="1971675"/>
            <a:ext cx="2476500" cy="361950"/>
          </a:xfrm>
          <a:prstGeom prst="rect">
            <a:avLst/>
          </a:prstGeom>
          <a:noFill/>
          <a:ln w="0">
            <a:noFill/>
            <a:prstDash val="solid"/>
          </a:ln>
        </p:spPr>
        <p:txBody>
          <a:bodyPr wrap="square" lIns="0" tIns="0" rIns="0" bIns="0" anchor="t">
            <a:normAutofit/>
          </a:bodyPr>
          <a:lstStyle/>
          <a:p>
            <a:pPr algn="l">
              <a:lnSpc>
                <a:spcPct val="112000"/>
              </a:lnSpc>
              <a:buNone/>
              <a:defRPr sz="1950" b="1">
                <a:solidFill>
                  <a:srgbClr val="263431"/>
                </a:solidFill>
                <a:latin typeface="微软雅黑" panose="020B0503020204020204" charset="-122"/>
                <a:ea typeface="微软雅黑" panose="020B0503020204020204" charset="-122"/>
                <a:cs typeface="微软雅黑" panose="020B0503020204020204" charset="-122"/>
              </a:defRPr>
            </a:pPr>
            <a:r>
              <a:rPr sz="1950" b="1">
                <a:solidFill>
                  <a:srgbClr val="263431"/>
                </a:solidFill>
                <a:latin typeface="微软雅黑" panose="020B0503020204020204" charset="-122"/>
                <a:ea typeface="微软雅黑" panose="020B0503020204020204" charset="-122"/>
                <a:cs typeface="微软雅黑" panose="020B0503020204020204" charset="-122"/>
              </a:rPr>
              <a:t>目标</a:t>
            </a:r>
            <a:endParaRPr sz="195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904875" y="3105150"/>
            <a:ext cx="514350" cy="3048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04</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1476375" y="3076575"/>
            <a:ext cx="2476500" cy="361950"/>
          </a:xfrm>
          <a:prstGeom prst="rect">
            <a:avLst/>
          </a:prstGeom>
          <a:noFill/>
          <a:ln w="0">
            <a:noFill/>
            <a:prstDash val="solid"/>
          </a:ln>
        </p:spPr>
        <p:txBody>
          <a:bodyPr wrap="square" lIns="0" tIns="0" rIns="0" bIns="0" anchor="t">
            <a:normAutofit/>
          </a:bodyPr>
          <a:lstStyle/>
          <a:p>
            <a:pPr algn="l">
              <a:lnSpc>
                <a:spcPct val="112000"/>
              </a:lnSpc>
              <a:buNone/>
              <a:defRPr sz="1950" b="1">
                <a:solidFill>
                  <a:srgbClr val="263431"/>
                </a:solidFill>
                <a:latin typeface="微软雅黑" panose="020B0503020204020204" charset="-122"/>
                <a:ea typeface="微软雅黑" panose="020B0503020204020204" charset="-122"/>
                <a:cs typeface="微软雅黑" panose="020B0503020204020204" charset="-122"/>
              </a:defRPr>
            </a:pPr>
            <a:r>
              <a:rPr sz="1950" b="1">
                <a:solidFill>
                  <a:srgbClr val="263431"/>
                </a:solidFill>
                <a:latin typeface="微软雅黑" panose="020B0503020204020204" charset="-122"/>
                <a:ea typeface="微软雅黑" panose="020B0503020204020204" charset="-122"/>
                <a:cs typeface="微软雅黑" panose="020B0503020204020204" charset="-122"/>
              </a:rPr>
              <a:t>输入材料</a:t>
            </a:r>
            <a:endParaRPr sz="195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4524375" y="3105150"/>
            <a:ext cx="514350" cy="3048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05</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5095875" y="3076575"/>
            <a:ext cx="2476500" cy="361950"/>
          </a:xfrm>
          <a:prstGeom prst="rect">
            <a:avLst/>
          </a:prstGeom>
          <a:noFill/>
          <a:ln w="0">
            <a:noFill/>
            <a:prstDash val="solid"/>
          </a:ln>
        </p:spPr>
        <p:txBody>
          <a:bodyPr wrap="square" lIns="0" tIns="0" rIns="0" bIns="0" anchor="t">
            <a:normAutofit/>
          </a:bodyPr>
          <a:lstStyle/>
          <a:p>
            <a:pPr algn="l">
              <a:lnSpc>
                <a:spcPct val="112000"/>
              </a:lnSpc>
              <a:buNone/>
              <a:defRPr sz="1950" b="1">
                <a:solidFill>
                  <a:srgbClr val="263431"/>
                </a:solidFill>
                <a:latin typeface="微软雅黑" panose="020B0503020204020204" charset="-122"/>
                <a:ea typeface="微软雅黑" panose="020B0503020204020204" charset="-122"/>
                <a:cs typeface="微软雅黑" panose="020B0503020204020204" charset="-122"/>
              </a:defRPr>
            </a:pPr>
            <a:r>
              <a:rPr sz="1950" b="1">
                <a:solidFill>
                  <a:srgbClr val="263431"/>
                </a:solidFill>
                <a:latin typeface="微软雅黑" panose="020B0503020204020204" charset="-122"/>
                <a:ea typeface="微软雅黑" panose="020B0503020204020204" charset="-122"/>
                <a:cs typeface="微软雅黑" panose="020B0503020204020204" charset="-122"/>
              </a:rPr>
              <a:t>工作范围</a:t>
            </a:r>
            <a:endParaRPr sz="195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8143875" y="3105150"/>
            <a:ext cx="514350" cy="3048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06</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8715375" y="3076575"/>
            <a:ext cx="2476500" cy="361950"/>
          </a:xfrm>
          <a:prstGeom prst="rect">
            <a:avLst/>
          </a:prstGeom>
          <a:noFill/>
          <a:ln w="0">
            <a:noFill/>
            <a:prstDash val="solid"/>
          </a:ln>
        </p:spPr>
        <p:txBody>
          <a:bodyPr wrap="square" lIns="0" tIns="0" rIns="0" bIns="0" anchor="t">
            <a:normAutofit/>
          </a:bodyPr>
          <a:lstStyle/>
          <a:p>
            <a:pPr algn="l">
              <a:lnSpc>
                <a:spcPct val="112000"/>
              </a:lnSpc>
              <a:buNone/>
              <a:defRPr sz="1950" b="1">
                <a:solidFill>
                  <a:srgbClr val="263431"/>
                </a:solidFill>
                <a:latin typeface="微软雅黑" panose="020B0503020204020204" charset="-122"/>
                <a:ea typeface="微软雅黑" panose="020B0503020204020204" charset="-122"/>
                <a:cs typeface="微软雅黑" panose="020B0503020204020204" charset="-122"/>
              </a:defRPr>
            </a:pPr>
            <a:r>
              <a:rPr sz="1950" b="1">
                <a:solidFill>
                  <a:srgbClr val="263431"/>
                </a:solidFill>
                <a:latin typeface="微软雅黑" panose="020B0503020204020204" charset="-122"/>
                <a:ea typeface="微软雅黑" panose="020B0503020204020204" charset="-122"/>
                <a:cs typeface="微软雅黑" panose="020B0503020204020204" charset="-122"/>
              </a:rPr>
              <a:t>限制条件</a:t>
            </a:r>
            <a:endParaRPr sz="195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904875" y="4210050"/>
            <a:ext cx="514350" cy="3048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07</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5" name="矩形 24"/>
          <p:cNvSpPr>
            <a:spLocks noGrp="1"/>
          </p:cNvSpPr>
          <p:nvPr/>
        </p:nvSpPr>
        <p:spPr>
          <a:xfrm>
            <a:off x="1476375" y="4181475"/>
            <a:ext cx="2476500" cy="361950"/>
          </a:xfrm>
          <a:prstGeom prst="rect">
            <a:avLst/>
          </a:prstGeom>
          <a:noFill/>
          <a:ln w="0">
            <a:noFill/>
            <a:prstDash val="solid"/>
          </a:ln>
        </p:spPr>
        <p:txBody>
          <a:bodyPr wrap="square" lIns="0" tIns="0" rIns="0" bIns="0" anchor="t">
            <a:normAutofit/>
          </a:bodyPr>
          <a:lstStyle/>
          <a:p>
            <a:pPr algn="l">
              <a:lnSpc>
                <a:spcPct val="112000"/>
              </a:lnSpc>
              <a:buNone/>
              <a:defRPr sz="1950" b="1">
                <a:solidFill>
                  <a:srgbClr val="263431"/>
                </a:solidFill>
                <a:latin typeface="微软雅黑" panose="020B0503020204020204" charset="-122"/>
                <a:ea typeface="微软雅黑" panose="020B0503020204020204" charset="-122"/>
                <a:cs typeface="微软雅黑" panose="020B0503020204020204" charset="-122"/>
              </a:defRPr>
            </a:pPr>
            <a:r>
              <a:rPr sz="1950" b="1">
                <a:solidFill>
                  <a:srgbClr val="263431"/>
                </a:solidFill>
                <a:latin typeface="微软雅黑" panose="020B0503020204020204" charset="-122"/>
                <a:ea typeface="微软雅黑" panose="020B0503020204020204" charset="-122"/>
                <a:cs typeface="微软雅黑" panose="020B0503020204020204" charset="-122"/>
              </a:rPr>
              <a:t>交付物</a:t>
            </a:r>
            <a:endParaRPr sz="195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nvSpPr>
        <p:spPr>
          <a:xfrm>
            <a:off x="4524375" y="4210050"/>
            <a:ext cx="514350" cy="3048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08</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5095875" y="4181475"/>
            <a:ext cx="2476500" cy="361950"/>
          </a:xfrm>
          <a:prstGeom prst="rect">
            <a:avLst/>
          </a:prstGeom>
          <a:noFill/>
          <a:ln w="0">
            <a:noFill/>
            <a:prstDash val="solid"/>
          </a:ln>
        </p:spPr>
        <p:txBody>
          <a:bodyPr wrap="square" lIns="0" tIns="0" rIns="0" bIns="0" anchor="t">
            <a:normAutofit/>
          </a:bodyPr>
          <a:lstStyle/>
          <a:p>
            <a:pPr algn="l">
              <a:lnSpc>
                <a:spcPct val="112000"/>
              </a:lnSpc>
              <a:buNone/>
              <a:defRPr sz="1950" b="1">
                <a:solidFill>
                  <a:srgbClr val="263431"/>
                </a:solidFill>
                <a:latin typeface="微软雅黑" panose="020B0503020204020204" charset="-122"/>
                <a:ea typeface="微软雅黑" panose="020B0503020204020204" charset="-122"/>
                <a:cs typeface="微软雅黑" panose="020B0503020204020204" charset="-122"/>
              </a:defRPr>
            </a:pPr>
            <a:r>
              <a:rPr sz="1950" b="1">
                <a:solidFill>
                  <a:srgbClr val="263431"/>
                </a:solidFill>
                <a:latin typeface="微软雅黑" panose="020B0503020204020204" charset="-122"/>
                <a:ea typeface="微软雅黑" panose="020B0503020204020204" charset="-122"/>
                <a:cs typeface="微软雅黑" panose="020B0503020204020204" charset="-122"/>
              </a:rPr>
              <a:t>验收标准</a:t>
            </a:r>
            <a:endParaRPr sz="195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8143875" y="4210050"/>
            <a:ext cx="514350" cy="3048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09</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9" name="矩形 28"/>
          <p:cNvSpPr>
            <a:spLocks noGrp="1"/>
          </p:cNvSpPr>
          <p:nvPr/>
        </p:nvSpPr>
        <p:spPr>
          <a:xfrm>
            <a:off x="8715375" y="4181475"/>
            <a:ext cx="2476500" cy="361950"/>
          </a:xfrm>
          <a:prstGeom prst="rect">
            <a:avLst/>
          </a:prstGeom>
          <a:noFill/>
          <a:ln w="0">
            <a:noFill/>
            <a:prstDash val="solid"/>
          </a:ln>
        </p:spPr>
        <p:txBody>
          <a:bodyPr wrap="square" lIns="0" tIns="0" rIns="0" bIns="0" anchor="t">
            <a:normAutofit/>
          </a:bodyPr>
          <a:lstStyle/>
          <a:p>
            <a:pPr algn="l">
              <a:lnSpc>
                <a:spcPct val="112000"/>
              </a:lnSpc>
              <a:buNone/>
              <a:defRPr sz="1950" b="1">
                <a:solidFill>
                  <a:srgbClr val="263431"/>
                </a:solidFill>
                <a:latin typeface="微软雅黑" panose="020B0503020204020204" charset="-122"/>
                <a:ea typeface="微软雅黑" panose="020B0503020204020204" charset="-122"/>
                <a:cs typeface="微软雅黑" panose="020B0503020204020204" charset="-122"/>
              </a:defRPr>
            </a:pPr>
            <a:r>
              <a:rPr sz="1950" b="1">
                <a:solidFill>
                  <a:srgbClr val="263431"/>
                </a:solidFill>
                <a:latin typeface="微软雅黑" panose="020B0503020204020204" charset="-122"/>
                <a:ea typeface="微软雅黑" panose="020B0503020204020204" charset="-122"/>
                <a:cs typeface="微软雅黑" panose="020B0503020204020204" charset="-122"/>
              </a:rPr>
              <a:t>待确认事项</a:t>
            </a:r>
            <a:endParaRPr sz="1950" b="1">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7" name="矩形 16"/>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验收标准应能逐条检查</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04 需求</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8" name="直接连接符 7"/>
          <p:cNvSpPr>
            <a:spLocks noGrp="1"/>
          </p:cNvSpPr>
          <p:nvPr/>
        </p:nvSpPr>
        <p:spPr>
          <a:xfrm>
            <a:off x="5772150" y="6410325"/>
            <a:ext cx="1028700" cy="0"/>
          </a:xfrm>
          <a:prstGeom prst="line">
            <a:avLst/>
          </a:prstGeom>
          <a:noFill/>
          <a:ln w="38100">
            <a:solidFill>
              <a:srgbClr val="315F55"/>
            </a:solidFill>
            <a:prstDash val="solid"/>
          </a:ln>
        </p:spPr>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33</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6096000" y="1838325"/>
            <a:ext cx="0" cy="3857625"/>
          </a:xfrm>
          <a:prstGeom prst="line">
            <a:avLst/>
          </a:prstGeom>
          <a:noFill/>
          <a:ln w="9525">
            <a:solidFill>
              <a:srgbClr val="C9D0C8"/>
            </a:solidFill>
            <a:prstDash val="solid"/>
          </a:ln>
        </p:spPr>
      </p:sp>
      <p:sp>
        <p:nvSpPr>
          <p:cNvPr id="13" name="矩形 12"/>
          <p:cNvSpPr>
            <a:spLocks noGrp="1"/>
          </p:cNvSpPr>
          <p:nvPr/>
        </p:nvSpPr>
        <p:spPr>
          <a:xfrm>
            <a:off x="8001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较弱的表述</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6294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可以检查的表述</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001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写得专业一些</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内容尽量全面</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形成一份高质量方案</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66294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包含一页执行摘要</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列出三项主要风险及依据</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所有数据注明来源和日期</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t="27" b="27"/>
          <a:stretch>
            <a:fillRect/>
          </a:stretch>
        </p:blipFill>
        <p:spPr>
          <a:xfrm>
            <a:off x="0" y="0"/>
            <a:ext cx="12192000" cy="6858000"/>
          </a:xfrm>
          <a:prstGeom prst="rect">
            <a:avLst/>
          </a:prstGeom>
        </p:spPr>
      </p:pic>
      <p:sp>
        <p:nvSpPr>
          <p:cNvPr id="2" name="矩形 1"/>
          <p:cNvSpPr>
            <a:spLocks noGrp="1"/>
          </p:cNvSpPr>
          <p:nvPr/>
        </p:nvSpPr>
        <p:spPr>
          <a:xfrm>
            <a:off x="0" y="0"/>
            <a:ext cx="6667500" cy="6858000"/>
          </a:xfrm>
          <a:prstGeom prst="rect">
            <a:avLst/>
          </a:prstGeom>
          <a:solidFill>
            <a:srgbClr val="F3F0E6"/>
          </a:solidFill>
          <a:ln w="0">
            <a:noFill/>
            <a:prstDash val="solid"/>
          </a:ln>
        </p:spPr>
      </p:sp>
      <p:sp>
        <p:nvSpPr>
          <p:cNvPr id="3" name="矩形 2"/>
          <p:cNvSpPr>
            <a:spLocks noGrp="1"/>
          </p:cNvSpPr>
          <p:nvPr/>
        </p:nvSpPr>
        <p:spPr>
          <a:xfrm>
            <a:off x="647700" y="400050"/>
            <a:ext cx="2190750" cy="1066800"/>
          </a:xfrm>
          <a:prstGeom prst="rect">
            <a:avLst/>
          </a:prstGeom>
          <a:noFill/>
          <a:ln w="0">
            <a:noFill/>
            <a:prstDash val="solid"/>
          </a:ln>
        </p:spPr>
        <p:txBody>
          <a:bodyPr wrap="square" lIns="0" tIns="0" rIns="0" bIns="0" anchor="t">
            <a:normAutofit fontScale="96899"/>
          </a:bodyPr>
          <a:lstStyle/>
          <a:p>
            <a:pPr algn="l">
              <a:lnSpc>
                <a:spcPct val="112000"/>
              </a:lnSpc>
              <a:buNone/>
              <a:defRPr sz="6450" b="0">
                <a:solidFill>
                  <a:srgbClr val="A18458"/>
                </a:solidFill>
                <a:latin typeface="Times New Roman" panose="02020603050405020304"/>
                <a:ea typeface="Times New Roman" panose="02020603050405020304"/>
                <a:cs typeface="Times New Roman" panose="02020603050405020304"/>
              </a:defRPr>
            </a:pPr>
            <a:r>
              <a:rPr sz="6450" b="0">
                <a:solidFill>
                  <a:srgbClr val="A18458"/>
                </a:solidFill>
                <a:latin typeface="Times New Roman" panose="02020603050405020304"/>
                <a:ea typeface="Times New Roman" panose="02020603050405020304"/>
                <a:cs typeface="Times New Roman" panose="02020603050405020304"/>
              </a:rPr>
              <a:t>05</a:t>
            </a:r>
            <a:endParaRPr sz="6450" b="0">
              <a:solidFill>
                <a:srgbClr val="A18458"/>
              </a:solidFill>
              <a:latin typeface="Times New Roman" panose="02020603050405020304"/>
              <a:ea typeface="Times New Roman" panose="02020603050405020304"/>
              <a:cs typeface="Times New Roman" panose="02020603050405020304"/>
            </a:endParaRPr>
          </a:p>
        </p:txBody>
      </p:sp>
      <p:sp>
        <p:nvSpPr>
          <p:cNvPr id="4" name="直接连接符 3"/>
          <p:cNvSpPr>
            <a:spLocks noGrp="1"/>
          </p:cNvSpPr>
          <p:nvPr/>
        </p:nvSpPr>
        <p:spPr>
          <a:xfrm>
            <a:off x="704850" y="1466850"/>
            <a:ext cx="1104900" cy="0"/>
          </a:xfrm>
          <a:prstGeom prst="line">
            <a:avLst/>
          </a:prstGeom>
          <a:noFill/>
          <a:ln w="14288">
            <a:solidFill>
              <a:srgbClr val="A18458"/>
            </a:solidFill>
            <a:prstDash val="solid"/>
          </a:ln>
        </p:spPr>
      </p:sp>
      <p:sp>
        <p:nvSpPr>
          <p:cNvPr id="5" name="矩形 4"/>
          <p:cNvSpPr>
            <a:spLocks noGrp="1"/>
          </p:cNvSpPr>
          <p:nvPr/>
        </p:nvSpPr>
        <p:spPr>
          <a:xfrm>
            <a:off x="685800" y="1790700"/>
            <a:ext cx="5334000" cy="838200"/>
          </a:xfrm>
          <a:prstGeom prst="rect">
            <a:avLst/>
          </a:prstGeom>
          <a:noFill/>
          <a:ln w="0">
            <a:noFill/>
            <a:prstDash val="solid"/>
          </a:ln>
        </p:spPr>
        <p:txBody>
          <a:bodyPr wrap="square" lIns="0" tIns="0" rIns="0" bIns="0" anchor="t">
            <a:normAutofit/>
          </a:bodyPr>
          <a:lstStyle/>
          <a:p>
            <a:pPr algn="l">
              <a:lnSpc>
                <a:spcPct val="112000"/>
              </a:lnSpc>
              <a:buNone/>
              <a:defRPr sz="4050" b="0">
                <a:solidFill>
                  <a:srgbClr val="263431"/>
                </a:solidFill>
                <a:latin typeface="黑体" panose="02010609060101010101" charset="-122"/>
                <a:ea typeface="黑体" panose="02010609060101010101" charset="-122"/>
                <a:cs typeface="黑体" panose="02010609060101010101" charset="-122"/>
              </a:defRPr>
            </a:pPr>
            <a:r>
              <a:rPr sz="4050" b="0">
                <a:solidFill>
                  <a:srgbClr val="263431"/>
                </a:solidFill>
                <a:latin typeface="黑体" panose="02010609060101010101" charset="-122"/>
                <a:ea typeface="黑体" panose="02010609060101010101" charset="-122"/>
                <a:cs typeface="黑体" panose="02010609060101010101" charset="-122"/>
              </a:rPr>
              <a:t>常见工作</a:t>
            </a:r>
            <a:endParaRPr sz="4050" b="0">
              <a:solidFill>
                <a:srgbClr val="263431"/>
              </a:solidFill>
              <a:latin typeface="黑体" panose="02010609060101010101" charset="-122"/>
              <a:ea typeface="黑体" panose="02010609060101010101" charset="-122"/>
              <a:cs typeface="黑体" panose="02010609060101010101" charset="-122"/>
            </a:endParaRPr>
          </a:p>
        </p:txBody>
      </p:sp>
      <p:sp>
        <p:nvSpPr>
          <p:cNvPr id="6" name="矩形 5"/>
          <p:cNvSpPr>
            <a:spLocks noGrp="1"/>
          </p:cNvSpPr>
          <p:nvPr/>
        </p:nvSpPr>
        <p:spPr>
          <a:xfrm>
            <a:off x="781050" y="32575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01  统一工作流程</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81050" y="37147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02  编制方案</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81050" y="41719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03  审定合同</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81050" y="46291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04  获取互联网数据</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781050" y="50863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05  开发轻量软件与策略工具</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5800" y="5753100"/>
            <a:ext cx="5334000" cy="38100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本部分成果：完成真实工作，并运行一个轻量原型</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36" name="矩形 35"/>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不同工作使用同一个基本流程</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05 工作</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9" name="直接连接符 8"/>
          <p:cNvSpPr>
            <a:spLocks noGrp="1"/>
          </p:cNvSpPr>
          <p:nvPr/>
        </p:nvSpPr>
        <p:spPr>
          <a:xfrm>
            <a:off x="7410450" y="6410325"/>
            <a:ext cx="1028700" cy="0"/>
          </a:xfrm>
          <a:prstGeom prst="line">
            <a:avLst/>
          </a:prstGeom>
          <a:noFill/>
          <a:ln w="38100">
            <a:solidFill>
              <a:srgbClr val="315F55"/>
            </a:solidFill>
            <a:prstDash val="solid"/>
          </a:ln>
        </p:spPr>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35</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2371725" y="3219450"/>
            <a:ext cx="247650" cy="0"/>
          </a:xfrm>
          <a:prstGeom prst="line">
            <a:avLst/>
          </a:prstGeom>
          <a:noFill/>
          <a:ln w="28575">
            <a:solidFill>
              <a:srgbClr val="8FA99C"/>
            </a:solidFill>
            <a:prstDash val="solid"/>
          </a:ln>
        </p:spPr>
      </p:sp>
      <p:sp>
        <p:nvSpPr>
          <p:cNvPr id="13" name="圆角矩形 12"/>
          <p:cNvSpPr>
            <a:spLocks noGrp="1"/>
          </p:cNvSpPr>
          <p:nvPr/>
        </p:nvSpPr>
        <p:spPr>
          <a:xfrm>
            <a:off x="762000" y="2628900"/>
            <a:ext cx="1571625" cy="1181100"/>
          </a:xfrm>
          <a:prstGeom prst="roundRect">
            <a:avLst>
              <a:gd name="adj" fmla="val 11290"/>
            </a:avLst>
          </a:prstGeom>
          <a:solidFill>
            <a:srgbClr val="F3F0E6"/>
          </a:solidFill>
          <a:ln w="9525">
            <a:solidFill>
              <a:srgbClr val="8FA99C"/>
            </a:solidFill>
            <a:prstDash val="solid"/>
          </a:ln>
        </p:spPr>
      </p:sp>
      <p:sp>
        <p:nvSpPr>
          <p:cNvPr id="14" name="矩形 13"/>
          <p:cNvSpPr>
            <a:spLocks noGrp="1"/>
          </p:cNvSpPr>
          <p:nvPr/>
        </p:nvSpPr>
        <p:spPr>
          <a:xfrm>
            <a:off x="914400" y="2800350"/>
            <a:ext cx="1266825"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01</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914400" y="3095625"/>
            <a:ext cx="1266825"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材料</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4191000" y="3219450"/>
            <a:ext cx="247650" cy="0"/>
          </a:xfrm>
          <a:prstGeom prst="line">
            <a:avLst/>
          </a:prstGeom>
          <a:noFill/>
          <a:ln w="28575">
            <a:solidFill>
              <a:srgbClr val="8FA99C"/>
            </a:solidFill>
            <a:prstDash val="solid"/>
          </a:ln>
        </p:spPr>
      </p:sp>
      <p:sp>
        <p:nvSpPr>
          <p:cNvPr id="17" name="圆角矩形 16"/>
          <p:cNvSpPr>
            <a:spLocks noGrp="1"/>
          </p:cNvSpPr>
          <p:nvPr/>
        </p:nvSpPr>
        <p:spPr>
          <a:xfrm>
            <a:off x="2581275" y="2628900"/>
            <a:ext cx="1571625" cy="1181100"/>
          </a:xfrm>
          <a:prstGeom prst="roundRect">
            <a:avLst>
              <a:gd name="adj" fmla="val 11290"/>
            </a:avLst>
          </a:prstGeom>
          <a:solidFill>
            <a:srgbClr val="F3F0E6"/>
          </a:solidFill>
          <a:ln w="9525">
            <a:solidFill>
              <a:srgbClr val="8FA99C"/>
            </a:solidFill>
            <a:prstDash val="solid"/>
          </a:ln>
        </p:spPr>
      </p:sp>
      <p:sp>
        <p:nvSpPr>
          <p:cNvPr id="18" name="矩形 17"/>
          <p:cNvSpPr>
            <a:spLocks noGrp="1"/>
          </p:cNvSpPr>
          <p:nvPr/>
        </p:nvSpPr>
        <p:spPr>
          <a:xfrm>
            <a:off x="2733675" y="2800350"/>
            <a:ext cx="1266825"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02</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2733675" y="3095625"/>
            <a:ext cx="1266825"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澄清</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6010275" y="3219450"/>
            <a:ext cx="247650" cy="0"/>
          </a:xfrm>
          <a:prstGeom prst="line">
            <a:avLst/>
          </a:prstGeom>
          <a:noFill/>
          <a:ln w="28575">
            <a:solidFill>
              <a:srgbClr val="8FA99C"/>
            </a:solidFill>
            <a:prstDash val="solid"/>
          </a:ln>
        </p:spPr>
      </p:sp>
      <p:sp>
        <p:nvSpPr>
          <p:cNvPr id="21" name="圆角矩形 20"/>
          <p:cNvSpPr>
            <a:spLocks noGrp="1"/>
          </p:cNvSpPr>
          <p:nvPr/>
        </p:nvSpPr>
        <p:spPr>
          <a:xfrm>
            <a:off x="4400550" y="2628900"/>
            <a:ext cx="1571625" cy="1181100"/>
          </a:xfrm>
          <a:prstGeom prst="roundRect">
            <a:avLst>
              <a:gd name="adj" fmla="val 11290"/>
            </a:avLst>
          </a:prstGeom>
          <a:solidFill>
            <a:srgbClr val="F3F0E6"/>
          </a:solidFill>
          <a:ln w="9525">
            <a:solidFill>
              <a:srgbClr val="8FA99C"/>
            </a:solidFill>
            <a:prstDash val="solid"/>
          </a:ln>
        </p:spPr>
      </p:sp>
      <p:sp>
        <p:nvSpPr>
          <p:cNvPr id="22" name="矩形 21"/>
          <p:cNvSpPr>
            <a:spLocks noGrp="1"/>
          </p:cNvSpPr>
          <p:nvPr/>
        </p:nvSpPr>
        <p:spPr>
          <a:xfrm>
            <a:off x="4552950" y="2800350"/>
            <a:ext cx="1266825"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03</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4552950" y="3095625"/>
            <a:ext cx="1266825"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需求</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直接连接符 23"/>
          <p:cNvSpPr>
            <a:spLocks noGrp="1"/>
          </p:cNvSpPr>
          <p:nvPr/>
        </p:nvSpPr>
        <p:spPr>
          <a:xfrm>
            <a:off x="7829550" y="3219450"/>
            <a:ext cx="247650" cy="0"/>
          </a:xfrm>
          <a:prstGeom prst="line">
            <a:avLst/>
          </a:prstGeom>
          <a:noFill/>
          <a:ln w="28575">
            <a:solidFill>
              <a:srgbClr val="8FA99C"/>
            </a:solidFill>
            <a:prstDash val="solid"/>
          </a:ln>
        </p:spPr>
      </p:sp>
      <p:sp>
        <p:nvSpPr>
          <p:cNvPr id="25" name="圆角矩形 24"/>
          <p:cNvSpPr>
            <a:spLocks noGrp="1"/>
          </p:cNvSpPr>
          <p:nvPr/>
        </p:nvSpPr>
        <p:spPr>
          <a:xfrm>
            <a:off x="6219825" y="2628900"/>
            <a:ext cx="1571625" cy="1181100"/>
          </a:xfrm>
          <a:prstGeom prst="roundRect">
            <a:avLst>
              <a:gd name="adj" fmla="val 11290"/>
            </a:avLst>
          </a:prstGeom>
          <a:solidFill>
            <a:srgbClr val="F3F0E6"/>
          </a:solidFill>
          <a:ln w="9525">
            <a:solidFill>
              <a:srgbClr val="8FA99C"/>
            </a:solidFill>
            <a:prstDash val="solid"/>
          </a:ln>
        </p:spPr>
      </p:sp>
      <p:sp>
        <p:nvSpPr>
          <p:cNvPr id="26" name="矩形 25"/>
          <p:cNvSpPr>
            <a:spLocks noGrp="1"/>
          </p:cNvSpPr>
          <p:nvPr/>
        </p:nvSpPr>
        <p:spPr>
          <a:xfrm>
            <a:off x="6372225" y="2800350"/>
            <a:ext cx="1266825"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04</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6372225" y="3095625"/>
            <a:ext cx="1266825"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执行</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8" name="直接连接符 27"/>
          <p:cNvSpPr>
            <a:spLocks noGrp="1"/>
          </p:cNvSpPr>
          <p:nvPr/>
        </p:nvSpPr>
        <p:spPr>
          <a:xfrm>
            <a:off x="9648825" y="3219450"/>
            <a:ext cx="247650" cy="0"/>
          </a:xfrm>
          <a:prstGeom prst="line">
            <a:avLst/>
          </a:prstGeom>
          <a:noFill/>
          <a:ln w="28575">
            <a:solidFill>
              <a:srgbClr val="8FA99C"/>
            </a:solidFill>
            <a:prstDash val="solid"/>
          </a:ln>
        </p:spPr>
      </p:sp>
      <p:sp>
        <p:nvSpPr>
          <p:cNvPr id="29" name="圆角矩形 28"/>
          <p:cNvSpPr>
            <a:spLocks noGrp="1"/>
          </p:cNvSpPr>
          <p:nvPr/>
        </p:nvSpPr>
        <p:spPr>
          <a:xfrm>
            <a:off x="8039100" y="2628900"/>
            <a:ext cx="1571625" cy="1181100"/>
          </a:xfrm>
          <a:prstGeom prst="roundRect">
            <a:avLst>
              <a:gd name="adj" fmla="val 11290"/>
            </a:avLst>
          </a:prstGeom>
          <a:solidFill>
            <a:srgbClr val="F3F0E6"/>
          </a:solidFill>
          <a:ln w="9525">
            <a:solidFill>
              <a:srgbClr val="8FA99C"/>
            </a:solidFill>
            <a:prstDash val="solid"/>
          </a:ln>
        </p:spPr>
      </p:sp>
      <p:sp>
        <p:nvSpPr>
          <p:cNvPr id="30" name="矩形 29"/>
          <p:cNvSpPr>
            <a:spLocks noGrp="1"/>
          </p:cNvSpPr>
          <p:nvPr/>
        </p:nvSpPr>
        <p:spPr>
          <a:xfrm>
            <a:off x="8191500" y="2800350"/>
            <a:ext cx="1266825"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05</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8191500" y="3095625"/>
            <a:ext cx="1266825"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检查</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2" name="圆角矩形 31"/>
          <p:cNvSpPr>
            <a:spLocks noGrp="1"/>
          </p:cNvSpPr>
          <p:nvPr/>
        </p:nvSpPr>
        <p:spPr>
          <a:xfrm>
            <a:off x="9858375" y="2628900"/>
            <a:ext cx="1571625" cy="1181100"/>
          </a:xfrm>
          <a:prstGeom prst="roundRect">
            <a:avLst>
              <a:gd name="adj" fmla="val 11290"/>
            </a:avLst>
          </a:prstGeom>
          <a:solidFill>
            <a:srgbClr val="F3F0E6"/>
          </a:solidFill>
          <a:ln w="9525">
            <a:solidFill>
              <a:srgbClr val="8FA99C"/>
            </a:solidFill>
            <a:prstDash val="solid"/>
          </a:ln>
        </p:spPr>
      </p:sp>
      <p:sp>
        <p:nvSpPr>
          <p:cNvPr id="33" name="矩形 32"/>
          <p:cNvSpPr>
            <a:spLocks noGrp="1"/>
          </p:cNvSpPr>
          <p:nvPr/>
        </p:nvSpPr>
        <p:spPr>
          <a:xfrm>
            <a:off x="10010775" y="2800350"/>
            <a:ext cx="1266825"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06</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34" name="矩形 33"/>
          <p:cNvSpPr>
            <a:spLocks noGrp="1"/>
          </p:cNvSpPr>
          <p:nvPr/>
        </p:nvSpPr>
        <p:spPr>
          <a:xfrm>
            <a:off x="10010775" y="3095625"/>
            <a:ext cx="1266825"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交付</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5" name="矩形 34"/>
          <p:cNvSpPr>
            <a:spLocks noGrp="1"/>
          </p:cNvSpPr>
          <p:nvPr/>
        </p:nvSpPr>
        <p:spPr>
          <a:xfrm>
            <a:off x="1143000" y="4333875"/>
            <a:ext cx="9906000" cy="666750"/>
          </a:xfrm>
          <a:prstGeom prst="rect">
            <a:avLst/>
          </a:prstGeom>
          <a:noFill/>
          <a:ln w="0">
            <a:noFill/>
            <a:prstDash val="solid"/>
          </a:ln>
        </p:spPr>
        <p:txBody>
          <a:bodyPr wrap="square" lIns="0" tIns="0" rIns="0" bIns="0" anchor="ctr">
            <a:normAutofit/>
          </a:bodyPr>
          <a:lstStyle/>
          <a:p>
            <a:pPr algn="ctr">
              <a:lnSpc>
                <a:spcPct val="112000"/>
              </a:lnSpc>
              <a:buNone/>
              <a:defRPr sz="1800" b="0">
                <a:solidFill>
                  <a:srgbClr val="315F55"/>
                </a:solidFill>
                <a:latin typeface="微软雅黑" panose="020B0503020204020204" charset="-122"/>
                <a:ea typeface="微软雅黑" panose="020B0503020204020204" charset="-122"/>
                <a:cs typeface="微软雅黑" panose="020B0503020204020204" charset="-122"/>
              </a:defRPr>
            </a:pPr>
            <a:r>
              <a:rPr sz="1800" b="0">
                <a:solidFill>
                  <a:srgbClr val="315F55"/>
                </a:solidFill>
                <a:latin typeface="微软雅黑" panose="020B0503020204020204" charset="-122"/>
                <a:ea typeface="微软雅黑" panose="020B0503020204020204" charset="-122"/>
                <a:cs typeface="微软雅黑" panose="020B0503020204020204" charset="-122"/>
              </a:rPr>
              <a:t>变化的是专业内容，不变的是工作秩序。</a:t>
            </a:r>
            <a:endParaRPr sz="1800" b="0">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4" name="矩形 23"/>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方案用于支持一次具体决定</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05 工作</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9" name="直接连接符 8"/>
          <p:cNvSpPr>
            <a:spLocks noGrp="1"/>
          </p:cNvSpPr>
          <p:nvPr/>
        </p:nvSpPr>
        <p:spPr>
          <a:xfrm>
            <a:off x="7410450" y="6410325"/>
            <a:ext cx="1028700" cy="0"/>
          </a:xfrm>
          <a:prstGeom prst="line">
            <a:avLst/>
          </a:prstGeom>
          <a:noFill/>
          <a:ln w="38100">
            <a:solidFill>
              <a:srgbClr val="315F55"/>
            </a:solidFill>
            <a:prstDash val="solid"/>
          </a:ln>
        </p:spPr>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36</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95350" y="1952625"/>
            <a:ext cx="1238250"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315F55"/>
                </a:solidFill>
                <a:latin typeface="微软雅黑" panose="020B0503020204020204" charset="-122"/>
                <a:ea typeface="微软雅黑" panose="020B0503020204020204" charset="-122"/>
                <a:cs typeface="微软雅黑" panose="020B0503020204020204" charset="-122"/>
              </a:defRPr>
            </a:pPr>
            <a:r>
              <a:rPr sz="1875" b="1">
                <a:solidFill>
                  <a:srgbClr val="315F55"/>
                </a:solidFill>
                <a:latin typeface="微软雅黑" panose="020B0503020204020204" charset="-122"/>
                <a:ea typeface="微软雅黑" panose="020B0503020204020204" charset="-122"/>
                <a:cs typeface="微软雅黑" panose="020B0503020204020204" charset="-122"/>
              </a:rPr>
              <a:t>背景</a:t>
            </a:r>
            <a:endParaRPr sz="187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2228850" y="1952625"/>
            <a:ext cx="3619500" cy="666750"/>
          </a:xfrm>
          <a:prstGeom prst="rect">
            <a:avLst/>
          </a:prstGeom>
          <a:noFill/>
          <a:ln w="0">
            <a:noFill/>
            <a:prstDash val="solid"/>
          </a:ln>
        </p:spPr>
        <p:txBody>
          <a:bodyPr wrap="square" lIns="0" tIns="0" rIns="0" bIns="0" anchor="t">
            <a:normAutofit/>
          </a:bodyPr>
          <a:lstStyle/>
          <a:p>
            <a:pPr algn="l">
              <a:lnSpc>
                <a:spcPct val="11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为什么现在需要讨论</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419850" y="1952625"/>
            <a:ext cx="1238250"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315F55"/>
                </a:solidFill>
                <a:latin typeface="微软雅黑" panose="020B0503020204020204" charset="-122"/>
                <a:ea typeface="微软雅黑" panose="020B0503020204020204" charset="-122"/>
                <a:cs typeface="微软雅黑" panose="020B0503020204020204" charset="-122"/>
              </a:defRPr>
            </a:pPr>
            <a:r>
              <a:rPr sz="1875" b="1">
                <a:solidFill>
                  <a:srgbClr val="315F55"/>
                </a:solidFill>
                <a:latin typeface="微软雅黑" panose="020B0503020204020204" charset="-122"/>
                <a:ea typeface="微软雅黑" panose="020B0503020204020204" charset="-122"/>
                <a:cs typeface="微软雅黑" panose="020B0503020204020204" charset="-122"/>
              </a:rPr>
              <a:t>问题</a:t>
            </a:r>
            <a:endParaRPr sz="187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7753350" y="1952625"/>
            <a:ext cx="3619500" cy="666750"/>
          </a:xfrm>
          <a:prstGeom prst="rect">
            <a:avLst/>
          </a:prstGeom>
          <a:noFill/>
          <a:ln w="0">
            <a:noFill/>
            <a:prstDash val="solid"/>
          </a:ln>
        </p:spPr>
        <p:txBody>
          <a:bodyPr wrap="square" lIns="0" tIns="0" rIns="0" bIns="0" anchor="t">
            <a:normAutofit/>
          </a:bodyPr>
          <a:lstStyle/>
          <a:p>
            <a:pPr algn="l">
              <a:lnSpc>
                <a:spcPct val="11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需要解决什么</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895350" y="3152775"/>
            <a:ext cx="1238250"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315F55"/>
                </a:solidFill>
                <a:latin typeface="微软雅黑" panose="020B0503020204020204" charset="-122"/>
                <a:ea typeface="微软雅黑" panose="020B0503020204020204" charset="-122"/>
                <a:cs typeface="微软雅黑" panose="020B0503020204020204" charset="-122"/>
              </a:defRPr>
            </a:pPr>
            <a:r>
              <a:rPr sz="1875" b="1">
                <a:solidFill>
                  <a:srgbClr val="315F55"/>
                </a:solidFill>
                <a:latin typeface="微软雅黑" panose="020B0503020204020204" charset="-122"/>
                <a:ea typeface="微软雅黑" panose="020B0503020204020204" charset="-122"/>
                <a:cs typeface="微软雅黑" panose="020B0503020204020204" charset="-122"/>
              </a:rPr>
              <a:t>选择</a:t>
            </a:r>
            <a:endParaRPr sz="187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2228850" y="3152775"/>
            <a:ext cx="3619500" cy="666750"/>
          </a:xfrm>
          <a:prstGeom prst="rect">
            <a:avLst/>
          </a:prstGeom>
          <a:noFill/>
          <a:ln w="0">
            <a:noFill/>
            <a:prstDash val="solid"/>
          </a:ln>
        </p:spPr>
        <p:txBody>
          <a:bodyPr wrap="square" lIns="0" tIns="0" rIns="0" bIns="0" anchor="t">
            <a:normAutofit/>
          </a:bodyPr>
          <a:lstStyle/>
          <a:p>
            <a:pPr algn="l">
              <a:lnSpc>
                <a:spcPct val="11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有哪些可行方向</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6419850" y="3152775"/>
            <a:ext cx="1238250"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315F55"/>
                </a:solidFill>
                <a:latin typeface="微软雅黑" panose="020B0503020204020204" charset="-122"/>
                <a:ea typeface="微软雅黑" panose="020B0503020204020204" charset="-122"/>
                <a:cs typeface="微软雅黑" panose="020B0503020204020204" charset="-122"/>
              </a:defRPr>
            </a:pPr>
            <a:r>
              <a:rPr sz="1875" b="1">
                <a:solidFill>
                  <a:srgbClr val="315F55"/>
                </a:solidFill>
                <a:latin typeface="微软雅黑" panose="020B0503020204020204" charset="-122"/>
                <a:ea typeface="微软雅黑" panose="020B0503020204020204" charset="-122"/>
                <a:cs typeface="微软雅黑" panose="020B0503020204020204" charset="-122"/>
              </a:rPr>
              <a:t>建议</a:t>
            </a:r>
            <a:endParaRPr sz="187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7753350" y="3152775"/>
            <a:ext cx="3619500" cy="666750"/>
          </a:xfrm>
          <a:prstGeom prst="rect">
            <a:avLst/>
          </a:prstGeom>
          <a:noFill/>
          <a:ln w="0">
            <a:noFill/>
            <a:prstDash val="solid"/>
          </a:ln>
        </p:spPr>
        <p:txBody>
          <a:bodyPr wrap="square" lIns="0" tIns="0" rIns="0" bIns="0" anchor="t">
            <a:normAutofit/>
          </a:bodyPr>
          <a:lstStyle/>
          <a:p>
            <a:pPr algn="l">
              <a:lnSpc>
                <a:spcPct val="11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推荐什么及其理由</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895350" y="4352925"/>
            <a:ext cx="1238250"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315F55"/>
                </a:solidFill>
                <a:latin typeface="微软雅黑" panose="020B0503020204020204" charset="-122"/>
                <a:ea typeface="微软雅黑" panose="020B0503020204020204" charset="-122"/>
                <a:cs typeface="微软雅黑" panose="020B0503020204020204" charset="-122"/>
              </a:defRPr>
            </a:pPr>
            <a:r>
              <a:rPr sz="1875" b="1">
                <a:solidFill>
                  <a:srgbClr val="315F55"/>
                </a:solidFill>
                <a:latin typeface="微软雅黑" panose="020B0503020204020204" charset="-122"/>
                <a:ea typeface="微软雅黑" panose="020B0503020204020204" charset="-122"/>
                <a:cs typeface="微软雅黑" panose="020B0503020204020204" charset="-122"/>
              </a:rPr>
              <a:t>风险</a:t>
            </a:r>
            <a:endParaRPr sz="187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2228850" y="4352925"/>
            <a:ext cx="3619500" cy="666750"/>
          </a:xfrm>
          <a:prstGeom prst="rect">
            <a:avLst/>
          </a:prstGeom>
          <a:noFill/>
          <a:ln w="0">
            <a:noFill/>
            <a:prstDash val="solid"/>
          </a:ln>
        </p:spPr>
        <p:txBody>
          <a:bodyPr wrap="square" lIns="0" tIns="0" rIns="0" bIns="0" anchor="t">
            <a:normAutofit/>
          </a:bodyPr>
          <a:lstStyle/>
          <a:p>
            <a:pPr algn="l">
              <a:lnSpc>
                <a:spcPct val="11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可能出现什么问题</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6419850" y="4352925"/>
            <a:ext cx="1238250" cy="361950"/>
          </a:xfrm>
          <a:prstGeom prst="rect">
            <a:avLst/>
          </a:prstGeom>
          <a:noFill/>
          <a:ln w="0">
            <a:noFill/>
            <a:prstDash val="solid"/>
          </a:ln>
        </p:spPr>
        <p:txBody>
          <a:bodyPr wrap="square" lIns="0" tIns="0" rIns="0" bIns="0" anchor="t">
            <a:normAutofit/>
          </a:bodyPr>
          <a:lstStyle/>
          <a:p>
            <a:pPr algn="l">
              <a:lnSpc>
                <a:spcPct val="112000"/>
              </a:lnSpc>
              <a:buNone/>
              <a:defRPr sz="1875" b="1">
                <a:solidFill>
                  <a:srgbClr val="315F55"/>
                </a:solidFill>
                <a:latin typeface="微软雅黑" panose="020B0503020204020204" charset="-122"/>
                <a:ea typeface="微软雅黑" panose="020B0503020204020204" charset="-122"/>
                <a:cs typeface="微软雅黑" panose="020B0503020204020204" charset="-122"/>
              </a:defRPr>
            </a:pPr>
            <a:r>
              <a:rPr sz="1875" b="1">
                <a:solidFill>
                  <a:srgbClr val="315F55"/>
                </a:solidFill>
                <a:latin typeface="微软雅黑" panose="020B0503020204020204" charset="-122"/>
                <a:ea typeface="微软雅黑" panose="020B0503020204020204" charset="-122"/>
                <a:cs typeface="微软雅黑" panose="020B0503020204020204" charset="-122"/>
              </a:rPr>
              <a:t>下一步</a:t>
            </a:r>
            <a:endParaRPr sz="187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7753350" y="4352925"/>
            <a:ext cx="3619500" cy="666750"/>
          </a:xfrm>
          <a:prstGeom prst="rect">
            <a:avLst/>
          </a:prstGeom>
          <a:noFill/>
          <a:ln w="0">
            <a:noFill/>
            <a:prstDash val="solid"/>
          </a:ln>
        </p:spPr>
        <p:txBody>
          <a:bodyPr wrap="square" lIns="0" tIns="0" rIns="0" bIns="0" anchor="t">
            <a:normAutofit/>
          </a:bodyPr>
          <a:lstStyle/>
          <a:p>
            <a:pPr algn="l">
              <a:lnSpc>
                <a:spcPct val="11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需要谁作出什么决定</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3" name="矩形 22"/>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练习</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编制数据中心前期建议书</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05 工作</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7410450" y="6410325"/>
            <a:ext cx="1028700" cy="0"/>
          </a:xfrm>
          <a:prstGeom prst="line">
            <a:avLst/>
          </a:prstGeom>
          <a:noFill/>
          <a:ln w="38100">
            <a:solidFill>
              <a:srgbClr val="315F55"/>
            </a:solidFill>
            <a:prstDash val="solid"/>
          </a:ln>
        </p:spPr>
      </p:sp>
      <p:sp>
        <p:nvSpPr>
          <p:cNvPr id="11" name="矩形 10"/>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37</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62000" y="1695450"/>
            <a:ext cx="10668000" cy="666750"/>
          </a:xfrm>
          <a:prstGeom prst="rect">
            <a:avLst/>
          </a:prstGeom>
          <a:noFill/>
          <a:ln w="0">
            <a:noFill/>
            <a:prstDash val="solid"/>
          </a:ln>
        </p:spPr>
        <p:txBody>
          <a:bodyPr wrap="square" lIns="0" tIns="0" rIns="0" bIns="0" anchor="ctr">
            <a:normAutofit/>
          </a:bodyPr>
          <a:lstStyle/>
          <a:p>
            <a:pPr algn="l">
              <a:lnSpc>
                <a:spcPct val="112000"/>
              </a:lnSpc>
              <a:buNone/>
              <a:defRPr sz="2250" b="1">
                <a:solidFill>
                  <a:srgbClr val="315F55"/>
                </a:solidFill>
                <a:latin typeface="微软雅黑" panose="020B0503020204020204" charset="-122"/>
                <a:ea typeface="微软雅黑" panose="020B0503020204020204" charset="-122"/>
                <a:cs typeface="微软雅黑" panose="020B0503020204020204" charset="-122"/>
              </a:defRPr>
            </a:pPr>
            <a:r>
              <a:rPr sz="2250" b="1">
                <a:solidFill>
                  <a:srgbClr val="315F55"/>
                </a:solidFill>
                <a:latin typeface="微软雅黑" panose="020B0503020204020204" charset="-122"/>
                <a:ea typeface="微软雅黑" panose="020B0503020204020204" charset="-122"/>
                <a:cs typeface="微软雅黑" panose="020B0503020204020204" charset="-122"/>
              </a:rPr>
              <a:t>用真实材料完成一份便于Sponsor决策的建议书。</a:t>
            </a:r>
            <a:endParaRPr sz="225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762000" y="2476500"/>
            <a:ext cx="10668000" cy="0"/>
          </a:xfrm>
          <a:prstGeom prst="line">
            <a:avLst/>
          </a:prstGeom>
          <a:noFill/>
          <a:ln w="9525">
            <a:solidFill>
              <a:srgbClr val="E3E8E1"/>
            </a:solidFill>
            <a:prstDash val="solid"/>
          </a:ln>
        </p:spPr>
      </p:sp>
      <p:sp>
        <p:nvSpPr>
          <p:cNvPr id="15" name="矩形 14"/>
          <p:cNvSpPr>
            <a:spLocks noGrp="1"/>
          </p:cNvSpPr>
          <p:nvPr/>
        </p:nvSpPr>
        <p:spPr>
          <a:xfrm>
            <a:off x="7810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材料</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7810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项目背景</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已有资料</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主要约束</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4057650" y="2819400"/>
            <a:ext cx="0" cy="2714625"/>
          </a:xfrm>
          <a:prstGeom prst="line">
            <a:avLst/>
          </a:prstGeom>
          <a:noFill/>
          <a:ln w="9525">
            <a:solidFill>
              <a:srgbClr val="C9D0C8"/>
            </a:solidFill>
            <a:prstDash val="solid"/>
          </a:ln>
        </p:spPr>
      </p:sp>
      <p:sp>
        <p:nvSpPr>
          <p:cNvPr id="18" name="矩形 17"/>
          <p:cNvSpPr>
            <a:spLocks noGrp="1"/>
          </p:cNvSpPr>
          <p:nvPr/>
        </p:nvSpPr>
        <p:spPr>
          <a:xfrm>
            <a:off x="43624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成果</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43624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执行摘要</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方案正文</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风险和下一步</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639050" y="2819400"/>
            <a:ext cx="0" cy="2714625"/>
          </a:xfrm>
          <a:prstGeom prst="line">
            <a:avLst/>
          </a:prstGeom>
          <a:noFill/>
          <a:ln w="9525">
            <a:solidFill>
              <a:srgbClr val="C9D0C8"/>
            </a:solidFill>
            <a:prstDash val="solid"/>
          </a:ln>
        </p:spPr>
      </p:sp>
      <p:sp>
        <p:nvSpPr>
          <p:cNvPr id="21" name="矩形 20"/>
          <p:cNvSpPr>
            <a:spLocks noGrp="1"/>
          </p:cNvSpPr>
          <p:nvPr/>
        </p:nvSpPr>
        <p:spPr>
          <a:xfrm>
            <a:off x="79438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A18458"/>
                </a:solidFill>
                <a:latin typeface="微软雅黑" panose="020B0503020204020204" charset="-122"/>
                <a:ea typeface="微软雅黑" panose="020B0503020204020204" charset="-122"/>
                <a:cs typeface="微软雅黑" panose="020B0503020204020204" charset="-122"/>
              </a:defRPr>
            </a:pPr>
            <a:r>
              <a:rPr sz="1500" b="1">
                <a:solidFill>
                  <a:srgbClr val="A18458"/>
                </a:solidFill>
                <a:latin typeface="微软雅黑" panose="020B0503020204020204" charset="-122"/>
                <a:ea typeface="微软雅黑" panose="020B0503020204020204" charset="-122"/>
                <a:cs typeface="微软雅黑" panose="020B0503020204020204" charset="-122"/>
              </a:rPr>
              <a:t>检查</a:t>
            </a:r>
            <a:endParaRPr sz="15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79438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建议是否明确</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依据是否充分</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是否便于决策</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4" name="矩形 23"/>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合同审查要回到具体条款</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05 工作</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9" name="直接连接符 8"/>
          <p:cNvSpPr>
            <a:spLocks noGrp="1"/>
          </p:cNvSpPr>
          <p:nvPr/>
        </p:nvSpPr>
        <p:spPr>
          <a:xfrm>
            <a:off x="7410450" y="6410325"/>
            <a:ext cx="1028700" cy="0"/>
          </a:xfrm>
          <a:prstGeom prst="line">
            <a:avLst/>
          </a:prstGeom>
          <a:noFill/>
          <a:ln w="38100">
            <a:solidFill>
              <a:srgbClr val="315F55"/>
            </a:solidFill>
            <a:prstDash val="solid"/>
          </a:ln>
        </p:spPr>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38</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00100" y="2114550"/>
            <a:ext cx="1905000" cy="3810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条款</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2943225" y="2114550"/>
            <a:ext cx="1905000" cy="3810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8A4D42"/>
                </a:solidFill>
                <a:latin typeface="微软雅黑" panose="020B0503020204020204" charset="-122"/>
                <a:ea typeface="微软雅黑" panose="020B0503020204020204" charset="-122"/>
                <a:cs typeface="微软雅黑" panose="020B0503020204020204" charset="-122"/>
              </a:defRPr>
            </a:pPr>
            <a:r>
              <a:rPr sz="1800" b="1">
                <a:solidFill>
                  <a:srgbClr val="8A4D42"/>
                </a:solidFill>
                <a:latin typeface="微软雅黑" panose="020B0503020204020204" charset="-122"/>
                <a:ea typeface="微软雅黑" panose="020B0503020204020204" charset="-122"/>
                <a:cs typeface="微软雅黑" panose="020B0503020204020204" charset="-122"/>
              </a:rPr>
              <a:t>风险</a:t>
            </a:r>
            <a:endParaRPr sz="1800" b="1">
              <a:solidFill>
                <a:srgbClr val="8A4D42"/>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5086350" y="2114550"/>
            <a:ext cx="1905000" cy="3810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影响</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7229475" y="2114550"/>
            <a:ext cx="1905000" cy="3810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建议</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9372600" y="2114550"/>
            <a:ext cx="1905000" cy="38100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待确认</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800100" y="2667000"/>
            <a:ext cx="10572750" cy="0"/>
          </a:xfrm>
          <a:prstGeom prst="line">
            <a:avLst/>
          </a:prstGeom>
          <a:noFill/>
          <a:ln w="19050">
            <a:solidFill>
              <a:srgbClr val="8FA99C"/>
            </a:solidFill>
            <a:prstDash val="solid"/>
          </a:ln>
        </p:spPr>
      </p:sp>
      <p:sp>
        <p:nvSpPr>
          <p:cNvPr id="18" name="矩形 17"/>
          <p:cNvSpPr>
            <a:spLocks noGrp="1"/>
          </p:cNvSpPr>
          <p:nvPr/>
        </p:nvSpPr>
        <p:spPr>
          <a:xfrm>
            <a:off x="800100" y="3086100"/>
            <a:ext cx="1905000" cy="400050"/>
          </a:xfrm>
          <a:prstGeom prst="rect">
            <a:avLst/>
          </a:prstGeom>
          <a:noFill/>
          <a:ln w="0">
            <a:noFill/>
            <a:prstDash val="solid"/>
          </a:ln>
        </p:spPr>
        <p:txBody>
          <a:bodyPr wrap="square" lIns="0" tIns="0" rIns="0" bIns="0" anchor="t">
            <a:normAutofit/>
          </a:bodyPr>
          <a:lstStyle/>
          <a:p>
            <a:pPr algn="ctr">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编号与原文</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2943225" y="3086100"/>
            <a:ext cx="1905000" cy="400050"/>
          </a:xfrm>
          <a:prstGeom prst="rect">
            <a:avLst/>
          </a:prstGeom>
          <a:noFill/>
          <a:ln w="0">
            <a:noFill/>
            <a:prstDash val="solid"/>
          </a:ln>
        </p:spPr>
        <p:txBody>
          <a:bodyPr wrap="square" lIns="0" tIns="0" rIns="0" bIns="0" anchor="t">
            <a:normAutofit/>
          </a:bodyPr>
          <a:lstStyle/>
          <a:p>
            <a:pPr algn="ctr">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发生什么</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5086350" y="3086100"/>
            <a:ext cx="1905000" cy="400050"/>
          </a:xfrm>
          <a:prstGeom prst="rect">
            <a:avLst/>
          </a:prstGeom>
          <a:noFill/>
          <a:ln w="0">
            <a:noFill/>
            <a:prstDash val="solid"/>
          </a:ln>
        </p:spPr>
        <p:txBody>
          <a:bodyPr wrap="square" lIns="0" tIns="0" rIns="0" bIns="0" anchor="t">
            <a:normAutofit/>
          </a:bodyPr>
          <a:lstStyle/>
          <a:p>
            <a:pPr algn="ctr">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业务后果</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7229475" y="3086100"/>
            <a:ext cx="1905000" cy="400050"/>
          </a:xfrm>
          <a:prstGeom prst="rect">
            <a:avLst/>
          </a:prstGeom>
          <a:noFill/>
          <a:ln w="0">
            <a:noFill/>
            <a:prstDash val="solid"/>
          </a:ln>
        </p:spPr>
        <p:txBody>
          <a:bodyPr wrap="square" lIns="0" tIns="0" rIns="0" bIns="0" anchor="t">
            <a:normAutofit/>
          </a:bodyPr>
          <a:lstStyle/>
          <a:p>
            <a:pPr algn="ctr">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修改或谈判</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9372600" y="3086100"/>
            <a:ext cx="1905000" cy="400050"/>
          </a:xfrm>
          <a:prstGeom prst="rect">
            <a:avLst/>
          </a:prstGeom>
          <a:noFill/>
          <a:ln w="0">
            <a:noFill/>
            <a:prstDash val="solid"/>
          </a:ln>
        </p:spPr>
        <p:txBody>
          <a:bodyPr wrap="square" lIns="0" tIns="0" rIns="0" bIns="0" anchor="t">
            <a:normAutofit/>
          </a:bodyPr>
          <a:lstStyle/>
          <a:p>
            <a:pPr algn="ctr">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需补充事实</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1428750" y="4953000"/>
            <a:ext cx="9334500" cy="457200"/>
          </a:xfrm>
          <a:prstGeom prst="rect">
            <a:avLst/>
          </a:prstGeom>
          <a:noFill/>
          <a:ln w="0">
            <a:noFill/>
            <a:prstDash val="solid"/>
          </a:ln>
        </p:spPr>
        <p:txBody>
          <a:bodyPr wrap="square" lIns="0" tIns="0" rIns="0" bIns="0" anchor="t">
            <a:normAutofit/>
          </a:bodyPr>
          <a:lstStyle/>
          <a:p>
            <a:pPr algn="ctr">
              <a:lnSpc>
                <a:spcPct val="112000"/>
              </a:lnSpc>
              <a:buNone/>
              <a:defRPr sz="1650" b="0">
                <a:solidFill>
                  <a:srgbClr val="8A4D42"/>
                </a:solidFill>
                <a:latin typeface="微软雅黑" panose="020B0503020204020204" charset="-122"/>
                <a:ea typeface="微软雅黑" panose="020B0503020204020204" charset="-122"/>
                <a:cs typeface="微软雅黑" panose="020B0503020204020204" charset="-122"/>
              </a:defRPr>
            </a:pPr>
            <a:r>
              <a:rPr sz="1650" b="0">
                <a:solidFill>
                  <a:srgbClr val="8A4D42"/>
                </a:solidFill>
                <a:latin typeface="微软雅黑" panose="020B0503020204020204" charset="-122"/>
                <a:ea typeface="微软雅黑" panose="020B0503020204020204" charset="-122"/>
                <a:cs typeface="微软雅黑" panose="020B0503020204020204" charset="-122"/>
              </a:rPr>
              <a:t>AI输出用于辅助审查，不替代中国执业律师的正式法律意见。</a:t>
            </a:r>
            <a:endParaRPr sz="1650" b="0">
              <a:solidFill>
                <a:srgbClr val="8A4D4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3" name="矩形 22"/>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练习</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审查IT或数据中心合同</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05 工作</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7410450" y="6410325"/>
            <a:ext cx="1028700" cy="0"/>
          </a:xfrm>
          <a:prstGeom prst="line">
            <a:avLst/>
          </a:prstGeom>
          <a:noFill/>
          <a:ln w="38100">
            <a:solidFill>
              <a:srgbClr val="315F55"/>
            </a:solidFill>
            <a:prstDash val="solid"/>
          </a:ln>
        </p:spPr>
      </p:sp>
      <p:sp>
        <p:nvSpPr>
          <p:cNvPr id="11" name="矩形 10"/>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39</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62000" y="1695450"/>
            <a:ext cx="10668000" cy="666750"/>
          </a:xfrm>
          <a:prstGeom prst="rect">
            <a:avLst/>
          </a:prstGeom>
          <a:noFill/>
          <a:ln w="0">
            <a:noFill/>
            <a:prstDash val="solid"/>
          </a:ln>
        </p:spPr>
        <p:txBody>
          <a:bodyPr wrap="square" lIns="0" tIns="0" rIns="0" bIns="0" anchor="ctr">
            <a:normAutofit/>
          </a:bodyPr>
          <a:lstStyle/>
          <a:p>
            <a:pPr algn="l">
              <a:lnSpc>
                <a:spcPct val="112000"/>
              </a:lnSpc>
              <a:buNone/>
              <a:defRPr sz="2250" b="1">
                <a:solidFill>
                  <a:srgbClr val="315F55"/>
                </a:solidFill>
                <a:latin typeface="微软雅黑" panose="020B0503020204020204" charset="-122"/>
                <a:ea typeface="微软雅黑" panose="020B0503020204020204" charset="-122"/>
                <a:cs typeface="微软雅黑" panose="020B0503020204020204" charset="-122"/>
              </a:defRPr>
            </a:pPr>
            <a:r>
              <a:rPr sz="2250" b="1">
                <a:solidFill>
                  <a:srgbClr val="315F55"/>
                </a:solidFill>
                <a:latin typeface="微软雅黑" panose="020B0503020204020204" charset="-122"/>
                <a:ea typeface="微软雅黑" panose="020B0503020204020204" charset="-122"/>
                <a:cs typeface="微软雅黑" panose="020B0503020204020204" charset="-122"/>
              </a:rPr>
              <a:t>逐条形成合同风险清单和修改建议。</a:t>
            </a:r>
            <a:endParaRPr sz="225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762000" y="2476500"/>
            <a:ext cx="10668000" cy="0"/>
          </a:xfrm>
          <a:prstGeom prst="line">
            <a:avLst/>
          </a:prstGeom>
          <a:noFill/>
          <a:ln w="9525">
            <a:solidFill>
              <a:srgbClr val="E3E8E1"/>
            </a:solidFill>
            <a:prstDash val="solid"/>
          </a:ln>
        </p:spPr>
      </p:sp>
      <p:sp>
        <p:nvSpPr>
          <p:cNvPr id="15" name="矩形 14"/>
          <p:cNvSpPr>
            <a:spLocks noGrp="1"/>
          </p:cNvSpPr>
          <p:nvPr/>
        </p:nvSpPr>
        <p:spPr>
          <a:xfrm>
            <a:off x="7810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材料</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7810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脱敏合同</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业务背景</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谈判立场</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4057650" y="2819400"/>
            <a:ext cx="0" cy="2714625"/>
          </a:xfrm>
          <a:prstGeom prst="line">
            <a:avLst/>
          </a:prstGeom>
          <a:noFill/>
          <a:ln w="9525">
            <a:solidFill>
              <a:srgbClr val="C9D0C8"/>
            </a:solidFill>
            <a:prstDash val="solid"/>
          </a:ln>
        </p:spPr>
      </p:sp>
      <p:sp>
        <p:nvSpPr>
          <p:cNvPr id="18" name="矩形 17"/>
          <p:cNvSpPr>
            <a:spLocks noGrp="1"/>
          </p:cNvSpPr>
          <p:nvPr/>
        </p:nvSpPr>
        <p:spPr>
          <a:xfrm>
            <a:off x="43624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成果</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43624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风险表</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条款修改建议</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待确认事项</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639050" y="2819400"/>
            <a:ext cx="0" cy="2714625"/>
          </a:xfrm>
          <a:prstGeom prst="line">
            <a:avLst/>
          </a:prstGeom>
          <a:noFill/>
          <a:ln w="9525">
            <a:solidFill>
              <a:srgbClr val="C9D0C8"/>
            </a:solidFill>
            <a:prstDash val="solid"/>
          </a:ln>
        </p:spPr>
      </p:sp>
      <p:sp>
        <p:nvSpPr>
          <p:cNvPr id="21" name="矩形 20"/>
          <p:cNvSpPr>
            <a:spLocks noGrp="1"/>
          </p:cNvSpPr>
          <p:nvPr/>
        </p:nvSpPr>
        <p:spPr>
          <a:xfrm>
            <a:off x="79438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A18458"/>
                </a:solidFill>
                <a:latin typeface="微软雅黑" panose="020B0503020204020204" charset="-122"/>
                <a:ea typeface="微软雅黑" panose="020B0503020204020204" charset="-122"/>
                <a:cs typeface="微软雅黑" panose="020B0503020204020204" charset="-122"/>
              </a:defRPr>
            </a:pPr>
            <a:r>
              <a:rPr sz="1500" b="1">
                <a:solidFill>
                  <a:srgbClr val="A18458"/>
                </a:solidFill>
                <a:latin typeface="微软雅黑" panose="020B0503020204020204" charset="-122"/>
                <a:ea typeface="微软雅黑" panose="020B0503020204020204" charset="-122"/>
                <a:cs typeface="微软雅黑" panose="020B0503020204020204" charset="-122"/>
              </a:rPr>
              <a:t>检查</a:t>
            </a:r>
            <a:endParaRPr sz="15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79438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引用条款准确</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事实与判断分开</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风险分级一致</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32" name="矩形 3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互联网资料应形成可以追溯的证据链</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05 工作</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9" name="直接连接符 8"/>
          <p:cNvSpPr>
            <a:spLocks noGrp="1"/>
          </p:cNvSpPr>
          <p:nvPr/>
        </p:nvSpPr>
        <p:spPr>
          <a:xfrm>
            <a:off x="7410450" y="6410325"/>
            <a:ext cx="1028700" cy="0"/>
          </a:xfrm>
          <a:prstGeom prst="line">
            <a:avLst/>
          </a:prstGeom>
          <a:noFill/>
          <a:ln w="38100">
            <a:solidFill>
              <a:srgbClr val="315F55"/>
            </a:solidFill>
            <a:prstDash val="solid"/>
          </a:ln>
        </p:spPr>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40</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2735580" y="3219450"/>
            <a:ext cx="247650" cy="0"/>
          </a:xfrm>
          <a:prstGeom prst="line">
            <a:avLst/>
          </a:prstGeom>
          <a:noFill/>
          <a:ln w="28575">
            <a:solidFill>
              <a:srgbClr val="8FA99C"/>
            </a:solidFill>
            <a:prstDash val="solid"/>
          </a:ln>
        </p:spPr>
      </p:sp>
      <p:sp>
        <p:nvSpPr>
          <p:cNvPr id="13" name="圆角矩形 12"/>
          <p:cNvSpPr>
            <a:spLocks noGrp="1"/>
          </p:cNvSpPr>
          <p:nvPr/>
        </p:nvSpPr>
        <p:spPr>
          <a:xfrm>
            <a:off x="762000" y="2628900"/>
            <a:ext cx="1935480" cy="1181100"/>
          </a:xfrm>
          <a:prstGeom prst="roundRect">
            <a:avLst>
              <a:gd name="adj" fmla="val 11290"/>
            </a:avLst>
          </a:prstGeom>
          <a:solidFill>
            <a:srgbClr val="F3F0E6"/>
          </a:solidFill>
          <a:ln w="9525">
            <a:solidFill>
              <a:srgbClr val="8FA99C"/>
            </a:solidFill>
            <a:prstDash val="solid"/>
          </a:ln>
        </p:spPr>
      </p:sp>
      <p:sp>
        <p:nvSpPr>
          <p:cNvPr id="14" name="矩形 13"/>
          <p:cNvSpPr>
            <a:spLocks noGrp="1"/>
          </p:cNvSpPr>
          <p:nvPr/>
        </p:nvSpPr>
        <p:spPr>
          <a:xfrm>
            <a:off x="91440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01</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91440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确定问题</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4918710" y="3219450"/>
            <a:ext cx="247650" cy="0"/>
          </a:xfrm>
          <a:prstGeom prst="line">
            <a:avLst/>
          </a:prstGeom>
          <a:noFill/>
          <a:ln w="28575">
            <a:solidFill>
              <a:srgbClr val="8FA99C"/>
            </a:solidFill>
            <a:prstDash val="solid"/>
          </a:ln>
        </p:spPr>
      </p:sp>
      <p:sp>
        <p:nvSpPr>
          <p:cNvPr id="17" name="圆角矩形 16"/>
          <p:cNvSpPr>
            <a:spLocks noGrp="1"/>
          </p:cNvSpPr>
          <p:nvPr/>
        </p:nvSpPr>
        <p:spPr>
          <a:xfrm>
            <a:off x="2945130" y="2628900"/>
            <a:ext cx="1935480" cy="1181100"/>
          </a:xfrm>
          <a:prstGeom prst="roundRect">
            <a:avLst>
              <a:gd name="adj" fmla="val 11290"/>
            </a:avLst>
          </a:prstGeom>
          <a:solidFill>
            <a:srgbClr val="F3F0E6"/>
          </a:solidFill>
          <a:ln w="9525">
            <a:solidFill>
              <a:srgbClr val="8FA99C"/>
            </a:solidFill>
            <a:prstDash val="solid"/>
          </a:ln>
        </p:spPr>
      </p:sp>
      <p:sp>
        <p:nvSpPr>
          <p:cNvPr id="18" name="矩形 17"/>
          <p:cNvSpPr>
            <a:spLocks noGrp="1"/>
          </p:cNvSpPr>
          <p:nvPr/>
        </p:nvSpPr>
        <p:spPr>
          <a:xfrm>
            <a:off x="309753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02</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309753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搜索来源</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101840" y="3219450"/>
            <a:ext cx="247650" cy="0"/>
          </a:xfrm>
          <a:prstGeom prst="line">
            <a:avLst/>
          </a:prstGeom>
          <a:noFill/>
          <a:ln w="28575">
            <a:solidFill>
              <a:srgbClr val="8FA99C"/>
            </a:solidFill>
            <a:prstDash val="solid"/>
          </a:ln>
        </p:spPr>
      </p:sp>
      <p:sp>
        <p:nvSpPr>
          <p:cNvPr id="21" name="圆角矩形 20"/>
          <p:cNvSpPr>
            <a:spLocks noGrp="1"/>
          </p:cNvSpPr>
          <p:nvPr/>
        </p:nvSpPr>
        <p:spPr>
          <a:xfrm>
            <a:off x="5128260" y="2628900"/>
            <a:ext cx="1935480" cy="1181100"/>
          </a:xfrm>
          <a:prstGeom prst="roundRect">
            <a:avLst>
              <a:gd name="adj" fmla="val 11290"/>
            </a:avLst>
          </a:prstGeom>
          <a:solidFill>
            <a:srgbClr val="F3F0E6"/>
          </a:solidFill>
          <a:ln w="9525">
            <a:solidFill>
              <a:srgbClr val="8FA99C"/>
            </a:solidFill>
            <a:prstDash val="solid"/>
          </a:ln>
        </p:spPr>
      </p:sp>
      <p:sp>
        <p:nvSpPr>
          <p:cNvPr id="22" name="矩形 21"/>
          <p:cNvSpPr>
            <a:spLocks noGrp="1"/>
          </p:cNvSpPr>
          <p:nvPr/>
        </p:nvSpPr>
        <p:spPr>
          <a:xfrm>
            <a:off x="528066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03</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528066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读取原文</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直接连接符 23"/>
          <p:cNvSpPr>
            <a:spLocks noGrp="1"/>
          </p:cNvSpPr>
          <p:nvPr/>
        </p:nvSpPr>
        <p:spPr>
          <a:xfrm>
            <a:off x="9284970" y="3219450"/>
            <a:ext cx="247650" cy="0"/>
          </a:xfrm>
          <a:prstGeom prst="line">
            <a:avLst/>
          </a:prstGeom>
          <a:noFill/>
          <a:ln w="28575">
            <a:solidFill>
              <a:srgbClr val="8FA99C"/>
            </a:solidFill>
            <a:prstDash val="solid"/>
          </a:ln>
        </p:spPr>
      </p:sp>
      <p:sp>
        <p:nvSpPr>
          <p:cNvPr id="25" name="圆角矩形 24"/>
          <p:cNvSpPr>
            <a:spLocks noGrp="1"/>
          </p:cNvSpPr>
          <p:nvPr/>
        </p:nvSpPr>
        <p:spPr>
          <a:xfrm>
            <a:off x="7311390" y="2628900"/>
            <a:ext cx="1935480" cy="1181100"/>
          </a:xfrm>
          <a:prstGeom prst="roundRect">
            <a:avLst>
              <a:gd name="adj" fmla="val 11290"/>
            </a:avLst>
          </a:prstGeom>
          <a:solidFill>
            <a:srgbClr val="F3F0E6"/>
          </a:solidFill>
          <a:ln w="9525">
            <a:solidFill>
              <a:srgbClr val="8FA99C"/>
            </a:solidFill>
            <a:prstDash val="solid"/>
          </a:ln>
        </p:spPr>
      </p:sp>
      <p:sp>
        <p:nvSpPr>
          <p:cNvPr id="26" name="矩形 25"/>
          <p:cNvSpPr>
            <a:spLocks noGrp="1"/>
          </p:cNvSpPr>
          <p:nvPr/>
        </p:nvSpPr>
        <p:spPr>
          <a:xfrm>
            <a:off x="746379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04</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746379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交叉核实</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9494520" y="2628900"/>
            <a:ext cx="1935480" cy="1181100"/>
          </a:xfrm>
          <a:prstGeom prst="roundRect">
            <a:avLst>
              <a:gd name="adj" fmla="val 11290"/>
            </a:avLst>
          </a:prstGeom>
          <a:solidFill>
            <a:srgbClr val="F3F0E6"/>
          </a:solidFill>
          <a:ln w="9525">
            <a:solidFill>
              <a:srgbClr val="8FA99C"/>
            </a:solidFill>
            <a:prstDash val="solid"/>
          </a:ln>
        </p:spPr>
      </p:sp>
      <p:sp>
        <p:nvSpPr>
          <p:cNvPr id="29" name="矩形 28"/>
          <p:cNvSpPr>
            <a:spLocks noGrp="1"/>
          </p:cNvSpPr>
          <p:nvPr/>
        </p:nvSpPr>
        <p:spPr>
          <a:xfrm>
            <a:off x="964692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05</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964692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记录结论</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1143000" y="4333875"/>
            <a:ext cx="9906000" cy="666750"/>
          </a:xfrm>
          <a:prstGeom prst="rect">
            <a:avLst/>
          </a:prstGeom>
          <a:noFill/>
          <a:ln w="0">
            <a:noFill/>
            <a:prstDash val="solid"/>
          </a:ln>
        </p:spPr>
        <p:txBody>
          <a:bodyPr wrap="square" lIns="0" tIns="0" rIns="0" bIns="0" anchor="ctr">
            <a:normAutofit/>
          </a:bodyPr>
          <a:lstStyle/>
          <a:p>
            <a:pPr algn="ctr">
              <a:lnSpc>
                <a:spcPct val="112000"/>
              </a:lnSpc>
              <a:buNone/>
              <a:defRPr sz="1800" b="0">
                <a:solidFill>
                  <a:srgbClr val="315F55"/>
                </a:solidFill>
                <a:latin typeface="微软雅黑" panose="020B0503020204020204" charset="-122"/>
                <a:ea typeface="微软雅黑" panose="020B0503020204020204" charset="-122"/>
                <a:cs typeface="微软雅黑" panose="020B0503020204020204" charset="-122"/>
              </a:defRPr>
            </a:pPr>
            <a:r>
              <a:rPr sz="1800" b="0">
                <a:solidFill>
                  <a:srgbClr val="315F55"/>
                </a:solidFill>
                <a:latin typeface="微软雅黑" panose="020B0503020204020204" charset="-122"/>
                <a:ea typeface="微软雅黑" panose="020B0503020204020204" charset="-122"/>
                <a:cs typeface="微软雅黑" panose="020B0503020204020204" charset="-122"/>
              </a:rPr>
              <a:t>每项关键事实记录来源、发布日期和获取日期。</a:t>
            </a:r>
            <a:endParaRPr sz="1800" b="0">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3" name="矩形 22"/>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练习</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完成一份带来源的专题资料</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05 工作</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7410450" y="6410325"/>
            <a:ext cx="1028700" cy="0"/>
          </a:xfrm>
          <a:prstGeom prst="line">
            <a:avLst/>
          </a:prstGeom>
          <a:noFill/>
          <a:ln w="38100">
            <a:solidFill>
              <a:srgbClr val="315F55"/>
            </a:solidFill>
            <a:prstDash val="solid"/>
          </a:ln>
        </p:spPr>
      </p:sp>
      <p:sp>
        <p:nvSpPr>
          <p:cNvPr id="11" name="矩形 10"/>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41</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62000" y="1695450"/>
            <a:ext cx="10668000" cy="666750"/>
          </a:xfrm>
          <a:prstGeom prst="rect">
            <a:avLst/>
          </a:prstGeom>
          <a:noFill/>
          <a:ln w="0">
            <a:noFill/>
            <a:prstDash val="solid"/>
          </a:ln>
        </p:spPr>
        <p:txBody>
          <a:bodyPr wrap="square" lIns="0" tIns="0" rIns="0" bIns="0" anchor="ctr">
            <a:normAutofit/>
          </a:bodyPr>
          <a:lstStyle/>
          <a:p>
            <a:pPr algn="l">
              <a:lnSpc>
                <a:spcPct val="112000"/>
              </a:lnSpc>
              <a:buNone/>
              <a:defRPr sz="2250" b="1">
                <a:solidFill>
                  <a:srgbClr val="315F55"/>
                </a:solidFill>
                <a:latin typeface="微软雅黑" panose="020B0503020204020204" charset="-122"/>
                <a:ea typeface="微软雅黑" panose="020B0503020204020204" charset="-122"/>
                <a:cs typeface="微软雅黑" panose="020B0503020204020204" charset="-122"/>
              </a:defRPr>
            </a:pPr>
            <a:r>
              <a:rPr sz="2250" b="1">
                <a:solidFill>
                  <a:srgbClr val="315F55"/>
                </a:solidFill>
                <a:latin typeface="微软雅黑" panose="020B0503020204020204" charset="-122"/>
                <a:ea typeface="微软雅黑" panose="020B0503020204020204" charset="-122"/>
                <a:cs typeface="微软雅黑" panose="020B0503020204020204" charset="-122"/>
              </a:rPr>
              <a:t>围绕一个数据中心问题完成资料研究。</a:t>
            </a:r>
            <a:endParaRPr sz="225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762000" y="2476500"/>
            <a:ext cx="10668000" cy="0"/>
          </a:xfrm>
          <a:prstGeom prst="line">
            <a:avLst/>
          </a:prstGeom>
          <a:noFill/>
          <a:ln w="9525">
            <a:solidFill>
              <a:srgbClr val="E3E8E1"/>
            </a:solidFill>
            <a:prstDash val="solid"/>
          </a:ln>
        </p:spPr>
      </p:sp>
      <p:sp>
        <p:nvSpPr>
          <p:cNvPr id="15" name="矩形 14"/>
          <p:cNvSpPr>
            <a:spLocks noGrp="1"/>
          </p:cNvSpPr>
          <p:nvPr/>
        </p:nvSpPr>
        <p:spPr>
          <a:xfrm>
            <a:off x="7810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材料</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7810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研究问题</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时间范围</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来源要求</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4057650" y="2819400"/>
            <a:ext cx="0" cy="2714625"/>
          </a:xfrm>
          <a:prstGeom prst="line">
            <a:avLst/>
          </a:prstGeom>
          <a:noFill/>
          <a:ln w="9525">
            <a:solidFill>
              <a:srgbClr val="C9D0C8"/>
            </a:solidFill>
            <a:prstDash val="solid"/>
          </a:ln>
        </p:spPr>
      </p:sp>
      <p:sp>
        <p:nvSpPr>
          <p:cNvPr id="18" name="矩形 17"/>
          <p:cNvSpPr>
            <a:spLocks noGrp="1"/>
          </p:cNvSpPr>
          <p:nvPr/>
        </p:nvSpPr>
        <p:spPr>
          <a:xfrm>
            <a:off x="43624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成果</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43624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SOURCES.md</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研究底稿</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简明结论</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639050" y="2819400"/>
            <a:ext cx="0" cy="2714625"/>
          </a:xfrm>
          <a:prstGeom prst="line">
            <a:avLst/>
          </a:prstGeom>
          <a:noFill/>
          <a:ln w="9525">
            <a:solidFill>
              <a:srgbClr val="C9D0C8"/>
            </a:solidFill>
            <a:prstDash val="solid"/>
          </a:ln>
        </p:spPr>
      </p:sp>
      <p:sp>
        <p:nvSpPr>
          <p:cNvPr id="21" name="矩形 20"/>
          <p:cNvSpPr>
            <a:spLocks noGrp="1"/>
          </p:cNvSpPr>
          <p:nvPr/>
        </p:nvSpPr>
        <p:spPr>
          <a:xfrm>
            <a:off x="79438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A18458"/>
                </a:solidFill>
                <a:latin typeface="微软雅黑" panose="020B0503020204020204" charset="-122"/>
                <a:ea typeface="微软雅黑" panose="020B0503020204020204" charset="-122"/>
                <a:cs typeface="微软雅黑" panose="020B0503020204020204" charset="-122"/>
              </a:defRPr>
            </a:pPr>
            <a:r>
              <a:rPr sz="1500" b="1">
                <a:solidFill>
                  <a:srgbClr val="A18458"/>
                </a:solidFill>
                <a:latin typeface="微软雅黑" panose="020B0503020204020204" charset="-122"/>
                <a:ea typeface="微软雅黑" panose="020B0503020204020204" charset="-122"/>
                <a:cs typeface="微软雅黑" panose="020B0503020204020204" charset="-122"/>
              </a:rPr>
              <a:t>检查</a:t>
            </a:r>
            <a:endParaRPr sz="15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79438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来源是否原始</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时间是否有效</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推断是否标明</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32" name="矩形 3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开发软件仍然使用同一套工作方法</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05 工作</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9" name="直接连接符 8"/>
          <p:cNvSpPr>
            <a:spLocks noGrp="1"/>
          </p:cNvSpPr>
          <p:nvPr/>
        </p:nvSpPr>
        <p:spPr>
          <a:xfrm>
            <a:off x="7410450" y="6410325"/>
            <a:ext cx="1028700" cy="0"/>
          </a:xfrm>
          <a:prstGeom prst="line">
            <a:avLst/>
          </a:prstGeom>
          <a:noFill/>
          <a:ln w="38100">
            <a:solidFill>
              <a:srgbClr val="315F55"/>
            </a:solidFill>
            <a:prstDash val="solid"/>
          </a:ln>
        </p:spPr>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42</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2735580" y="3219450"/>
            <a:ext cx="247650" cy="0"/>
          </a:xfrm>
          <a:prstGeom prst="line">
            <a:avLst/>
          </a:prstGeom>
          <a:noFill/>
          <a:ln w="28575">
            <a:solidFill>
              <a:srgbClr val="8FA99C"/>
            </a:solidFill>
            <a:prstDash val="solid"/>
          </a:ln>
        </p:spPr>
      </p:sp>
      <p:sp>
        <p:nvSpPr>
          <p:cNvPr id="13" name="圆角矩形 12"/>
          <p:cNvSpPr>
            <a:spLocks noGrp="1"/>
          </p:cNvSpPr>
          <p:nvPr/>
        </p:nvSpPr>
        <p:spPr>
          <a:xfrm>
            <a:off x="762000" y="2628900"/>
            <a:ext cx="1935480" cy="1181100"/>
          </a:xfrm>
          <a:prstGeom prst="roundRect">
            <a:avLst>
              <a:gd name="adj" fmla="val 11290"/>
            </a:avLst>
          </a:prstGeom>
          <a:solidFill>
            <a:srgbClr val="F3F0E6"/>
          </a:solidFill>
          <a:ln w="9525">
            <a:solidFill>
              <a:srgbClr val="8FA99C"/>
            </a:solidFill>
            <a:prstDash val="solid"/>
          </a:ln>
        </p:spPr>
      </p:sp>
      <p:sp>
        <p:nvSpPr>
          <p:cNvPr id="14" name="矩形 13"/>
          <p:cNvSpPr>
            <a:spLocks noGrp="1"/>
          </p:cNvSpPr>
          <p:nvPr/>
        </p:nvSpPr>
        <p:spPr>
          <a:xfrm>
            <a:off x="91440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01</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91440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提出想法</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4918710" y="3219450"/>
            <a:ext cx="247650" cy="0"/>
          </a:xfrm>
          <a:prstGeom prst="line">
            <a:avLst/>
          </a:prstGeom>
          <a:noFill/>
          <a:ln w="28575">
            <a:solidFill>
              <a:srgbClr val="8FA99C"/>
            </a:solidFill>
            <a:prstDash val="solid"/>
          </a:ln>
        </p:spPr>
      </p:sp>
      <p:sp>
        <p:nvSpPr>
          <p:cNvPr id="17" name="圆角矩形 16"/>
          <p:cNvSpPr>
            <a:spLocks noGrp="1"/>
          </p:cNvSpPr>
          <p:nvPr/>
        </p:nvSpPr>
        <p:spPr>
          <a:xfrm>
            <a:off x="2945130" y="2628900"/>
            <a:ext cx="1935480" cy="1181100"/>
          </a:xfrm>
          <a:prstGeom prst="roundRect">
            <a:avLst>
              <a:gd name="adj" fmla="val 11290"/>
            </a:avLst>
          </a:prstGeom>
          <a:solidFill>
            <a:srgbClr val="F3F0E6"/>
          </a:solidFill>
          <a:ln w="9525">
            <a:solidFill>
              <a:srgbClr val="8FA99C"/>
            </a:solidFill>
            <a:prstDash val="solid"/>
          </a:ln>
        </p:spPr>
      </p:sp>
      <p:sp>
        <p:nvSpPr>
          <p:cNvPr id="18" name="矩形 17"/>
          <p:cNvSpPr>
            <a:spLocks noGrp="1"/>
          </p:cNvSpPr>
          <p:nvPr/>
        </p:nvSpPr>
        <p:spPr>
          <a:xfrm>
            <a:off x="309753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02</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309753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反问澄清</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101840" y="3219450"/>
            <a:ext cx="247650" cy="0"/>
          </a:xfrm>
          <a:prstGeom prst="line">
            <a:avLst/>
          </a:prstGeom>
          <a:noFill/>
          <a:ln w="28575">
            <a:solidFill>
              <a:srgbClr val="8FA99C"/>
            </a:solidFill>
            <a:prstDash val="solid"/>
          </a:ln>
        </p:spPr>
      </p:sp>
      <p:sp>
        <p:nvSpPr>
          <p:cNvPr id="21" name="圆角矩形 20"/>
          <p:cNvSpPr>
            <a:spLocks noGrp="1"/>
          </p:cNvSpPr>
          <p:nvPr/>
        </p:nvSpPr>
        <p:spPr>
          <a:xfrm>
            <a:off x="5128260" y="2628900"/>
            <a:ext cx="1935480" cy="1181100"/>
          </a:xfrm>
          <a:prstGeom prst="roundRect">
            <a:avLst>
              <a:gd name="adj" fmla="val 11290"/>
            </a:avLst>
          </a:prstGeom>
          <a:solidFill>
            <a:srgbClr val="F3F0E6"/>
          </a:solidFill>
          <a:ln w="9525">
            <a:solidFill>
              <a:srgbClr val="8FA99C"/>
            </a:solidFill>
            <a:prstDash val="solid"/>
          </a:ln>
        </p:spPr>
      </p:sp>
      <p:sp>
        <p:nvSpPr>
          <p:cNvPr id="22" name="矩形 21"/>
          <p:cNvSpPr>
            <a:spLocks noGrp="1"/>
          </p:cNvSpPr>
          <p:nvPr/>
        </p:nvSpPr>
        <p:spPr>
          <a:xfrm>
            <a:off x="528066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03</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528066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编制需求</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直接连接符 23"/>
          <p:cNvSpPr>
            <a:spLocks noGrp="1"/>
          </p:cNvSpPr>
          <p:nvPr/>
        </p:nvSpPr>
        <p:spPr>
          <a:xfrm>
            <a:off x="9284970" y="3219450"/>
            <a:ext cx="247650" cy="0"/>
          </a:xfrm>
          <a:prstGeom prst="line">
            <a:avLst/>
          </a:prstGeom>
          <a:noFill/>
          <a:ln w="28575">
            <a:solidFill>
              <a:srgbClr val="8FA99C"/>
            </a:solidFill>
            <a:prstDash val="solid"/>
          </a:ln>
        </p:spPr>
      </p:sp>
      <p:sp>
        <p:nvSpPr>
          <p:cNvPr id="25" name="圆角矩形 24"/>
          <p:cNvSpPr>
            <a:spLocks noGrp="1"/>
          </p:cNvSpPr>
          <p:nvPr/>
        </p:nvSpPr>
        <p:spPr>
          <a:xfrm>
            <a:off x="7311390" y="2628900"/>
            <a:ext cx="1935480" cy="1181100"/>
          </a:xfrm>
          <a:prstGeom prst="roundRect">
            <a:avLst>
              <a:gd name="adj" fmla="val 11290"/>
            </a:avLst>
          </a:prstGeom>
          <a:solidFill>
            <a:srgbClr val="F3F0E6"/>
          </a:solidFill>
          <a:ln w="9525">
            <a:solidFill>
              <a:srgbClr val="8FA99C"/>
            </a:solidFill>
            <a:prstDash val="solid"/>
          </a:ln>
        </p:spPr>
      </p:sp>
      <p:sp>
        <p:nvSpPr>
          <p:cNvPr id="26" name="矩形 25"/>
          <p:cNvSpPr>
            <a:spLocks noGrp="1"/>
          </p:cNvSpPr>
          <p:nvPr/>
        </p:nvSpPr>
        <p:spPr>
          <a:xfrm>
            <a:off x="746379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04</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746379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生成原型</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9494520" y="2628900"/>
            <a:ext cx="1935480" cy="1181100"/>
          </a:xfrm>
          <a:prstGeom prst="roundRect">
            <a:avLst>
              <a:gd name="adj" fmla="val 11290"/>
            </a:avLst>
          </a:prstGeom>
          <a:solidFill>
            <a:srgbClr val="F3F0E6"/>
          </a:solidFill>
          <a:ln w="9525">
            <a:solidFill>
              <a:srgbClr val="8FA99C"/>
            </a:solidFill>
            <a:prstDash val="solid"/>
          </a:ln>
        </p:spPr>
      </p:sp>
      <p:sp>
        <p:nvSpPr>
          <p:cNvPr id="29" name="矩形 28"/>
          <p:cNvSpPr>
            <a:spLocks noGrp="1"/>
          </p:cNvSpPr>
          <p:nvPr/>
        </p:nvSpPr>
        <p:spPr>
          <a:xfrm>
            <a:off x="964692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05</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964692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运行检查</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1143000" y="4333875"/>
            <a:ext cx="9906000" cy="666750"/>
          </a:xfrm>
          <a:prstGeom prst="rect">
            <a:avLst/>
          </a:prstGeom>
          <a:noFill/>
          <a:ln w="0">
            <a:noFill/>
            <a:prstDash val="solid"/>
          </a:ln>
        </p:spPr>
        <p:txBody>
          <a:bodyPr wrap="square" lIns="0" tIns="0" rIns="0" bIns="0" anchor="ctr">
            <a:normAutofit/>
          </a:bodyPr>
          <a:lstStyle/>
          <a:p>
            <a:pPr algn="ctr">
              <a:lnSpc>
                <a:spcPct val="112000"/>
              </a:lnSpc>
              <a:buNone/>
              <a:defRPr sz="1800" b="0">
                <a:solidFill>
                  <a:srgbClr val="315F55"/>
                </a:solidFill>
                <a:latin typeface="微软雅黑" panose="020B0503020204020204" charset="-122"/>
                <a:ea typeface="微软雅黑" panose="020B0503020204020204" charset="-122"/>
                <a:cs typeface="微软雅黑" panose="020B0503020204020204" charset="-122"/>
              </a:defRPr>
            </a:pPr>
            <a:r>
              <a:rPr sz="1800" b="0">
                <a:solidFill>
                  <a:srgbClr val="315F55"/>
                </a:solidFill>
                <a:latin typeface="微软雅黑" panose="020B0503020204020204" charset="-122"/>
                <a:ea typeface="微软雅黑" panose="020B0503020204020204" charset="-122"/>
                <a:cs typeface="微软雅黑" panose="020B0503020204020204" charset="-122"/>
              </a:rPr>
              <a:t>文档工作的成果是文件；软件开发的成果是可以运行、可以验证的原型。</a:t>
            </a:r>
            <a:endParaRPr sz="1800" b="0">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3" name="矩形 22"/>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练习</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实操：把月嫂平台缩成一个最小闭环</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05 工作</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7410450" y="6410325"/>
            <a:ext cx="1028700" cy="0"/>
          </a:xfrm>
          <a:prstGeom prst="line">
            <a:avLst/>
          </a:prstGeom>
          <a:noFill/>
          <a:ln w="38100">
            <a:solidFill>
              <a:srgbClr val="315F55"/>
            </a:solidFill>
            <a:prstDash val="solid"/>
          </a:ln>
        </p:spPr>
      </p:sp>
      <p:sp>
        <p:nvSpPr>
          <p:cNvPr id="11" name="矩形 10"/>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43</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62000" y="1695450"/>
            <a:ext cx="10668000" cy="666750"/>
          </a:xfrm>
          <a:prstGeom prst="rect">
            <a:avLst/>
          </a:prstGeom>
          <a:noFill/>
          <a:ln w="0">
            <a:noFill/>
            <a:prstDash val="solid"/>
          </a:ln>
        </p:spPr>
        <p:txBody>
          <a:bodyPr wrap="square" lIns="0" tIns="0" rIns="0" bIns="0" anchor="ctr">
            <a:normAutofit/>
          </a:bodyPr>
          <a:lstStyle/>
          <a:p>
            <a:pPr algn="l">
              <a:lnSpc>
                <a:spcPct val="112000"/>
              </a:lnSpc>
              <a:buNone/>
              <a:defRPr sz="2250" b="1">
                <a:solidFill>
                  <a:srgbClr val="315F55"/>
                </a:solidFill>
                <a:latin typeface="微软雅黑" panose="020B0503020204020204" charset="-122"/>
                <a:ea typeface="微软雅黑" panose="020B0503020204020204" charset="-122"/>
                <a:cs typeface="微软雅黑" panose="020B0503020204020204" charset="-122"/>
              </a:defRPr>
            </a:pPr>
            <a:r>
              <a:rPr sz="2250" b="1">
                <a:solidFill>
                  <a:srgbClr val="315F55"/>
                </a:solidFill>
                <a:latin typeface="微软雅黑" panose="020B0503020204020204" charset="-122"/>
                <a:ea typeface="微软雅黑" panose="020B0503020204020204" charset="-122"/>
                <a:cs typeface="微软雅黑" panose="020B0503020204020204" charset="-122"/>
              </a:rPr>
              <a:t>把“海口市线上寻找月嫂”缩小为一次可以完成的开发。</a:t>
            </a:r>
            <a:endParaRPr sz="225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762000" y="2476500"/>
            <a:ext cx="10668000" cy="0"/>
          </a:xfrm>
          <a:prstGeom prst="line">
            <a:avLst/>
          </a:prstGeom>
          <a:noFill/>
          <a:ln w="9525">
            <a:solidFill>
              <a:srgbClr val="E3E8E1"/>
            </a:solidFill>
            <a:prstDash val="solid"/>
          </a:ln>
        </p:spPr>
      </p:sp>
      <p:sp>
        <p:nvSpPr>
          <p:cNvPr id="15" name="矩形 14"/>
          <p:cNvSpPr>
            <a:spLocks noGrp="1"/>
          </p:cNvSpPr>
          <p:nvPr/>
        </p:nvSpPr>
        <p:spPr>
          <a:xfrm>
            <a:off x="7810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材料</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7810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目标用户</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主要场景</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现有想法</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4057650" y="2819400"/>
            <a:ext cx="0" cy="2714625"/>
          </a:xfrm>
          <a:prstGeom prst="line">
            <a:avLst/>
          </a:prstGeom>
          <a:noFill/>
          <a:ln w="9525">
            <a:solidFill>
              <a:srgbClr val="C9D0C8"/>
            </a:solidFill>
            <a:prstDash val="solid"/>
          </a:ln>
        </p:spPr>
      </p:sp>
      <p:sp>
        <p:nvSpPr>
          <p:cNvPr id="18" name="矩形 17"/>
          <p:cNvSpPr>
            <a:spLocks noGrp="1"/>
          </p:cNvSpPr>
          <p:nvPr/>
        </p:nvSpPr>
        <p:spPr>
          <a:xfrm>
            <a:off x="43624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成果</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43624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REQUIREMENTS.md</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一个业务闭环</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验收标准</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639050" y="2819400"/>
            <a:ext cx="0" cy="2714625"/>
          </a:xfrm>
          <a:prstGeom prst="line">
            <a:avLst/>
          </a:prstGeom>
          <a:noFill/>
          <a:ln w="9525">
            <a:solidFill>
              <a:srgbClr val="C9D0C8"/>
            </a:solidFill>
            <a:prstDash val="solid"/>
          </a:ln>
        </p:spPr>
      </p:sp>
      <p:sp>
        <p:nvSpPr>
          <p:cNvPr id="21" name="矩形 20"/>
          <p:cNvSpPr>
            <a:spLocks noGrp="1"/>
          </p:cNvSpPr>
          <p:nvPr/>
        </p:nvSpPr>
        <p:spPr>
          <a:xfrm>
            <a:off x="79438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A18458"/>
                </a:solidFill>
                <a:latin typeface="微软雅黑" panose="020B0503020204020204" charset="-122"/>
                <a:ea typeface="微软雅黑" panose="020B0503020204020204" charset="-122"/>
                <a:cs typeface="微软雅黑" panose="020B0503020204020204" charset="-122"/>
              </a:defRPr>
            </a:pPr>
            <a:r>
              <a:rPr sz="1500" b="1">
                <a:solidFill>
                  <a:srgbClr val="A18458"/>
                </a:solidFill>
                <a:latin typeface="微软雅黑" panose="020B0503020204020204" charset="-122"/>
                <a:ea typeface="微软雅黑" panose="020B0503020204020204" charset="-122"/>
                <a:cs typeface="微软雅黑" panose="020B0503020204020204" charset="-122"/>
              </a:rPr>
              <a:t>检查</a:t>
            </a:r>
            <a:endParaRPr sz="15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79438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只保留必要角色</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流程可以走通</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不接支付和真实数据</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3" name="矩形 22"/>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练习</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实操：生成、运行并检查轻量原型</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05 工作</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7410450" y="6410325"/>
            <a:ext cx="1028700" cy="0"/>
          </a:xfrm>
          <a:prstGeom prst="line">
            <a:avLst/>
          </a:prstGeom>
          <a:noFill/>
          <a:ln w="38100">
            <a:solidFill>
              <a:srgbClr val="315F55"/>
            </a:solidFill>
            <a:prstDash val="solid"/>
          </a:ln>
        </p:spPr>
      </p:sp>
      <p:sp>
        <p:nvSpPr>
          <p:cNvPr id="11" name="矩形 10"/>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44</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62000" y="1695450"/>
            <a:ext cx="10668000" cy="666750"/>
          </a:xfrm>
          <a:prstGeom prst="rect">
            <a:avLst/>
          </a:prstGeom>
          <a:noFill/>
          <a:ln w="0">
            <a:noFill/>
            <a:prstDash val="solid"/>
          </a:ln>
        </p:spPr>
        <p:txBody>
          <a:bodyPr wrap="square" lIns="0" tIns="0" rIns="0" bIns="0" anchor="ctr">
            <a:normAutofit/>
          </a:bodyPr>
          <a:lstStyle/>
          <a:p>
            <a:pPr algn="l">
              <a:lnSpc>
                <a:spcPct val="112000"/>
              </a:lnSpc>
              <a:buNone/>
              <a:defRPr sz="2250" b="1">
                <a:solidFill>
                  <a:srgbClr val="315F55"/>
                </a:solidFill>
                <a:latin typeface="微软雅黑" panose="020B0503020204020204" charset="-122"/>
                <a:ea typeface="微软雅黑" panose="020B0503020204020204" charset="-122"/>
                <a:cs typeface="微软雅黑" panose="020B0503020204020204" charset="-122"/>
              </a:defRPr>
            </a:pPr>
            <a:r>
              <a:rPr sz="2250" b="1">
                <a:solidFill>
                  <a:srgbClr val="315F55"/>
                </a:solidFill>
                <a:latin typeface="微软雅黑" panose="020B0503020204020204" charset="-122"/>
                <a:ea typeface="微软雅黑" panose="020B0503020204020204" charset="-122"/>
                <a:cs typeface="微软雅黑" panose="020B0503020204020204" charset="-122"/>
              </a:rPr>
              <a:t>根据REQUIREMENTS.md生成可以在本地浏览器运行的原型。</a:t>
            </a:r>
            <a:endParaRPr sz="225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762000" y="2476500"/>
            <a:ext cx="10668000" cy="0"/>
          </a:xfrm>
          <a:prstGeom prst="line">
            <a:avLst/>
          </a:prstGeom>
          <a:noFill/>
          <a:ln w="9525">
            <a:solidFill>
              <a:srgbClr val="E3E8E1"/>
            </a:solidFill>
            <a:prstDash val="solid"/>
          </a:ln>
        </p:spPr>
      </p:sp>
      <p:sp>
        <p:nvSpPr>
          <p:cNvPr id="15" name="矩形 14"/>
          <p:cNvSpPr>
            <a:spLocks noGrp="1"/>
          </p:cNvSpPr>
          <p:nvPr/>
        </p:nvSpPr>
        <p:spPr>
          <a:xfrm>
            <a:off x="7810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材料</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7810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项目文件夹</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REQUIREMENTS.md</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虚构示例数据</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4057650" y="2819400"/>
            <a:ext cx="0" cy="2714625"/>
          </a:xfrm>
          <a:prstGeom prst="line">
            <a:avLst/>
          </a:prstGeom>
          <a:noFill/>
          <a:ln w="9525">
            <a:solidFill>
              <a:srgbClr val="C9D0C8"/>
            </a:solidFill>
            <a:prstDash val="solid"/>
          </a:ln>
        </p:spPr>
      </p:sp>
      <p:sp>
        <p:nvSpPr>
          <p:cNvPr id="18" name="矩形 17"/>
          <p:cNvSpPr>
            <a:spLocks noGrp="1"/>
          </p:cNvSpPr>
          <p:nvPr/>
        </p:nvSpPr>
        <p:spPr>
          <a:xfrm>
            <a:off x="43624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成果</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43624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可运行网页</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运行说明</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检查记录</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639050" y="2819400"/>
            <a:ext cx="0" cy="2714625"/>
          </a:xfrm>
          <a:prstGeom prst="line">
            <a:avLst/>
          </a:prstGeom>
          <a:noFill/>
          <a:ln w="9525">
            <a:solidFill>
              <a:srgbClr val="C9D0C8"/>
            </a:solidFill>
            <a:prstDash val="solid"/>
          </a:ln>
        </p:spPr>
      </p:sp>
      <p:sp>
        <p:nvSpPr>
          <p:cNvPr id="21" name="矩形 20"/>
          <p:cNvSpPr>
            <a:spLocks noGrp="1"/>
          </p:cNvSpPr>
          <p:nvPr/>
        </p:nvSpPr>
        <p:spPr>
          <a:xfrm>
            <a:off x="79438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A18458"/>
                </a:solidFill>
                <a:latin typeface="微软雅黑" panose="020B0503020204020204" charset="-122"/>
                <a:ea typeface="微软雅黑" panose="020B0503020204020204" charset="-122"/>
                <a:cs typeface="微软雅黑" panose="020B0503020204020204" charset="-122"/>
              </a:defRPr>
            </a:pPr>
            <a:r>
              <a:rPr sz="1500" b="1">
                <a:solidFill>
                  <a:srgbClr val="A18458"/>
                </a:solidFill>
                <a:latin typeface="微软雅黑" panose="020B0503020204020204" charset="-122"/>
                <a:ea typeface="微软雅黑" panose="020B0503020204020204" charset="-122"/>
                <a:cs typeface="微软雅黑" panose="020B0503020204020204" charset="-122"/>
              </a:rPr>
              <a:t>检查</a:t>
            </a:r>
            <a:endParaRPr sz="15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79438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三个步骤可完成</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无真实个人信息</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构建和检查通过</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3" name="矩形 22"/>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练习</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实操：用Tushare验证股票策略</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05 工作</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7410450" y="6410325"/>
            <a:ext cx="1028700" cy="0"/>
          </a:xfrm>
          <a:prstGeom prst="line">
            <a:avLst/>
          </a:prstGeom>
          <a:noFill/>
          <a:ln w="38100">
            <a:solidFill>
              <a:srgbClr val="315F55"/>
            </a:solidFill>
            <a:prstDash val="solid"/>
          </a:ln>
        </p:spPr>
      </p:sp>
      <p:sp>
        <p:nvSpPr>
          <p:cNvPr id="11" name="矩形 10"/>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06 扩展</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45</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62000" y="1695450"/>
            <a:ext cx="10668000" cy="666750"/>
          </a:xfrm>
          <a:prstGeom prst="rect">
            <a:avLst/>
          </a:prstGeom>
          <a:noFill/>
          <a:ln w="0">
            <a:noFill/>
            <a:prstDash val="solid"/>
          </a:ln>
        </p:spPr>
        <p:txBody>
          <a:bodyPr wrap="square" lIns="0" tIns="0" rIns="0" bIns="0" anchor="ctr">
            <a:normAutofit/>
          </a:bodyPr>
          <a:lstStyle/>
          <a:p>
            <a:pPr algn="l">
              <a:lnSpc>
                <a:spcPct val="112000"/>
              </a:lnSpc>
              <a:buNone/>
              <a:defRPr sz="2250" b="1">
                <a:solidFill>
                  <a:srgbClr val="315F55"/>
                </a:solidFill>
                <a:latin typeface="微软雅黑" panose="020B0503020204020204" charset="-122"/>
                <a:ea typeface="微软雅黑" panose="020B0503020204020204" charset="-122"/>
                <a:cs typeface="微软雅黑" panose="020B0503020204020204" charset="-122"/>
              </a:defRPr>
            </a:pPr>
            <a:r>
              <a:rPr sz="2250" b="1">
                <a:solidFill>
                  <a:srgbClr val="315F55"/>
                </a:solidFill>
                <a:latin typeface="微软雅黑" panose="020B0503020204020204" charset="-122"/>
                <a:ea typeface="微软雅黑" panose="020B0503020204020204" charset="-122"/>
                <a:cs typeface="微软雅黑" panose="020B0503020204020204" charset="-122"/>
              </a:rPr>
              <a:t>使用历史数据验证交易规则；第一版不连接证券账户。</a:t>
            </a:r>
            <a:endParaRPr sz="225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762000" y="2476500"/>
            <a:ext cx="10668000" cy="0"/>
          </a:xfrm>
          <a:prstGeom prst="line">
            <a:avLst/>
          </a:prstGeom>
          <a:noFill/>
          <a:ln w="9525">
            <a:solidFill>
              <a:srgbClr val="E3E8E1"/>
            </a:solidFill>
            <a:prstDash val="solid"/>
          </a:ln>
        </p:spPr>
      </p:sp>
      <p:sp>
        <p:nvSpPr>
          <p:cNvPr id="15" name="矩形 14"/>
          <p:cNvSpPr>
            <a:spLocks noGrp="1"/>
          </p:cNvSpPr>
          <p:nvPr/>
        </p:nvSpPr>
        <p:spPr>
          <a:xfrm>
            <a:off x="7810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材料</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7810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Tushare账号</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Token（环境变量）</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股票池和时间范围</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4057650" y="2819400"/>
            <a:ext cx="0" cy="2714625"/>
          </a:xfrm>
          <a:prstGeom prst="line">
            <a:avLst/>
          </a:prstGeom>
          <a:noFill/>
          <a:ln w="9525">
            <a:solidFill>
              <a:srgbClr val="C9D0C8"/>
            </a:solidFill>
            <a:prstDash val="solid"/>
          </a:ln>
        </p:spPr>
      </p:sp>
      <p:sp>
        <p:nvSpPr>
          <p:cNvPr id="18" name="矩形 17"/>
          <p:cNvSpPr>
            <a:spLocks noGrp="1"/>
          </p:cNvSpPr>
          <p:nvPr/>
        </p:nvSpPr>
        <p:spPr>
          <a:xfrm>
            <a:off x="43624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成果</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43624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数据获取脚本</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策略与回测报告</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模拟交易记录</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639050" y="2819400"/>
            <a:ext cx="0" cy="2714625"/>
          </a:xfrm>
          <a:prstGeom prst="line">
            <a:avLst/>
          </a:prstGeom>
          <a:noFill/>
          <a:ln w="9525">
            <a:solidFill>
              <a:srgbClr val="C9D0C8"/>
            </a:solidFill>
            <a:prstDash val="solid"/>
          </a:ln>
        </p:spPr>
      </p:sp>
      <p:sp>
        <p:nvSpPr>
          <p:cNvPr id="21" name="矩形 20"/>
          <p:cNvSpPr>
            <a:spLocks noGrp="1"/>
          </p:cNvSpPr>
          <p:nvPr/>
        </p:nvSpPr>
        <p:spPr>
          <a:xfrm>
            <a:off x="79438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A18458"/>
                </a:solidFill>
                <a:latin typeface="微软雅黑" panose="020B0503020204020204" charset="-122"/>
                <a:ea typeface="微软雅黑" panose="020B0503020204020204" charset="-122"/>
                <a:cs typeface="微软雅黑" panose="020B0503020204020204" charset="-122"/>
              </a:defRPr>
            </a:pPr>
            <a:r>
              <a:rPr sz="1500" b="1">
                <a:solidFill>
                  <a:srgbClr val="A18458"/>
                </a:solidFill>
                <a:latin typeface="微软雅黑" panose="020B0503020204020204" charset="-122"/>
                <a:ea typeface="微软雅黑" panose="020B0503020204020204" charset="-122"/>
                <a:cs typeface="微软雅黑" panose="020B0503020204020204" charset="-122"/>
              </a:rPr>
              <a:t>检查</a:t>
            </a:r>
            <a:endParaRPr sz="15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79438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不使用未来数据</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计入交易成本</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Token未进入仓库</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t="27" b="27"/>
          <a:stretch>
            <a:fillRect/>
          </a:stretch>
        </p:blipFill>
        <p:spPr>
          <a:xfrm>
            <a:off x="0" y="0"/>
            <a:ext cx="12192000" cy="6858000"/>
          </a:xfrm>
          <a:prstGeom prst="rect">
            <a:avLst/>
          </a:prstGeom>
        </p:spPr>
      </p:pic>
      <p:sp>
        <p:nvSpPr>
          <p:cNvPr id="2" name="矩形 1"/>
          <p:cNvSpPr>
            <a:spLocks noGrp="1"/>
          </p:cNvSpPr>
          <p:nvPr/>
        </p:nvSpPr>
        <p:spPr>
          <a:xfrm>
            <a:off x="0" y="0"/>
            <a:ext cx="6667500" cy="6858000"/>
          </a:xfrm>
          <a:prstGeom prst="rect">
            <a:avLst/>
          </a:prstGeom>
          <a:solidFill>
            <a:srgbClr val="F3F0E6"/>
          </a:solidFill>
          <a:ln w="0">
            <a:noFill/>
            <a:prstDash val="solid"/>
          </a:ln>
        </p:spPr>
      </p:sp>
      <p:sp>
        <p:nvSpPr>
          <p:cNvPr id="3" name="矩形 2"/>
          <p:cNvSpPr>
            <a:spLocks noGrp="1"/>
          </p:cNvSpPr>
          <p:nvPr/>
        </p:nvSpPr>
        <p:spPr>
          <a:xfrm>
            <a:off x="647700" y="400050"/>
            <a:ext cx="2190750" cy="1066800"/>
          </a:xfrm>
          <a:prstGeom prst="rect">
            <a:avLst/>
          </a:prstGeom>
          <a:noFill/>
          <a:ln w="0">
            <a:noFill/>
            <a:prstDash val="solid"/>
          </a:ln>
        </p:spPr>
        <p:txBody>
          <a:bodyPr wrap="square" lIns="0" tIns="0" rIns="0" bIns="0" anchor="t">
            <a:normAutofit fontScale="96899"/>
          </a:bodyPr>
          <a:lstStyle/>
          <a:p>
            <a:pPr algn="l">
              <a:lnSpc>
                <a:spcPct val="112000"/>
              </a:lnSpc>
              <a:buNone/>
              <a:defRPr sz="6450" b="0">
                <a:solidFill>
                  <a:srgbClr val="A18458"/>
                </a:solidFill>
                <a:latin typeface="Times New Roman" panose="02020603050405020304"/>
                <a:ea typeface="Times New Roman" panose="02020603050405020304"/>
                <a:cs typeface="Times New Roman" panose="02020603050405020304"/>
              </a:defRPr>
            </a:pPr>
            <a:r>
              <a:rPr sz="6450" b="0">
                <a:solidFill>
                  <a:srgbClr val="A18458"/>
                </a:solidFill>
                <a:latin typeface="Times New Roman" panose="02020603050405020304"/>
                <a:ea typeface="Times New Roman" panose="02020603050405020304"/>
                <a:cs typeface="Times New Roman" panose="02020603050405020304"/>
              </a:rPr>
              <a:t>06</a:t>
            </a:r>
            <a:endParaRPr sz="6450" b="0">
              <a:solidFill>
                <a:srgbClr val="A18458"/>
              </a:solidFill>
              <a:latin typeface="Times New Roman" panose="02020603050405020304"/>
              <a:ea typeface="Times New Roman" panose="02020603050405020304"/>
              <a:cs typeface="Times New Roman" panose="02020603050405020304"/>
            </a:endParaRPr>
          </a:p>
        </p:txBody>
      </p:sp>
      <p:sp>
        <p:nvSpPr>
          <p:cNvPr id="4" name="直接连接符 3"/>
          <p:cNvSpPr>
            <a:spLocks noGrp="1"/>
          </p:cNvSpPr>
          <p:nvPr/>
        </p:nvSpPr>
        <p:spPr>
          <a:xfrm>
            <a:off x="704850" y="1466850"/>
            <a:ext cx="1104900" cy="0"/>
          </a:xfrm>
          <a:prstGeom prst="line">
            <a:avLst/>
          </a:prstGeom>
          <a:noFill/>
          <a:ln w="14288">
            <a:solidFill>
              <a:srgbClr val="A18458"/>
            </a:solidFill>
            <a:prstDash val="solid"/>
          </a:ln>
        </p:spPr>
      </p:sp>
      <p:sp>
        <p:nvSpPr>
          <p:cNvPr id="5" name="矩形 4"/>
          <p:cNvSpPr>
            <a:spLocks noGrp="1"/>
          </p:cNvSpPr>
          <p:nvPr/>
        </p:nvSpPr>
        <p:spPr>
          <a:xfrm>
            <a:off x="685800" y="1790700"/>
            <a:ext cx="5334000" cy="838200"/>
          </a:xfrm>
          <a:prstGeom prst="rect">
            <a:avLst/>
          </a:prstGeom>
          <a:noFill/>
          <a:ln w="0">
            <a:noFill/>
            <a:prstDash val="solid"/>
          </a:ln>
        </p:spPr>
        <p:txBody>
          <a:bodyPr wrap="square" lIns="0" tIns="0" rIns="0" bIns="0" anchor="t">
            <a:normAutofit/>
          </a:bodyPr>
          <a:lstStyle/>
          <a:p>
            <a:pPr algn="l">
              <a:lnSpc>
                <a:spcPct val="112000"/>
              </a:lnSpc>
              <a:buNone/>
              <a:defRPr sz="4050" b="0">
                <a:solidFill>
                  <a:srgbClr val="263431"/>
                </a:solidFill>
                <a:latin typeface="黑体" panose="02010609060101010101" charset="-122"/>
                <a:ea typeface="黑体" panose="02010609060101010101" charset="-122"/>
                <a:cs typeface="黑体" panose="02010609060101010101" charset="-122"/>
              </a:defRPr>
            </a:pPr>
            <a:r>
              <a:rPr sz="4050" b="0">
                <a:solidFill>
                  <a:srgbClr val="263431"/>
                </a:solidFill>
                <a:latin typeface="黑体" panose="02010609060101010101" charset="-122"/>
                <a:ea typeface="黑体" panose="02010609060101010101" charset="-122"/>
                <a:cs typeface="黑体" panose="02010609060101010101" charset="-122"/>
              </a:rPr>
              <a:t>保存、复用与扩展</a:t>
            </a:r>
            <a:endParaRPr sz="4050" b="0">
              <a:solidFill>
                <a:srgbClr val="263431"/>
              </a:solidFill>
              <a:latin typeface="黑体" panose="02010609060101010101" charset="-122"/>
              <a:ea typeface="黑体" panose="02010609060101010101" charset="-122"/>
              <a:cs typeface="黑体" panose="02010609060101010101" charset="-122"/>
            </a:endParaRPr>
          </a:p>
        </p:txBody>
      </p:sp>
      <p:sp>
        <p:nvSpPr>
          <p:cNvPr id="6" name="矩形 5"/>
          <p:cNvSpPr>
            <a:spLocks noGrp="1"/>
          </p:cNvSpPr>
          <p:nvPr/>
        </p:nvSpPr>
        <p:spPr>
          <a:xfrm>
            <a:off x="781050" y="32575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01  README记录状态</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781050" y="37147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02  Git保存检查点</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81050" y="41719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03  创建Skill</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81050" y="46291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04  了解新工具</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781050" y="5086350"/>
            <a:ext cx="4857750" cy="304800"/>
          </a:xfrm>
          <a:prstGeom prst="rect">
            <a:avLst/>
          </a:prstGeom>
          <a:noFill/>
          <a:ln w="0">
            <a:noFill/>
            <a:prstDash val="solid"/>
          </a:ln>
        </p:spPr>
        <p:txBody>
          <a:bodyPr wrap="square" lIns="0" tIns="0" rIns="0" bIns="0" anchor="t">
            <a:normAutofit/>
          </a:bodyPr>
          <a:lstStyle/>
          <a:p>
            <a:pPr algn="l">
              <a:lnSpc>
                <a:spcPct val="112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05  持续获取信息</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685800" y="5753100"/>
            <a:ext cx="5334000" cy="38100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本部分成果：把一次完成的工作变成可继续使用的方法</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7" name="矩形 16"/>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README说明项目现在是什么状态</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9048750" y="6410325"/>
            <a:ext cx="1028700" cy="0"/>
          </a:xfrm>
          <a:prstGeom prst="line">
            <a:avLst/>
          </a:prstGeom>
          <a:noFill/>
          <a:ln w="38100">
            <a:solidFill>
              <a:srgbClr val="315F55"/>
            </a:solidFill>
            <a:prstDash val="solid"/>
          </a:ln>
        </p:spPr>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47</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6096000" y="1838325"/>
            <a:ext cx="0" cy="3857625"/>
          </a:xfrm>
          <a:prstGeom prst="line">
            <a:avLst/>
          </a:prstGeom>
          <a:noFill/>
          <a:ln w="9525">
            <a:solidFill>
              <a:srgbClr val="C9D0C8"/>
            </a:solidFill>
            <a:prstDash val="solid"/>
          </a:ln>
        </p:spPr>
      </p:sp>
      <p:sp>
        <p:nvSpPr>
          <p:cNvPr id="13" name="矩形 12"/>
          <p:cNvSpPr>
            <a:spLocks noGrp="1"/>
          </p:cNvSpPr>
          <p:nvPr/>
        </p:nvSpPr>
        <p:spPr>
          <a:xfrm>
            <a:off x="8001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基本内容</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6294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必要记录</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001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项目目的</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目录和主要文件</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当前进度</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下一步工作</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66294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重要决定</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尚未解决的问题</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运行或继续工作的方法</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6" name="矩形 25"/>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让Codex初始化Git仓库并建立.gitignore</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9048750" y="6410325"/>
            <a:ext cx="1028700" cy="0"/>
          </a:xfrm>
          <a:prstGeom prst="line">
            <a:avLst/>
          </a:prstGeom>
          <a:noFill/>
          <a:ln w="38100">
            <a:solidFill>
              <a:srgbClr val="315F55"/>
            </a:solidFill>
            <a:prstDash val="solid"/>
          </a:ln>
        </p:spPr>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48</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800100" y="1809750"/>
            <a:ext cx="6667500" cy="3429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在Agent对话中直接下达</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781050" y="2343150"/>
            <a:ext cx="6667500" cy="2781300"/>
          </a:xfrm>
          <a:prstGeom prst="roundRect">
            <a:avLst>
              <a:gd name="adj" fmla="val 2740"/>
            </a:avLst>
          </a:prstGeom>
          <a:solidFill>
            <a:srgbClr val="F3F0E6"/>
          </a:solidFill>
          <a:ln w="9525">
            <a:solidFill>
              <a:srgbClr val="8FA99C"/>
            </a:solidFill>
            <a:prstDash val="solid"/>
          </a:ln>
        </p:spPr>
      </p:sp>
      <p:sp>
        <p:nvSpPr>
          <p:cNvPr id="14" name="矩形 13"/>
          <p:cNvSpPr>
            <a:spLocks noGrp="1"/>
          </p:cNvSpPr>
          <p:nvPr/>
        </p:nvSpPr>
        <p:spPr>
          <a:xfrm>
            <a:off x="1066800" y="2628900"/>
            <a:ext cx="6096000" cy="2209800"/>
          </a:xfrm>
          <a:prstGeom prst="rect">
            <a:avLst/>
          </a:prstGeom>
          <a:noFill/>
          <a:ln w="0">
            <a:noFill/>
            <a:prstDash val="solid"/>
          </a:ln>
        </p:spPr>
        <p:txBody>
          <a:bodyPr wrap="square" lIns="0" tIns="0" rIns="0" bIns="0" anchor="t">
            <a:normAutofit/>
          </a:bodyPr>
          <a:lstStyle/>
          <a:p>
            <a:pPr algn="l">
              <a:lnSpc>
                <a:spcPct val="124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请检查当前项目文件夹并初始化Git仓库，再根据已有文件生成常用的 .gitignore。</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endParaRPr sz="1800"/>
          </a:p>
          <a:p>
            <a:pPr algn="l">
              <a:lnSpc>
                <a:spcPct val="124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不要忽略正式成果和必要文档。完成后说明：做了什么、忽略了什么、哪些敏感文件仍需我确认。</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5" name="直接连接符 14"/>
          <p:cNvSpPr>
            <a:spLocks noGrp="1"/>
          </p:cNvSpPr>
          <p:nvPr/>
        </p:nvSpPr>
        <p:spPr>
          <a:xfrm>
            <a:off x="7905750" y="1847850"/>
            <a:ext cx="0" cy="3486150"/>
          </a:xfrm>
          <a:prstGeom prst="line">
            <a:avLst/>
          </a:prstGeom>
          <a:noFill/>
          <a:ln w="9525">
            <a:solidFill>
              <a:srgbClr val="C9D0C8"/>
            </a:solidFill>
            <a:prstDash val="solid"/>
          </a:ln>
        </p:spPr>
      </p:sp>
      <p:sp>
        <p:nvSpPr>
          <p:cNvPr id="16" name="矩形 15"/>
          <p:cNvSpPr>
            <a:spLocks noGrp="1"/>
          </p:cNvSpPr>
          <p:nvPr/>
        </p:nvSpPr>
        <p:spPr>
          <a:xfrm>
            <a:off x="8343900" y="1809750"/>
            <a:ext cx="2857500" cy="3429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完成后检查</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8343900" y="2419350"/>
            <a:ext cx="381000" cy="285750"/>
          </a:xfrm>
          <a:prstGeom prst="rect">
            <a:avLst/>
          </a:prstGeom>
          <a:noFill/>
          <a:ln w="0">
            <a:noFill/>
            <a:prstDash val="solid"/>
          </a:ln>
        </p:spPr>
        <p:txBody>
          <a:bodyPr wrap="square" lIns="0" tIns="0" rIns="0" bIns="0" anchor="t">
            <a:normAutofit/>
          </a:bodyPr>
          <a:lstStyle/>
          <a:p>
            <a:pPr algn="l">
              <a:lnSpc>
                <a:spcPct val="112000"/>
              </a:lnSpc>
              <a:buNone/>
              <a:defRPr sz="1350" b="0">
                <a:solidFill>
                  <a:srgbClr val="A18458"/>
                </a:solidFill>
                <a:latin typeface="微软雅黑" panose="020B0503020204020204" charset="-122"/>
                <a:ea typeface="微软雅黑" panose="020B0503020204020204" charset="-122"/>
                <a:cs typeface="微软雅黑" panose="020B0503020204020204" charset="-122"/>
              </a:defRPr>
            </a:pPr>
            <a:r>
              <a:rPr sz="1350" b="0">
                <a:solidFill>
                  <a:srgbClr val="A18458"/>
                </a:solidFill>
                <a:latin typeface="微软雅黑" panose="020B0503020204020204" charset="-122"/>
                <a:ea typeface="微软雅黑" panose="020B0503020204020204" charset="-122"/>
                <a:cs typeface="微软雅黑" panose="020B0503020204020204" charset="-122"/>
              </a:rPr>
              <a:t>01</a:t>
            </a:r>
            <a:endParaRPr sz="1350" b="0">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8839200" y="2419350"/>
            <a:ext cx="2362200" cy="400050"/>
          </a:xfrm>
          <a:prstGeom prst="rect">
            <a:avLst/>
          </a:prstGeom>
          <a:noFill/>
          <a:ln w="0">
            <a:noFill/>
            <a:prstDash val="solid"/>
          </a:ln>
        </p:spPr>
        <p:txBody>
          <a:bodyPr wrap="square" lIns="0" tIns="0" rIns="0" bIns="0" anchor="t">
            <a:normAutofit/>
          </a:bodyPr>
          <a:lstStyle/>
          <a:p>
            <a:pPr algn="l">
              <a:lnSpc>
                <a:spcPct val="115000"/>
              </a:lnSpc>
              <a:buNone/>
              <a:defRPr sz="1500" b="0">
                <a:solidFill>
                  <a:srgbClr val="263431"/>
                </a:solidFill>
                <a:latin typeface="微软雅黑" panose="020B0503020204020204" charset="-122"/>
                <a:ea typeface="微软雅黑" panose="020B0503020204020204" charset="-122"/>
                <a:cs typeface="微软雅黑" panose="020B0503020204020204" charset="-122"/>
              </a:defRPr>
            </a:pPr>
            <a:r>
              <a:rPr sz="1500" b="0">
                <a:solidFill>
                  <a:srgbClr val="263431"/>
                </a:solidFill>
                <a:latin typeface="微软雅黑" panose="020B0503020204020204" charset="-122"/>
                <a:ea typeface="微软雅黑" panose="020B0503020204020204" charset="-122"/>
                <a:cs typeface="微软雅黑" panose="020B0503020204020204" charset="-122"/>
              </a:rPr>
              <a:t>已建立Git仓库</a:t>
            </a:r>
            <a:endParaRPr sz="15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8343900" y="2952750"/>
            <a:ext cx="381000" cy="285750"/>
          </a:xfrm>
          <a:prstGeom prst="rect">
            <a:avLst/>
          </a:prstGeom>
          <a:noFill/>
          <a:ln w="0">
            <a:noFill/>
            <a:prstDash val="solid"/>
          </a:ln>
        </p:spPr>
        <p:txBody>
          <a:bodyPr wrap="square" lIns="0" tIns="0" rIns="0" bIns="0" anchor="t">
            <a:normAutofit/>
          </a:bodyPr>
          <a:lstStyle/>
          <a:p>
            <a:pPr algn="l">
              <a:lnSpc>
                <a:spcPct val="112000"/>
              </a:lnSpc>
              <a:buNone/>
              <a:defRPr sz="1350" b="0">
                <a:solidFill>
                  <a:srgbClr val="A18458"/>
                </a:solidFill>
                <a:latin typeface="微软雅黑" panose="020B0503020204020204" charset="-122"/>
                <a:ea typeface="微软雅黑" panose="020B0503020204020204" charset="-122"/>
                <a:cs typeface="微软雅黑" panose="020B0503020204020204" charset="-122"/>
              </a:defRPr>
            </a:pPr>
            <a:r>
              <a:rPr sz="1350" b="0">
                <a:solidFill>
                  <a:srgbClr val="A18458"/>
                </a:solidFill>
                <a:latin typeface="微软雅黑" panose="020B0503020204020204" charset="-122"/>
                <a:ea typeface="微软雅黑" panose="020B0503020204020204" charset="-122"/>
                <a:cs typeface="微软雅黑" panose="020B0503020204020204" charset="-122"/>
              </a:rPr>
              <a:t>02</a:t>
            </a:r>
            <a:endParaRPr sz="1350" b="0">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8839200" y="2952750"/>
            <a:ext cx="2362200" cy="400050"/>
          </a:xfrm>
          <a:prstGeom prst="rect">
            <a:avLst/>
          </a:prstGeom>
          <a:noFill/>
          <a:ln w="0">
            <a:noFill/>
            <a:prstDash val="solid"/>
          </a:ln>
        </p:spPr>
        <p:txBody>
          <a:bodyPr wrap="square" lIns="0" tIns="0" rIns="0" bIns="0" anchor="t">
            <a:normAutofit/>
          </a:bodyPr>
          <a:lstStyle/>
          <a:p>
            <a:pPr algn="l">
              <a:lnSpc>
                <a:spcPct val="115000"/>
              </a:lnSpc>
              <a:buNone/>
              <a:defRPr sz="1500" b="0">
                <a:solidFill>
                  <a:srgbClr val="263431"/>
                </a:solidFill>
                <a:latin typeface="微软雅黑" panose="020B0503020204020204" charset="-122"/>
                <a:ea typeface="微软雅黑" panose="020B0503020204020204" charset="-122"/>
                <a:cs typeface="微软雅黑" panose="020B0503020204020204" charset="-122"/>
              </a:defRPr>
            </a:pPr>
            <a:r>
              <a:rPr sz="1500" b="0">
                <a:solidFill>
                  <a:srgbClr val="263431"/>
                </a:solidFill>
                <a:latin typeface="微软雅黑" panose="020B0503020204020204" charset="-122"/>
                <a:ea typeface="微软雅黑" panose="020B0503020204020204" charset="-122"/>
                <a:cs typeface="微软雅黑" panose="020B0503020204020204" charset="-122"/>
              </a:rPr>
              <a:t>已生成 .gitignore</a:t>
            </a:r>
            <a:endParaRPr sz="15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1" name="矩形 20"/>
          <p:cNvSpPr>
            <a:spLocks noGrp="1"/>
          </p:cNvSpPr>
          <p:nvPr/>
        </p:nvSpPr>
        <p:spPr>
          <a:xfrm>
            <a:off x="8343900" y="3486150"/>
            <a:ext cx="381000" cy="285750"/>
          </a:xfrm>
          <a:prstGeom prst="rect">
            <a:avLst/>
          </a:prstGeom>
          <a:noFill/>
          <a:ln w="0">
            <a:noFill/>
            <a:prstDash val="solid"/>
          </a:ln>
        </p:spPr>
        <p:txBody>
          <a:bodyPr wrap="square" lIns="0" tIns="0" rIns="0" bIns="0" anchor="t">
            <a:normAutofit/>
          </a:bodyPr>
          <a:lstStyle/>
          <a:p>
            <a:pPr algn="l">
              <a:lnSpc>
                <a:spcPct val="112000"/>
              </a:lnSpc>
              <a:buNone/>
              <a:defRPr sz="1350" b="0">
                <a:solidFill>
                  <a:srgbClr val="A18458"/>
                </a:solidFill>
                <a:latin typeface="微软雅黑" panose="020B0503020204020204" charset="-122"/>
                <a:ea typeface="微软雅黑" panose="020B0503020204020204" charset="-122"/>
                <a:cs typeface="微软雅黑" panose="020B0503020204020204" charset="-122"/>
              </a:defRPr>
            </a:pPr>
            <a:r>
              <a:rPr sz="1350" b="0">
                <a:solidFill>
                  <a:srgbClr val="A18458"/>
                </a:solidFill>
                <a:latin typeface="微软雅黑" panose="020B0503020204020204" charset="-122"/>
                <a:ea typeface="微软雅黑" panose="020B0503020204020204" charset="-122"/>
                <a:cs typeface="微软雅黑" panose="020B0503020204020204" charset="-122"/>
              </a:rPr>
              <a:t>03</a:t>
            </a:r>
            <a:endParaRPr sz="1350" b="0">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8839200" y="3486150"/>
            <a:ext cx="2362200" cy="704850"/>
          </a:xfrm>
          <a:prstGeom prst="rect">
            <a:avLst/>
          </a:prstGeom>
          <a:noFill/>
          <a:ln w="0">
            <a:noFill/>
            <a:prstDash val="solid"/>
          </a:ln>
        </p:spPr>
        <p:txBody>
          <a:bodyPr wrap="square" lIns="0" tIns="0" rIns="0" bIns="0" anchor="t">
            <a:normAutofit/>
          </a:bodyPr>
          <a:lstStyle/>
          <a:p>
            <a:pPr algn="l">
              <a:lnSpc>
                <a:spcPct val="115000"/>
              </a:lnSpc>
              <a:buNone/>
              <a:defRPr sz="1500" b="0">
                <a:solidFill>
                  <a:srgbClr val="263431"/>
                </a:solidFill>
                <a:latin typeface="微软雅黑" panose="020B0503020204020204" charset="-122"/>
                <a:ea typeface="微软雅黑" panose="020B0503020204020204" charset="-122"/>
                <a:cs typeface="微软雅黑" panose="020B0503020204020204" charset="-122"/>
              </a:defRPr>
            </a:pPr>
            <a:r>
              <a:rPr sz="1500" b="0">
                <a:solidFill>
                  <a:srgbClr val="263431"/>
                </a:solidFill>
                <a:latin typeface="微软雅黑" panose="020B0503020204020204" charset="-122"/>
                <a:ea typeface="微软雅黑" panose="020B0503020204020204" charset="-122"/>
                <a:cs typeface="微软雅黑" panose="020B0503020204020204" charset="-122"/>
              </a:rPr>
              <a:t>临时文件、缓存、依赖和密钥文件已排除</a:t>
            </a:r>
            <a:endParaRPr sz="15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8343900" y="4362450"/>
            <a:ext cx="381000" cy="285750"/>
          </a:xfrm>
          <a:prstGeom prst="rect">
            <a:avLst/>
          </a:prstGeom>
          <a:noFill/>
          <a:ln w="0">
            <a:noFill/>
            <a:prstDash val="solid"/>
          </a:ln>
        </p:spPr>
        <p:txBody>
          <a:bodyPr wrap="square" lIns="0" tIns="0" rIns="0" bIns="0" anchor="t">
            <a:normAutofit/>
          </a:bodyPr>
          <a:lstStyle/>
          <a:p>
            <a:pPr algn="l">
              <a:lnSpc>
                <a:spcPct val="112000"/>
              </a:lnSpc>
              <a:buNone/>
              <a:defRPr sz="1350" b="0">
                <a:solidFill>
                  <a:srgbClr val="A18458"/>
                </a:solidFill>
                <a:latin typeface="微软雅黑" panose="020B0503020204020204" charset="-122"/>
                <a:ea typeface="微软雅黑" panose="020B0503020204020204" charset="-122"/>
                <a:cs typeface="微软雅黑" panose="020B0503020204020204" charset="-122"/>
              </a:defRPr>
            </a:pPr>
            <a:r>
              <a:rPr sz="1350" b="0">
                <a:solidFill>
                  <a:srgbClr val="A18458"/>
                </a:solidFill>
                <a:latin typeface="微软雅黑" panose="020B0503020204020204" charset="-122"/>
                <a:ea typeface="微软雅黑" panose="020B0503020204020204" charset="-122"/>
                <a:cs typeface="微软雅黑" panose="020B0503020204020204" charset="-122"/>
              </a:rPr>
              <a:t>04</a:t>
            </a:r>
            <a:endParaRPr sz="1350" b="0">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4" name="矩形 23"/>
          <p:cNvSpPr>
            <a:spLocks noGrp="1"/>
          </p:cNvSpPr>
          <p:nvPr/>
        </p:nvSpPr>
        <p:spPr>
          <a:xfrm>
            <a:off x="8839200" y="4362450"/>
            <a:ext cx="2362200" cy="742950"/>
          </a:xfrm>
          <a:prstGeom prst="rect">
            <a:avLst/>
          </a:prstGeom>
          <a:noFill/>
          <a:ln w="0">
            <a:noFill/>
            <a:prstDash val="solid"/>
          </a:ln>
        </p:spPr>
        <p:txBody>
          <a:bodyPr wrap="square" lIns="0" tIns="0" rIns="0" bIns="0" anchor="t">
            <a:normAutofit/>
          </a:bodyPr>
          <a:lstStyle/>
          <a:p>
            <a:pPr algn="l">
              <a:lnSpc>
                <a:spcPct val="115000"/>
              </a:lnSpc>
              <a:buNone/>
              <a:defRPr sz="1500" b="0">
                <a:solidFill>
                  <a:srgbClr val="263431"/>
                </a:solidFill>
                <a:latin typeface="微软雅黑" panose="020B0503020204020204" charset="-122"/>
                <a:ea typeface="微软雅黑" panose="020B0503020204020204" charset="-122"/>
                <a:cs typeface="微软雅黑" panose="020B0503020204020204" charset="-122"/>
              </a:defRPr>
            </a:pPr>
            <a:r>
              <a:rPr sz="1500" b="0">
                <a:solidFill>
                  <a:srgbClr val="263431"/>
                </a:solidFill>
                <a:latin typeface="微软雅黑" panose="020B0503020204020204" charset="-122"/>
                <a:ea typeface="微软雅黑" panose="020B0503020204020204" charset="-122"/>
                <a:cs typeface="微软雅黑" panose="020B0503020204020204" charset="-122"/>
              </a:rPr>
              <a:t>README、需求文档和正式成果仍可保存历史</a:t>
            </a:r>
            <a:endParaRPr sz="15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5" name="矩形 24"/>
          <p:cNvSpPr>
            <a:spLocks noGrp="1"/>
          </p:cNvSpPr>
          <p:nvPr/>
        </p:nvSpPr>
        <p:spPr>
          <a:xfrm>
            <a:off x="1200150" y="5619750"/>
            <a:ext cx="9791700" cy="361950"/>
          </a:xfrm>
          <a:prstGeom prst="rect">
            <a:avLst/>
          </a:prstGeom>
          <a:noFill/>
          <a:ln w="0">
            <a:noFill/>
            <a:prstDash val="solid"/>
          </a:ln>
        </p:spPr>
        <p:txBody>
          <a:bodyPr wrap="square" lIns="0" tIns="0" rIns="0" bIns="0" anchor="t">
            <a:normAutofit/>
          </a:bodyPr>
          <a:lstStyle/>
          <a:p>
            <a:pPr algn="ctr">
              <a:lnSpc>
                <a:spcPct val="112000"/>
              </a:lnSpc>
              <a:buNone/>
              <a:defRPr sz="1575" b="0">
                <a:solidFill>
                  <a:srgbClr val="8A4D42"/>
                </a:solidFill>
                <a:latin typeface="微软雅黑" panose="020B0503020204020204" charset="-122"/>
                <a:ea typeface="微软雅黑" panose="020B0503020204020204" charset="-122"/>
                <a:cs typeface="微软雅黑" panose="020B0503020204020204" charset="-122"/>
              </a:defRPr>
            </a:pPr>
            <a:r>
              <a:rPr sz="1575" b="0">
                <a:solidFill>
                  <a:srgbClr val="8A4D42"/>
                </a:solidFill>
                <a:latin typeface="微软雅黑" panose="020B0503020204020204" charset="-122"/>
                <a:ea typeface="微软雅黑" panose="020B0503020204020204" charset="-122"/>
                <a:cs typeface="微软雅黑" panose="020B0503020204020204" charset="-122"/>
              </a:rPr>
              <a:t>真实合同原件、账号、密码和API Key须单独确认。</a:t>
            </a:r>
            <a:endParaRPr sz="1575" b="0">
              <a:solidFill>
                <a:srgbClr val="8A4D4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38" name="矩形 37"/>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代码和文档在本地工作，远程仓库用于同步</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9048750" y="6410325"/>
            <a:ext cx="1028700" cy="0"/>
          </a:xfrm>
          <a:prstGeom prst="line">
            <a:avLst/>
          </a:prstGeom>
          <a:noFill/>
          <a:ln w="38100">
            <a:solidFill>
              <a:srgbClr val="315F55"/>
            </a:solidFill>
            <a:prstDash val="solid"/>
          </a:ln>
        </p:spPr>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49</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742950" y="1790700"/>
            <a:ext cx="6667500" cy="3409950"/>
          </a:xfrm>
          <a:prstGeom prst="roundRect">
            <a:avLst>
              <a:gd name="adj" fmla="val 2235"/>
            </a:avLst>
          </a:prstGeom>
          <a:solidFill>
            <a:srgbClr val="F3F0E6"/>
          </a:solidFill>
          <a:ln w="9525">
            <a:solidFill>
              <a:srgbClr val="C9D0C8"/>
            </a:solidFill>
            <a:prstDash val="solid"/>
          </a:ln>
        </p:spPr>
      </p:sp>
      <p:sp>
        <p:nvSpPr>
          <p:cNvPr id="13" name="矩形 12"/>
          <p:cNvSpPr>
            <a:spLocks noGrp="1"/>
          </p:cNvSpPr>
          <p:nvPr/>
        </p:nvSpPr>
        <p:spPr>
          <a:xfrm>
            <a:off x="990600" y="1962150"/>
            <a:ext cx="2095500" cy="28575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你的机器</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3371850" y="3495675"/>
            <a:ext cx="1314450" cy="0"/>
          </a:xfrm>
          <a:prstGeom prst="line">
            <a:avLst/>
          </a:prstGeom>
          <a:noFill/>
          <a:ln w="28575">
            <a:solidFill>
              <a:srgbClr val="8FA99C"/>
            </a:solidFill>
            <a:prstDash val="solid"/>
          </a:ln>
        </p:spPr>
      </p:sp>
      <p:sp>
        <p:nvSpPr>
          <p:cNvPr id="15" name="矩形 14"/>
          <p:cNvSpPr>
            <a:spLocks noGrp="1"/>
          </p:cNvSpPr>
          <p:nvPr/>
        </p:nvSpPr>
        <p:spPr>
          <a:xfrm>
            <a:off x="3781425" y="3171825"/>
            <a:ext cx="514350" cy="552450"/>
          </a:xfrm>
          <a:prstGeom prst="rect">
            <a:avLst/>
          </a:prstGeom>
          <a:noFill/>
          <a:ln w="0">
            <a:noFill/>
            <a:prstDash val="solid"/>
          </a:ln>
        </p:spPr>
        <p:txBody>
          <a:bodyPr wrap="square" lIns="0" tIns="0" rIns="0" bIns="0" anchor="ctr">
            <a:normAutofit/>
          </a:bodyPr>
          <a:lstStyle/>
          <a:p>
            <a:pPr algn="ctr">
              <a:lnSpc>
                <a:spcPct val="112000"/>
              </a:lnSpc>
              <a:buNone/>
              <a:defRPr sz="2850" b="0">
                <a:solidFill>
                  <a:srgbClr val="315F55"/>
                </a:solidFill>
                <a:latin typeface="微软雅黑" panose="020B0503020204020204" charset="-122"/>
                <a:ea typeface="微软雅黑" panose="020B0503020204020204" charset="-122"/>
                <a:cs typeface="微软雅黑" panose="020B0503020204020204" charset="-122"/>
              </a:defRPr>
            </a:pPr>
            <a:r>
              <a:rPr sz="2850" b="0">
                <a:solidFill>
                  <a:srgbClr val="315F55"/>
                </a:solidFill>
                <a:latin typeface="微软雅黑" panose="020B0503020204020204" charset="-122"/>
                <a:ea typeface="微软雅黑" panose="020B0503020204020204" charset="-122"/>
                <a:cs typeface="微软雅黑" panose="020B0503020204020204" charset="-122"/>
              </a:rPr>
              <a:t>→</a:t>
            </a:r>
            <a:endParaRPr sz="2850" b="0">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3429000" y="3810000"/>
            <a:ext cx="1200150" cy="266700"/>
          </a:xfrm>
          <a:prstGeom prst="rect">
            <a:avLst/>
          </a:prstGeom>
          <a:noFill/>
          <a:ln w="0">
            <a:noFill/>
            <a:prstDash val="solid"/>
          </a:ln>
        </p:spPr>
        <p:txBody>
          <a:bodyPr wrap="square" lIns="0" tIns="0" rIns="0" bIns="0" anchor="t">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提交（commit）</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7105650" y="3209925"/>
            <a:ext cx="1238250" cy="0"/>
          </a:xfrm>
          <a:prstGeom prst="line">
            <a:avLst/>
          </a:prstGeom>
          <a:noFill/>
          <a:ln w="28575">
            <a:solidFill>
              <a:srgbClr val="8FA99C"/>
            </a:solidFill>
            <a:prstDash val="solid"/>
          </a:ln>
        </p:spPr>
      </p:sp>
      <p:sp>
        <p:nvSpPr>
          <p:cNvPr id="18" name="矩形 17"/>
          <p:cNvSpPr>
            <a:spLocks noGrp="1"/>
          </p:cNvSpPr>
          <p:nvPr/>
        </p:nvSpPr>
        <p:spPr>
          <a:xfrm>
            <a:off x="7086600" y="2724150"/>
            <a:ext cx="1333500" cy="228600"/>
          </a:xfrm>
          <a:prstGeom prst="rect">
            <a:avLst/>
          </a:prstGeom>
          <a:noFill/>
          <a:ln w="0">
            <a:noFill/>
            <a:prstDash val="solid"/>
          </a:ln>
        </p:spPr>
        <p:txBody>
          <a:bodyPr wrap="square" lIns="0" tIns="0" rIns="0" bIns="0" anchor="t">
            <a:normAutofit/>
          </a:bodyPr>
          <a:lstStyle/>
          <a:p>
            <a:pPr algn="ct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推送（push）</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7458075" y="2952750"/>
            <a:ext cx="590550" cy="400050"/>
          </a:xfrm>
          <a:prstGeom prst="rect">
            <a:avLst/>
          </a:prstGeom>
          <a:noFill/>
          <a:ln w="0">
            <a:noFill/>
            <a:prstDash val="solid"/>
          </a:ln>
        </p:spPr>
        <p:txBody>
          <a:bodyPr wrap="square" lIns="0" tIns="0" rIns="0" bIns="0" anchor="ctr">
            <a:normAutofit fontScale="86806"/>
          </a:bodyPr>
          <a:lstStyle/>
          <a:p>
            <a:pPr algn="ctr">
              <a:lnSpc>
                <a:spcPct val="112000"/>
              </a:lnSpc>
              <a:buNone/>
              <a:defRPr sz="2700" b="0">
                <a:solidFill>
                  <a:srgbClr val="315363"/>
                </a:solidFill>
                <a:latin typeface="微软雅黑" panose="020B0503020204020204" charset="-122"/>
                <a:ea typeface="微软雅黑" panose="020B0503020204020204" charset="-122"/>
                <a:cs typeface="微软雅黑" panose="020B0503020204020204" charset="-122"/>
              </a:defRPr>
            </a:pPr>
            <a:r>
              <a:rPr sz="2700" b="0">
                <a:solidFill>
                  <a:srgbClr val="315363"/>
                </a:solidFill>
                <a:latin typeface="微软雅黑" panose="020B0503020204020204" charset="-122"/>
                <a:ea typeface="微软雅黑" panose="020B0503020204020204" charset="-122"/>
                <a:cs typeface="微软雅黑" panose="020B0503020204020204" charset="-122"/>
              </a:rPr>
              <a:t>→</a:t>
            </a:r>
            <a:endParaRPr sz="2700" b="0">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105650" y="3857625"/>
            <a:ext cx="1238250" cy="0"/>
          </a:xfrm>
          <a:prstGeom prst="line">
            <a:avLst/>
          </a:prstGeom>
          <a:noFill/>
          <a:ln w="28575">
            <a:solidFill>
              <a:srgbClr val="8FA99C"/>
            </a:solidFill>
            <a:prstDash val="solid"/>
          </a:ln>
        </p:spPr>
      </p:sp>
      <p:sp>
        <p:nvSpPr>
          <p:cNvPr id="21" name="矩形 20"/>
          <p:cNvSpPr>
            <a:spLocks noGrp="1"/>
          </p:cNvSpPr>
          <p:nvPr/>
        </p:nvSpPr>
        <p:spPr>
          <a:xfrm>
            <a:off x="7458075" y="3600450"/>
            <a:ext cx="590550" cy="400050"/>
          </a:xfrm>
          <a:prstGeom prst="rect">
            <a:avLst/>
          </a:prstGeom>
          <a:noFill/>
          <a:ln w="0">
            <a:noFill/>
            <a:prstDash val="solid"/>
          </a:ln>
        </p:spPr>
        <p:txBody>
          <a:bodyPr wrap="square" lIns="0" tIns="0" rIns="0" bIns="0" anchor="ctr">
            <a:normAutofit fontScale="86806"/>
          </a:bodyPr>
          <a:lstStyle/>
          <a:p>
            <a:pPr algn="ctr">
              <a:lnSpc>
                <a:spcPct val="112000"/>
              </a:lnSpc>
              <a:buNone/>
              <a:defRPr sz="2700" b="0">
                <a:solidFill>
                  <a:srgbClr val="315363"/>
                </a:solidFill>
                <a:latin typeface="微软雅黑" panose="020B0503020204020204" charset="-122"/>
                <a:ea typeface="微软雅黑" panose="020B0503020204020204" charset="-122"/>
                <a:cs typeface="微软雅黑" panose="020B0503020204020204" charset="-122"/>
              </a:defRPr>
            </a:pPr>
            <a:r>
              <a:rPr sz="2700" b="0">
                <a:solidFill>
                  <a:srgbClr val="315363"/>
                </a:solidFill>
                <a:latin typeface="微软雅黑" panose="020B0503020204020204" charset="-122"/>
                <a:ea typeface="微软雅黑" panose="020B0503020204020204" charset="-122"/>
                <a:cs typeface="微软雅黑" panose="020B0503020204020204" charset="-122"/>
              </a:rPr>
              <a:t>←</a:t>
            </a:r>
            <a:endParaRPr sz="2700" b="0">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7086600" y="4019550"/>
            <a:ext cx="1333500" cy="228600"/>
          </a:xfrm>
          <a:prstGeom prst="rect">
            <a:avLst/>
          </a:prstGeom>
          <a:noFill/>
          <a:ln w="0">
            <a:noFill/>
            <a:prstDash val="solid"/>
          </a:ln>
        </p:spPr>
        <p:txBody>
          <a:bodyPr wrap="square" lIns="0" tIns="0" rIns="0" bIns="0" anchor="t">
            <a:normAutofit/>
          </a:bodyPr>
          <a:lstStyle/>
          <a:p>
            <a:pPr algn="ct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拉取（pull）</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23" name="圆角矩形 22"/>
          <p:cNvSpPr>
            <a:spLocks noGrp="1"/>
          </p:cNvSpPr>
          <p:nvPr/>
        </p:nvSpPr>
        <p:spPr>
          <a:xfrm>
            <a:off x="1066800" y="2628900"/>
            <a:ext cx="2305050" cy="1657350"/>
          </a:xfrm>
          <a:prstGeom prst="roundRect">
            <a:avLst>
              <a:gd name="adj" fmla="val 4598"/>
            </a:avLst>
          </a:prstGeom>
          <a:solidFill>
            <a:srgbClr val="FAF8F1"/>
          </a:solidFill>
          <a:ln w="9525">
            <a:solidFill>
              <a:srgbClr val="8FA99C"/>
            </a:solidFill>
            <a:prstDash val="solid"/>
          </a:ln>
        </p:spPr>
      </p:sp>
      <p:sp>
        <p:nvSpPr>
          <p:cNvPr id="24" name="矩形 23"/>
          <p:cNvSpPr>
            <a:spLocks noGrp="1"/>
          </p:cNvSpPr>
          <p:nvPr/>
        </p:nvSpPr>
        <p:spPr>
          <a:xfrm>
            <a:off x="1295400" y="2895600"/>
            <a:ext cx="1847850" cy="381000"/>
          </a:xfrm>
          <a:prstGeom prst="rect">
            <a:avLst/>
          </a:prstGeom>
          <a:noFill/>
          <a:ln w="0">
            <a:noFill/>
            <a:prstDash val="solid"/>
          </a:ln>
        </p:spPr>
        <p:txBody>
          <a:bodyPr wrap="square" lIns="0" tIns="0" rIns="0" bIns="0" anchor="t">
            <a:normAutofit/>
          </a:bodyPr>
          <a:lstStyle/>
          <a:p>
            <a:pPr algn="ctr">
              <a:lnSpc>
                <a:spcPct val="112000"/>
              </a:lnSpc>
              <a:buNone/>
              <a:defRPr sz="2025" b="1">
                <a:solidFill>
                  <a:srgbClr val="263431"/>
                </a:solidFill>
                <a:latin typeface="微软雅黑" panose="020B0503020204020204" charset="-122"/>
                <a:ea typeface="微软雅黑" panose="020B0503020204020204" charset="-122"/>
                <a:cs typeface="微软雅黑" panose="020B0503020204020204" charset="-122"/>
              </a:defRPr>
            </a:pPr>
            <a:r>
              <a:rPr sz="2025" b="1">
                <a:solidFill>
                  <a:srgbClr val="263431"/>
                </a:solidFill>
                <a:latin typeface="微软雅黑" panose="020B0503020204020204" charset="-122"/>
                <a:ea typeface="微软雅黑" panose="020B0503020204020204" charset="-122"/>
                <a:cs typeface="微软雅黑" panose="020B0503020204020204" charset="-122"/>
              </a:rPr>
              <a:t>代码 / 文档</a:t>
            </a:r>
            <a:endParaRPr sz="20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5" name="矩形 24"/>
          <p:cNvSpPr>
            <a:spLocks noGrp="1"/>
          </p:cNvSpPr>
          <p:nvPr/>
        </p:nvSpPr>
        <p:spPr>
          <a:xfrm>
            <a:off x="1295400" y="3495675"/>
            <a:ext cx="1847850" cy="323850"/>
          </a:xfrm>
          <a:prstGeom prst="rect">
            <a:avLst/>
          </a:prstGeom>
          <a:noFill/>
          <a:ln w="0">
            <a:noFill/>
            <a:prstDash val="solid"/>
          </a:ln>
        </p:spPr>
        <p:txBody>
          <a:bodyPr wrap="square" lIns="0" tIns="0" rIns="0" bIns="0" anchor="t">
            <a:normAutofit/>
          </a:bodyPr>
          <a:lstStyle/>
          <a:p>
            <a:pPr algn="ctr">
              <a:lnSpc>
                <a:spcPct val="112000"/>
              </a:lnSpc>
              <a:buNone/>
              <a:defRPr sz="1350" b="0">
                <a:solidFill>
                  <a:srgbClr val="68756F"/>
                </a:solidFill>
                <a:latin typeface="微软雅黑" panose="020B0503020204020204" charset="-122"/>
                <a:ea typeface="微软雅黑" panose="020B0503020204020204" charset="-122"/>
                <a:cs typeface="微软雅黑" panose="020B0503020204020204" charset="-122"/>
              </a:defRPr>
            </a:pPr>
            <a:r>
              <a:rPr sz="1350" b="0">
                <a:solidFill>
                  <a:srgbClr val="68756F"/>
                </a:solidFill>
                <a:latin typeface="微软雅黑" panose="020B0503020204020204" charset="-122"/>
                <a:ea typeface="微软雅黑" panose="020B0503020204020204" charset="-122"/>
                <a:cs typeface="微软雅黑" panose="020B0503020204020204" charset="-122"/>
              </a:rPr>
              <a:t>正在编辑的项目文件</a:t>
            </a:r>
            <a:endParaRPr sz="135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26" name="圆角矩形 25"/>
          <p:cNvSpPr>
            <a:spLocks noGrp="1"/>
          </p:cNvSpPr>
          <p:nvPr/>
        </p:nvSpPr>
        <p:spPr>
          <a:xfrm>
            <a:off x="4686300" y="2628900"/>
            <a:ext cx="2419350" cy="1657350"/>
          </a:xfrm>
          <a:prstGeom prst="roundRect">
            <a:avLst>
              <a:gd name="adj" fmla="val 4598"/>
            </a:avLst>
          </a:prstGeom>
          <a:solidFill>
            <a:srgbClr val="FAF8F1"/>
          </a:solidFill>
          <a:ln w="9525">
            <a:solidFill>
              <a:srgbClr val="8FA99C"/>
            </a:solidFill>
            <a:prstDash val="solid"/>
          </a:ln>
        </p:spPr>
      </p:sp>
      <p:sp>
        <p:nvSpPr>
          <p:cNvPr id="27" name="矩形 26"/>
          <p:cNvSpPr>
            <a:spLocks noGrp="1"/>
          </p:cNvSpPr>
          <p:nvPr/>
        </p:nvSpPr>
        <p:spPr>
          <a:xfrm>
            <a:off x="4914900" y="2895600"/>
            <a:ext cx="1962150" cy="381000"/>
          </a:xfrm>
          <a:prstGeom prst="rect">
            <a:avLst/>
          </a:prstGeom>
          <a:noFill/>
          <a:ln w="0">
            <a:noFill/>
            <a:prstDash val="solid"/>
          </a:ln>
        </p:spPr>
        <p:txBody>
          <a:bodyPr wrap="square" lIns="0" tIns="0" rIns="0" bIns="0" anchor="t">
            <a:normAutofit/>
          </a:bodyPr>
          <a:lstStyle/>
          <a:p>
            <a:pPr algn="ctr">
              <a:lnSpc>
                <a:spcPct val="112000"/>
              </a:lnSpc>
              <a:buNone/>
              <a:defRPr sz="2025" b="1">
                <a:solidFill>
                  <a:srgbClr val="315F55"/>
                </a:solidFill>
                <a:latin typeface="微软雅黑" panose="020B0503020204020204" charset="-122"/>
                <a:ea typeface="微软雅黑" panose="020B0503020204020204" charset="-122"/>
                <a:cs typeface="微软雅黑" panose="020B0503020204020204" charset="-122"/>
              </a:defRPr>
            </a:pPr>
            <a:r>
              <a:rPr sz="2025" b="1">
                <a:solidFill>
                  <a:srgbClr val="315F55"/>
                </a:solidFill>
                <a:latin typeface="微软雅黑" panose="020B0503020204020204" charset="-122"/>
                <a:ea typeface="微软雅黑" panose="020B0503020204020204" charset="-122"/>
                <a:cs typeface="微软雅黑" panose="020B0503020204020204" charset="-122"/>
              </a:rPr>
              <a:t>本地Git仓库</a:t>
            </a:r>
            <a:endParaRPr sz="20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4914900" y="3495675"/>
            <a:ext cx="1962150" cy="323850"/>
          </a:xfrm>
          <a:prstGeom prst="rect">
            <a:avLst/>
          </a:prstGeom>
          <a:noFill/>
          <a:ln w="0">
            <a:noFill/>
            <a:prstDash val="solid"/>
          </a:ln>
        </p:spPr>
        <p:txBody>
          <a:bodyPr wrap="square" lIns="0" tIns="0" rIns="0" bIns="0" anchor="t">
            <a:normAutofit/>
          </a:bodyPr>
          <a:lstStyle/>
          <a:p>
            <a:pPr algn="ctr">
              <a:lnSpc>
                <a:spcPct val="112000"/>
              </a:lnSpc>
              <a:buNone/>
              <a:defRPr sz="1350" b="0">
                <a:solidFill>
                  <a:srgbClr val="68756F"/>
                </a:solidFill>
                <a:latin typeface="微软雅黑" panose="020B0503020204020204" charset="-122"/>
                <a:ea typeface="微软雅黑" panose="020B0503020204020204" charset="-122"/>
                <a:cs typeface="微软雅黑" panose="020B0503020204020204" charset="-122"/>
              </a:defRPr>
            </a:pPr>
            <a:r>
              <a:rPr sz="1350" b="0">
                <a:solidFill>
                  <a:srgbClr val="68756F"/>
                </a:solidFill>
                <a:latin typeface="微软雅黑" panose="020B0503020204020204" charset="-122"/>
                <a:ea typeface="微软雅黑" panose="020B0503020204020204" charset="-122"/>
                <a:cs typeface="微软雅黑" panose="020B0503020204020204" charset="-122"/>
              </a:rPr>
              <a:t>.git 中的提交历史</a:t>
            </a:r>
            <a:endParaRPr sz="135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29" name="圆角矩形 28"/>
          <p:cNvSpPr>
            <a:spLocks noGrp="1"/>
          </p:cNvSpPr>
          <p:nvPr/>
        </p:nvSpPr>
        <p:spPr>
          <a:xfrm>
            <a:off x="8343900" y="2038350"/>
            <a:ext cx="3086100" cy="2895600"/>
          </a:xfrm>
          <a:prstGeom prst="roundRect">
            <a:avLst>
              <a:gd name="adj" fmla="val 2632"/>
            </a:avLst>
          </a:prstGeom>
          <a:solidFill>
            <a:srgbClr val="FAF8F1"/>
          </a:solidFill>
          <a:ln w="14288">
            <a:solidFill>
              <a:srgbClr val="315363"/>
            </a:solidFill>
            <a:prstDash val="solid"/>
          </a:ln>
        </p:spPr>
      </p:sp>
      <p:sp>
        <p:nvSpPr>
          <p:cNvPr id="30" name="矩形 29"/>
          <p:cNvSpPr>
            <a:spLocks noGrp="1"/>
          </p:cNvSpPr>
          <p:nvPr/>
        </p:nvSpPr>
        <p:spPr>
          <a:xfrm>
            <a:off x="8610600" y="2286000"/>
            <a:ext cx="2552700" cy="361950"/>
          </a:xfrm>
          <a:prstGeom prst="rect">
            <a:avLst/>
          </a:prstGeom>
          <a:noFill/>
          <a:ln w="0">
            <a:noFill/>
            <a:prstDash val="solid"/>
          </a:ln>
        </p:spPr>
        <p:txBody>
          <a:bodyPr wrap="square" lIns="0" tIns="0" rIns="0" bIns="0" anchor="t">
            <a:normAutofit/>
          </a:bodyPr>
          <a:lstStyle/>
          <a:p>
            <a:pPr algn="ctr">
              <a:lnSpc>
                <a:spcPct val="112000"/>
              </a:lnSpc>
              <a:buNone/>
              <a:defRPr sz="1875" b="1">
                <a:solidFill>
                  <a:srgbClr val="315363"/>
                </a:solidFill>
                <a:latin typeface="微软雅黑" panose="020B0503020204020204" charset="-122"/>
                <a:ea typeface="微软雅黑" panose="020B0503020204020204" charset="-122"/>
                <a:cs typeface="微软雅黑" panose="020B0503020204020204" charset="-122"/>
              </a:defRPr>
            </a:pPr>
            <a:r>
              <a:rPr sz="1875" b="1">
                <a:solidFill>
                  <a:srgbClr val="315363"/>
                </a:solidFill>
                <a:latin typeface="微软雅黑" panose="020B0503020204020204" charset="-122"/>
                <a:ea typeface="微软雅黑" panose="020B0503020204020204" charset="-122"/>
                <a:cs typeface="微软雅黑" panose="020B0503020204020204" charset="-122"/>
              </a:rPr>
              <a:t>远程仓库</a:t>
            </a:r>
            <a:endParaRPr sz="1875"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31" name="直接连接符 30"/>
          <p:cNvSpPr>
            <a:spLocks noGrp="1"/>
          </p:cNvSpPr>
          <p:nvPr/>
        </p:nvSpPr>
        <p:spPr>
          <a:xfrm>
            <a:off x="8648700" y="2838450"/>
            <a:ext cx="2476500" cy="0"/>
          </a:xfrm>
          <a:prstGeom prst="line">
            <a:avLst/>
          </a:prstGeom>
          <a:noFill/>
          <a:ln w="9525">
            <a:solidFill>
              <a:srgbClr val="C9D0C8"/>
            </a:solidFill>
            <a:prstDash val="solid"/>
          </a:ln>
        </p:spPr>
      </p:sp>
      <p:sp>
        <p:nvSpPr>
          <p:cNvPr id="32" name="矩形 31"/>
          <p:cNvSpPr>
            <a:spLocks noGrp="1"/>
          </p:cNvSpPr>
          <p:nvPr/>
        </p:nvSpPr>
        <p:spPr>
          <a:xfrm>
            <a:off x="8724900" y="3048000"/>
            <a:ext cx="2324100" cy="36195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263431"/>
                </a:solidFill>
                <a:latin typeface="微软雅黑" panose="020B0503020204020204" charset="-122"/>
                <a:ea typeface="微软雅黑" panose="020B0503020204020204" charset="-122"/>
                <a:cs typeface="微软雅黑" panose="020B0503020204020204" charset="-122"/>
              </a:defRPr>
            </a:pPr>
            <a:r>
              <a:rPr sz="1800" b="1">
                <a:solidFill>
                  <a:srgbClr val="263431"/>
                </a:solidFill>
                <a:latin typeface="微软雅黑" panose="020B0503020204020204" charset="-122"/>
                <a:ea typeface="微软雅黑" panose="020B0503020204020204" charset="-122"/>
                <a:cs typeface="微软雅黑" panose="020B0503020204020204" charset="-122"/>
              </a:rPr>
              <a:t>github.com</a:t>
            </a:r>
            <a:endParaRPr sz="180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3" name="矩形 32"/>
          <p:cNvSpPr>
            <a:spLocks noGrp="1"/>
          </p:cNvSpPr>
          <p:nvPr/>
        </p:nvSpPr>
        <p:spPr>
          <a:xfrm>
            <a:off x="8724900" y="3429000"/>
            <a:ext cx="2324100" cy="285750"/>
          </a:xfrm>
          <a:prstGeom prst="rect">
            <a:avLst/>
          </a:prstGeom>
          <a:noFill/>
          <a:ln w="0">
            <a:noFill/>
            <a:prstDash val="solid"/>
          </a:ln>
        </p:spPr>
        <p:txBody>
          <a:bodyPr wrap="square" lIns="0" tIns="0" rIns="0" bIns="0" anchor="t">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公共服务上的私有或公开仓库</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34" name="直接连接符 33"/>
          <p:cNvSpPr>
            <a:spLocks noGrp="1"/>
          </p:cNvSpPr>
          <p:nvPr/>
        </p:nvSpPr>
        <p:spPr>
          <a:xfrm>
            <a:off x="8648700" y="3905250"/>
            <a:ext cx="2476500" cy="0"/>
          </a:xfrm>
          <a:prstGeom prst="line">
            <a:avLst/>
          </a:prstGeom>
          <a:noFill/>
          <a:ln w="9525">
            <a:solidFill>
              <a:srgbClr val="C9D0C8"/>
            </a:solidFill>
            <a:prstDash val="solid"/>
          </a:ln>
        </p:spPr>
      </p:sp>
      <p:sp>
        <p:nvSpPr>
          <p:cNvPr id="35" name="矩形 34"/>
          <p:cNvSpPr>
            <a:spLocks noGrp="1"/>
          </p:cNvSpPr>
          <p:nvPr/>
        </p:nvSpPr>
        <p:spPr>
          <a:xfrm>
            <a:off x="8724900" y="4095750"/>
            <a:ext cx="2324100" cy="361950"/>
          </a:xfrm>
          <a:prstGeom prst="rect">
            <a:avLst/>
          </a:prstGeom>
          <a:noFill/>
          <a:ln w="0">
            <a:noFill/>
            <a:prstDash val="solid"/>
          </a:ln>
        </p:spPr>
        <p:txBody>
          <a:bodyPr wrap="square" lIns="0" tIns="0" rIns="0" bIns="0" anchor="t">
            <a:normAutofit/>
          </a:bodyPr>
          <a:lstStyle/>
          <a:p>
            <a:pPr algn="ctr">
              <a:lnSpc>
                <a:spcPct val="112000"/>
              </a:lnSpc>
              <a:buNone/>
              <a:defRPr sz="1800" b="1">
                <a:solidFill>
                  <a:srgbClr val="263431"/>
                </a:solidFill>
                <a:latin typeface="微软雅黑" panose="020B0503020204020204" charset="-122"/>
                <a:ea typeface="微软雅黑" panose="020B0503020204020204" charset="-122"/>
                <a:cs typeface="微软雅黑" panose="020B0503020204020204" charset="-122"/>
              </a:defRPr>
            </a:pPr>
            <a:r>
              <a:rPr sz="1800" b="1">
                <a:solidFill>
                  <a:srgbClr val="263431"/>
                </a:solidFill>
                <a:latin typeface="微软雅黑" panose="020B0503020204020204" charset="-122"/>
                <a:ea typeface="微软雅黑" panose="020B0503020204020204" charset="-122"/>
                <a:cs typeface="微软雅黑" panose="020B0503020204020204" charset="-122"/>
              </a:rPr>
              <a:t>自建私有仓库</a:t>
            </a:r>
            <a:endParaRPr sz="1800"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6" name="矩形 35"/>
          <p:cNvSpPr>
            <a:spLocks noGrp="1"/>
          </p:cNvSpPr>
          <p:nvPr/>
        </p:nvSpPr>
        <p:spPr>
          <a:xfrm>
            <a:off x="8724900" y="4476750"/>
            <a:ext cx="2324100" cy="285750"/>
          </a:xfrm>
          <a:prstGeom prst="rect">
            <a:avLst/>
          </a:prstGeom>
          <a:noFill/>
          <a:ln w="0">
            <a:noFill/>
            <a:prstDash val="solid"/>
          </a:ln>
        </p:spPr>
        <p:txBody>
          <a:bodyPr wrap="square" lIns="0" tIns="0" rIns="0" bIns="0" anchor="t">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公司、NAS或自己的服务器</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37" name="矩形 36"/>
          <p:cNvSpPr>
            <a:spLocks noGrp="1"/>
          </p:cNvSpPr>
          <p:nvPr/>
        </p:nvSpPr>
        <p:spPr>
          <a:xfrm>
            <a:off x="1676400" y="5562600"/>
            <a:ext cx="8839200" cy="361950"/>
          </a:xfrm>
          <a:prstGeom prst="rect">
            <a:avLst/>
          </a:prstGeom>
          <a:noFill/>
          <a:ln w="0">
            <a:noFill/>
            <a:prstDash val="solid"/>
          </a:ln>
        </p:spPr>
        <p:txBody>
          <a:bodyPr wrap="square" lIns="0" tIns="0" rIns="0" bIns="0" anchor="t">
            <a:normAutofit/>
          </a:bodyPr>
          <a:lstStyle/>
          <a:p>
            <a:pPr algn="ctr">
              <a:lnSpc>
                <a:spcPct val="112000"/>
              </a:lnSpc>
              <a:buNone/>
              <a:defRPr sz="1575" b="0">
                <a:solidFill>
                  <a:srgbClr val="315F55"/>
                </a:solidFill>
                <a:latin typeface="微软雅黑" panose="020B0503020204020204" charset="-122"/>
                <a:ea typeface="微软雅黑" panose="020B0503020204020204" charset="-122"/>
                <a:cs typeface="微软雅黑" panose="020B0503020204020204" charset="-122"/>
              </a:defRPr>
            </a:pPr>
            <a:r>
              <a:rPr sz="1575" b="0">
                <a:solidFill>
                  <a:srgbClr val="315F55"/>
                </a:solidFill>
                <a:latin typeface="微软雅黑" panose="020B0503020204020204" charset="-122"/>
                <a:ea typeface="微软雅黑" panose="020B0503020204020204" charset="-122"/>
                <a:cs typeface="微软雅黑" panose="020B0503020204020204" charset="-122"/>
              </a:rPr>
              <a:t>远程仓库可以选择一个或多个；它们之间不会自动同步。</a:t>
            </a:r>
            <a:endParaRPr sz="1575" b="0">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5" name="矩形 14"/>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两条常用指令</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9048750" y="6410325"/>
            <a:ext cx="1028700" cy="0"/>
          </a:xfrm>
          <a:prstGeom prst="line">
            <a:avLst/>
          </a:prstGeom>
          <a:noFill/>
          <a:ln w="38100">
            <a:solidFill>
              <a:srgbClr val="315F55"/>
            </a:solidFill>
            <a:prstDash val="solid"/>
          </a:ln>
        </p:spPr>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50</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190625" y="2152650"/>
            <a:ext cx="9810750" cy="742950"/>
          </a:xfrm>
          <a:prstGeom prst="rect">
            <a:avLst/>
          </a:prstGeom>
          <a:noFill/>
          <a:ln w="0">
            <a:noFill/>
            <a:prstDash val="solid"/>
          </a:ln>
        </p:spPr>
        <p:txBody>
          <a:bodyPr wrap="square" lIns="0" tIns="0" rIns="0" bIns="0" anchor="ctr">
            <a:normAutofit/>
          </a:bodyPr>
          <a:lstStyle/>
          <a:p>
            <a:pPr algn="ctr">
              <a:lnSpc>
                <a:spcPct val="112000"/>
              </a:lnSpc>
              <a:buNone/>
              <a:defRPr sz="2850" b="1">
                <a:solidFill>
                  <a:srgbClr val="315F55"/>
                </a:solidFill>
                <a:latin typeface="宋体" panose="02010600030101010101" pitchFamily="2" charset="-122"/>
                <a:ea typeface="宋体" panose="02010600030101010101" pitchFamily="2" charset="-122"/>
                <a:cs typeface="宋体" panose="02010600030101010101" pitchFamily="2" charset="-122"/>
              </a:defRPr>
            </a:pPr>
            <a:r>
              <a:rPr sz="2850" b="1">
                <a:solidFill>
                  <a:srgbClr val="315F55"/>
                </a:solidFill>
                <a:latin typeface="宋体" panose="02010600030101010101" pitchFamily="2" charset="-122"/>
                <a:ea typeface="宋体" panose="02010600030101010101" pitchFamily="2" charset="-122"/>
                <a:cs typeface="宋体" panose="02010600030101010101" pitchFamily="2" charset="-122"/>
              </a:rPr>
              <a:t>只读讨论。</a:t>
            </a:r>
            <a:endParaRPr sz="2850" b="1">
              <a:solidFill>
                <a:srgbClr val="315F55"/>
              </a:solidFill>
              <a:latin typeface="宋体" panose="02010600030101010101" pitchFamily="2" charset="-122"/>
              <a:ea typeface="宋体" panose="02010600030101010101" pitchFamily="2" charset="-122"/>
              <a:cs typeface="宋体" panose="02010600030101010101" pitchFamily="2" charset="-122"/>
            </a:endParaRPr>
          </a:p>
        </p:txBody>
      </p:sp>
      <p:sp>
        <p:nvSpPr>
          <p:cNvPr id="13" name="直接连接符 12"/>
          <p:cNvSpPr>
            <a:spLocks noGrp="1"/>
          </p:cNvSpPr>
          <p:nvPr/>
        </p:nvSpPr>
        <p:spPr>
          <a:xfrm>
            <a:off x="2762250" y="3181350"/>
            <a:ext cx="6667500" cy="0"/>
          </a:xfrm>
          <a:prstGeom prst="line">
            <a:avLst/>
          </a:prstGeom>
          <a:noFill/>
          <a:ln w="19050">
            <a:solidFill>
              <a:srgbClr val="8FA99C"/>
            </a:solidFill>
            <a:prstDash val="solid"/>
          </a:ln>
        </p:spPr>
      </p:sp>
      <p:sp>
        <p:nvSpPr>
          <p:cNvPr id="14" name="矩形 13"/>
          <p:cNvSpPr>
            <a:spLocks noGrp="1"/>
          </p:cNvSpPr>
          <p:nvPr/>
        </p:nvSpPr>
        <p:spPr>
          <a:xfrm>
            <a:off x="1333500" y="3676650"/>
            <a:ext cx="9525000" cy="1190625"/>
          </a:xfrm>
          <a:prstGeom prst="rect">
            <a:avLst/>
          </a:prstGeom>
          <a:noFill/>
          <a:ln w="0">
            <a:noFill/>
            <a:prstDash val="solid"/>
          </a:ln>
        </p:spPr>
        <p:txBody>
          <a:bodyPr wrap="square" lIns="0" tIns="0" rIns="0" bIns="0" anchor="ctr">
            <a:normAutofit/>
          </a:bodyPr>
          <a:lstStyle/>
          <a:p>
            <a:pPr algn="ctr">
              <a:lnSpc>
                <a:spcPct val="11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请分组（如有必要）合理地向仓库提交，comments开头用标准英文 fix/feat/docs 等，中文说明，详略得当</a:t>
            </a:r>
            <a:endParaRPr sz="2025"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32" name="矩形 3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稳定的方法可以整理成Skill</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9048750" y="6410325"/>
            <a:ext cx="1028700" cy="0"/>
          </a:xfrm>
          <a:prstGeom prst="line">
            <a:avLst/>
          </a:prstGeom>
          <a:noFill/>
          <a:ln w="38100">
            <a:solidFill>
              <a:srgbClr val="315F55"/>
            </a:solidFill>
            <a:prstDash val="solid"/>
          </a:ln>
        </p:spPr>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51</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2735580" y="3219450"/>
            <a:ext cx="247650" cy="0"/>
          </a:xfrm>
          <a:prstGeom prst="line">
            <a:avLst/>
          </a:prstGeom>
          <a:noFill/>
          <a:ln w="28575">
            <a:solidFill>
              <a:srgbClr val="8FA99C"/>
            </a:solidFill>
            <a:prstDash val="solid"/>
          </a:ln>
        </p:spPr>
      </p:sp>
      <p:sp>
        <p:nvSpPr>
          <p:cNvPr id="13" name="圆角矩形 12"/>
          <p:cNvSpPr>
            <a:spLocks noGrp="1"/>
          </p:cNvSpPr>
          <p:nvPr/>
        </p:nvSpPr>
        <p:spPr>
          <a:xfrm>
            <a:off x="762000" y="2628900"/>
            <a:ext cx="1935480" cy="1181100"/>
          </a:xfrm>
          <a:prstGeom prst="roundRect">
            <a:avLst>
              <a:gd name="adj" fmla="val 11290"/>
            </a:avLst>
          </a:prstGeom>
          <a:solidFill>
            <a:srgbClr val="F3F0E6"/>
          </a:solidFill>
          <a:ln w="9525">
            <a:solidFill>
              <a:srgbClr val="8FA99C"/>
            </a:solidFill>
            <a:prstDash val="solid"/>
          </a:ln>
        </p:spPr>
      </p:sp>
      <p:sp>
        <p:nvSpPr>
          <p:cNvPr id="14" name="矩形 13"/>
          <p:cNvSpPr>
            <a:spLocks noGrp="1"/>
          </p:cNvSpPr>
          <p:nvPr/>
        </p:nvSpPr>
        <p:spPr>
          <a:xfrm>
            <a:off x="91440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01</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91440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完成一次</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4918710" y="3219450"/>
            <a:ext cx="247650" cy="0"/>
          </a:xfrm>
          <a:prstGeom prst="line">
            <a:avLst/>
          </a:prstGeom>
          <a:noFill/>
          <a:ln w="28575">
            <a:solidFill>
              <a:srgbClr val="8FA99C"/>
            </a:solidFill>
            <a:prstDash val="solid"/>
          </a:ln>
        </p:spPr>
      </p:sp>
      <p:sp>
        <p:nvSpPr>
          <p:cNvPr id="17" name="圆角矩形 16"/>
          <p:cNvSpPr>
            <a:spLocks noGrp="1"/>
          </p:cNvSpPr>
          <p:nvPr/>
        </p:nvSpPr>
        <p:spPr>
          <a:xfrm>
            <a:off x="2945130" y="2628900"/>
            <a:ext cx="1935480" cy="1181100"/>
          </a:xfrm>
          <a:prstGeom prst="roundRect">
            <a:avLst>
              <a:gd name="adj" fmla="val 11290"/>
            </a:avLst>
          </a:prstGeom>
          <a:solidFill>
            <a:srgbClr val="F3F0E6"/>
          </a:solidFill>
          <a:ln w="9525">
            <a:solidFill>
              <a:srgbClr val="8FA99C"/>
            </a:solidFill>
            <a:prstDash val="solid"/>
          </a:ln>
        </p:spPr>
      </p:sp>
      <p:sp>
        <p:nvSpPr>
          <p:cNvPr id="18" name="矩形 17"/>
          <p:cNvSpPr>
            <a:spLocks noGrp="1"/>
          </p:cNvSpPr>
          <p:nvPr/>
        </p:nvSpPr>
        <p:spPr>
          <a:xfrm>
            <a:off x="309753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02</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309753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再次验证</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101840" y="3219450"/>
            <a:ext cx="247650" cy="0"/>
          </a:xfrm>
          <a:prstGeom prst="line">
            <a:avLst/>
          </a:prstGeom>
          <a:noFill/>
          <a:ln w="28575">
            <a:solidFill>
              <a:srgbClr val="8FA99C"/>
            </a:solidFill>
            <a:prstDash val="solid"/>
          </a:ln>
        </p:spPr>
      </p:sp>
      <p:sp>
        <p:nvSpPr>
          <p:cNvPr id="21" name="圆角矩形 20"/>
          <p:cNvSpPr>
            <a:spLocks noGrp="1"/>
          </p:cNvSpPr>
          <p:nvPr/>
        </p:nvSpPr>
        <p:spPr>
          <a:xfrm>
            <a:off x="5128260" y="2628900"/>
            <a:ext cx="1935480" cy="1181100"/>
          </a:xfrm>
          <a:prstGeom prst="roundRect">
            <a:avLst>
              <a:gd name="adj" fmla="val 11290"/>
            </a:avLst>
          </a:prstGeom>
          <a:solidFill>
            <a:srgbClr val="F3F0E6"/>
          </a:solidFill>
          <a:ln w="9525">
            <a:solidFill>
              <a:srgbClr val="8FA99C"/>
            </a:solidFill>
            <a:prstDash val="solid"/>
          </a:ln>
        </p:spPr>
      </p:sp>
      <p:sp>
        <p:nvSpPr>
          <p:cNvPr id="22" name="矩形 21"/>
          <p:cNvSpPr>
            <a:spLocks noGrp="1"/>
          </p:cNvSpPr>
          <p:nvPr/>
        </p:nvSpPr>
        <p:spPr>
          <a:xfrm>
            <a:off x="528066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03</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528066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提取步骤</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直接连接符 23"/>
          <p:cNvSpPr>
            <a:spLocks noGrp="1"/>
          </p:cNvSpPr>
          <p:nvPr/>
        </p:nvSpPr>
        <p:spPr>
          <a:xfrm>
            <a:off x="9284970" y="3219450"/>
            <a:ext cx="247650" cy="0"/>
          </a:xfrm>
          <a:prstGeom prst="line">
            <a:avLst/>
          </a:prstGeom>
          <a:noFill/>
          <a:ln w="28575">
            <a:solidFill>
              <a:srgbClr val="8FA99C"/>
            </a:solidFill>
            <a:prstDash val="solid"/>
          </a:ln>
        </p:spPr>
      </p:sp>
      <p:sp>
        <p:nvSpPr>
          <p:cNvPr id="25" name="圆角矩形 24"/>
          <p:cNvSpPr>
            <a:spLocks noGrp="1"/>
          </p:cNvSpPr>
          <p:nvPr/>
        </p:nvSpPr>
        <p:spPr>
          <a:xfrm>
            <a:off x="7311390" y="2628900"/>
            <a:ext cx="1935480" cy="1181100"/>
          </a:xfrm>
          <a:prstGeom prst="roundRect">
            <a:avLst>
              <a:gd name="adj" fmla="val 11290"/>
            </a:avLst>
          </a:prstGeom>
          <a:solidFill>
            <a:srgbClr val="F3F0E6"/>
          </a:solidFill>
          <a:ln w="9525">
            <a:solidFill>
              <a:srgbClr val="8FA99C"/>
            </a:solidFill>
            <a:prstDash val="solid"/>
          </a:ln>
        </p:spPr>
      </p:sp>
      <p:sp>
        <p:nvSpPr>
          <p:cNvPr id="26" name="矩形 25"/>
          <p:cNvSpPr>
            <a:spLocks noGrp="1"/>
          </p:cNvSpPr>
          <p:nvPr/>
        </p:nvSpPr>
        <p:spPr>
          <a:xfrm>
            <a:off x="746379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04</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746379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创建Skill</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a:spLocks noGrp="1"/>
          </p:cNvSpPr>
          <p:nvPr/>
        </p:nvSpPr>
        <p:spPr>
          <a:xfrm>
            <a:off x="9494520" y="2628900"/>
            <a:ext cx="1935480" cy="1181100"/>
          </a:xfrm>
          <a:prstGeom prst="roundRect">
            <a:avLst>
              <a:gd name="adj" fmla="val 11290"/>
            </a:avLst>
          </a:prstGeom>
          <a:solidFill>
            <a:srgbClr val="F3F0E6"/>
          </a:solidFill>
          <a:ln w="9525">
            <a:solidFill>
              <a:srgbClr val="8FA99C"/>
            </a:solidFill>
            <a:prstDash val="solid"/>
          </a:ln>
        </p:spPr>
      </p:sp>
      <p:sp>
        <p:nvSpPr>
          <p:cNvPr id="29" name="矩形 28"/>
          <p:cNvSpPr>
            <a:spLocks noGrp="1"/>
          </p:cNvSpPr>
          <p:nvPr/>
        </p:nvSpPr>
        <p:spPr>
          <a:xfrm>
            <a:off x="9646920" y="2800350"/>
            <a:ext cx="1630680" cy="228600"/>
          </a:xfrm>
          <a:prstGeom prst="rect">
            <a:avLst/>
          </a:prstGeom>
          <a:noFill/>
          <a:ln w="0">
            <a:noFill/>
            <a:prstDash val="solid"/>
          </a:ln>
        </p:spPr>
        <p:txBody>
          <a:bodyPr wrap="square" lIns="0" tIns="0" rIns="0" bIns="0" anchor="t">
            <a:normAutofit/>
          </a:bodyPr>
          <a:lstStyle/>
          <a:p>
            <a:pPr algn="ctr">
              <a:lnSpc>
                <a:spcPct val="112000"/>
              </a:lnSpc>
              <a:buNone/>
              <a:defRPr sz="1200" b="1">
                <a:solidFill>
                  <a:srgbClr val="A18458"/>
                </a:solidFill>
                <a:latin typeface="微软雅黑" panose="020B0503020204020204" charset="-122"/>
                <a:ea typeface="微软雅黑" panose="020B0503020204020204" charset="-122"/>
                <a:cs typeface="微软雅黑" panose="020B0503020204020204" charset="-122"/>
              </a:defRPr>
            </a:pPr>
            <a:r>
              <a:rPr sz="1200" b="1">
                <a:solidFill>
                  <a:srgbClr val="A18458"/>
                </a:solidFill>
                <a:latin typeface="微软雅黑" panose="020B0503020204020204" charset="-122"/>
                <a:ea typeface="微软雅黑" panose="020B0503020204020204" charset="-122"/>
                <a:cs typeface="微软雅黑" panose="020B0503020204020204" charset="-122"/>
              </a:rPr>
              <a:t>05</a:t>
            </a:r>
            <a:endParaRPr sz="12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30" name="矩形 29"/>
          <p:cNvSpPr>
            <a:spLocks noGrp="1"/>
          </p:cNvSpPr>
          <p:nvPr/>
        </p:nvSpPr>
        <p:spPr>
          <a:xfrm>
            <a:off x="9646920" y="3095625"/>
            <a:ext cx="1630680" cy="495300"/>
          </a:xfrm>
          <a:prstGeom prst="rect">
            <a:avLst/>
          </a:prstGeom>
          <a:noFill/>
          <a:ln w="0">
            <a:noFill/>
            <a:prstDash val="solid"/>
          </a:ln>
        </p:spPr>
        <p:txBody>
          <a:bodyPr wrap="square" lIns="0" tIns="0" rIns="0" bIns="0" anchor="ctr">
            <a:normAutofit/>
          </a:bodyPr>
          <a:lstStyle/>
          <a:p>
            <a:pPr algn="ctr">
              <a:lnSpc>
                <a:spcPct val="112000"/>
              </a:lnSpc>
              <a:buNone/>
              <a:defRPr sz="1725" b="1">
                <a:solidFill>
                  <a:srgbClr val="263431"/>
                </a:solidFill>
                <a:latin typeface="微软雅黑" panose="020B0503020204020204" charset="-122"/>
                <a:ea typeface="微软雅黑" panose="020B0503020204020204" charset="-122"/>
                <a:cs typeface="微软雅黑" panose="020B0503020204020204" charset="-122"/>
              </a:defRPr>
            </a:pPr>
            <a:r>
              <a:rPr sz="1725" b="1">
                <a:solidFill>
                  <a:srgbClr val="263431"/>
                </a:solidFill>
                <a:latin typeface="微软雅黑" panose="020B0503020204020204" charset="-122"/>
                <a:ea typeface="微软雅黑" panose="020B0503020204020204" charset="-122"/>
                <a:cs typeface="微软雅黑" panose="020B0503020204020204" charset="-122"/>
              </a:rPr>
              <a:t>换材料测试</a:t>
            </a:r>
            <a:endParaRPr sz="1725" b="1">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1143000" y="4333875"/>
            <a:ext cx="9906000" cy="666750"/>
          </a:xfrm>
          <a:prstGeom prst="rect">
            <a:avLst/>
          </a:prstGeom>
          <a:noFill/>
          <a:ln w="0">
            <a:noFill/>
            <a:prstDash val="solid"/>
          </a:ln>
        </p:spPr>
        <p:txBody>
          <a:bodyPr wrap="square" lIns="0" tIns="0" rIns="0" bIns="0" anchor="ctr">
            <a:normAutofit/>
          </a:bodyPr>
          <a:lstStyle/>
          <a:p>
            <a:pPr algn="ctr">
              <a:lnSpc>
                <a:spcPct val="112000"/>
              </a:lnSpc>
              <a:buNone/>
              <a:defRPr sz="1800" b="0">
                <a:solidFill>
                  <a:srgbClr val="315F55"/>
                </a:solidFill>
                <a:latin typeface="微软雅黑" panose="020B0503020204020204" charset="-122"/>
                <a:ea typeface="微软雅黑" panose="020B0503020204020204" charset="-122"/>
                <a:cs typeface="微软雅黑" panose="020B0503020204020204" charset="-122"/>
              </a:defRPr>
            </a:pPr>
            <a:r>
              <a:rPr sz="1800" b="0">
                <a:solidFill>
                  <a:srgbClr val="315F55"/>
                </a:solidFill>
                <a:latin typeface="微软雅黑" panose="020B0503020204020204" charset="-122"/>
                <a:ea typeface="微软雅黑" panose="020B0503020204020204" charset="-122"/>
                <a:cs typeface="微软雅黑" panose="020B0503020204020204" charset="-122"/>
              </a:rPr>
              <a:t>项目事实留在项目中；跨项目方法才进入Skill。</a:t>
            </a:r>
            <a:endParaRPr sz="1800" b="0">
              <a:solidFill>
                <a:srgbClr val="315F55"/>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7" name="矩形 16"/>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WorkBuddy作为另一种办公Agent进行了解</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9048750" y="6410325"/>
            <a:ext cx="1028700" cy="0"/>
          </a:xfrm>
          <a:prstGeom prst="line">
            <a:avLst/>
          </a:prstGeom>
          <a:noFill/>
          <a:ln w="38100">
            <a:solidFill>
              <a:srgbClr val="315F55"/>
            </a:solidFill>
            <a:prstDash val="solid"/>
          </a:ln>
        </p:spPr>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52</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直接连接符 11"/>
          <p:cNvSpPr>
            <a:spLocks noGrp="1"/>
          </p:cNvSpPr>
          <p:nvPr/>
        </p:nvSpPr>
        <p:spPr>
          <a:xfrm>
            <a:off x="6096000" y="1838325"/>
            <a:ext cx="0" cy="3857625"/>
          </a:xfrm>
          <a:prstGeom prst="line">
            <a:avLst/>
          </a:prstGeom>
          <a:noFill/>
          <a:ln w="9525">
            <a:solidFill>
              <a:srgbClr val="C9D0C8"/>
            </a:solidFill>
            <a:prstDash val="solid"/>
          </a:ln>
        </p:spPr>
      </p:sp>
      <p:sp>
        <p:nvSpPr>
          <p:cNvPr id="13" name="矩形 12"/>
          <p:cNvSpPr>
            <a:spLocks noGrp="1"/>
          </p:cNvSpPr>
          <p:nvPr/>
        </p:nvSpPr>
        <p:spPr>
          <a:xfrm>
            <a:off x="8001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适合观察</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6629400" y="1790700"/>
            <a:ext cx="476250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使用原则</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001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一人公司工作方式</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调研、汇报和PPT</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多专家与Skills</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6629400" y="2362200"/>
            <a:ext cx="4762500" cy="3190875"/>
          </a:xfrm>
          <a:prstGeom prst="rect">
            <a:avLst/>
          </a:prstGeom>
          <a:noFill/>
          <a:ln w="0">
            <a:noFill/>
            <a:prstDash val="solid"/>
          </a:ln>
        </p:spPr>
        <p:txBody>
          <a:bodyPr wrap="square" lIns="0" tIns="0" rIns="0" bIns="0" anchor="t">
            <a:normAutofit/>
          </a:bodyPr>
          <a:lstStyle/>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先完成Codex主线</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再比较工作方式</a:t>
            </a:r>
            <a:endParaRPr sz="180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 不以市场排名作为判断依据</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33" name="矩形 32"/>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练习</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实操：用手机连接英特尔芯片Mac上的Codex</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1" name="直接连接符 10"/>
          <p:cNvSpPr>
            <a:spLocks noGrp="1"/>
          </p:cNvSpPr>
          <p:nvPr/>
        </p:nvSpPr>
        <p:spPr>
          <a:xfrm>
            <a:off x="9048750" y="6410325"/>
            <a:ext cx="1028700" cy="0"/>
          </a:xfrm>
          <a:prstGeom prst="line">
            <a:avLst/>
          </a:prstGeom>
          <a:noFill/>
          <a:ln w="38100">
            <a:solidFill>
              <a:srgbClr val="315F55"/>
            </a:solidFill>
            <a:prstDash val="solid"/>
          </a:ln>
        </p:spPr>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53</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19150" y="1924050"/>
            <a:ext cx="514350" cy="266700"/>
          </a:xfrm>
          <a:prstGeom prst="rect">
            <a:avLst/>
          </a:prstGeom>
          <a:noFill/>
          <a:ln w="0">
            <a:noFill/>
            <a:prstDash val="solid"/>
          </a:ln>
        </p:spPr>
        <p:txBody>
          <a:bodyPr wrap="square" lIns="0" tIns="0" rIns="0" bIns="0" anchor="t">
            <a:normAutofit/>
          </a:bodyPr>
          <a:lstStyle/>
          <a:p>
            <a:pPr algn="l">
              <a:lnSpc>
                <a:spcPct val="112000"/>
              </a:lnSpc>
              <a:buNone/>
              <a:defRPr sz="1275" b="1">
                <a:solidFill>
                  <a:srgbClr val="A18458"/>
                </a:solidFill>
                <a:latin typeface="微软雅黑" panose="020B0503020204020204" charset="-122"/>
                <a:ea typeface="微软雅黑" panose="020B0503020204020204" charset="-122"/>
                <a:cs typeface="微软雅黑" panose="020B0503020204020204" charset="-122"/>
              </a:defRPr>
            </a:pPr>
            <a:r>
              <a:rPr sz="1275" b="1">
                <a:solidFill>
                  <a:srgbClr val="A18458"/>
                </a:solidFill>
                <a:latin typeface="微软雅黑" panose="020B0503020204020204" charset="-122"/>
                <a:ea typeface="微软雅黑" panose="020B0503020204020204" charset="-122"/>
                <a:cs typeface="微软雅黑" panose="020B0503020204020204" charset="-122"/>
              </a:rPr>
              <a:t>01</a:t>
            </a:r>
            <a:endParaRPr sz="1275"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428750" y="1866900"/>
            <a:ext cx="180975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Mac准备</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819150" y="2476500"/>
            <a:ext cx="2362200" cy="1143000"/>
          </a:xfrm>
          <a:prstGeom prst="rect">
            <a:avLst/>
          </a:prstGeom>
          <a:noFill/>
          <a:ln w="0">
            <a:noFill/>
            <a:prstDash val="solid"/>
          </a:ln>
        </p:spPr>
        <p:txBody>
          <a:bodyPr wrap="square" lIns="0" tIns="0" rIns="0" bIns="0" anchor="t">
            <a:normAutofit/>
          </a:bodyPr>
          <a:lstStyle/>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登录ChatGPT桌面应用</a:t>
            </a:r>
            <a:endParaRPr sz="14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打开练习文件夹</a:t>
            </a:r>
            <a:endParaRPr sz="14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保持Mac唤醒和在线</a:t>
            </a:r>
            <a:endParaRPr sz="14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直接连接符 15"/>
          <p:cNvSpPr>
            <a:spLocks noGrp="1"/>
          </p:cNvSpPr>
          <p:nvPr/>
        </p:nvSpPr>
        <p:spPr>
          <a:xfrm>
            <a:off x="3352800" y="1847850"/>
            <a:ext cx="0" cy="1885950"/>
          </a:xfrm>
          <a:prstGeom prst="line">
            <a:avLst/>
          </a:prstGeom>
          <a:noFill/>
          <a:ln w="9525">
            <a:solidFill>
              <a:srgbClr val="C9D0C8"/>
            </a:solidFill>
            <a:prstDash val="solid"/>
          </a:ln>
        </p:spPr>
      </p:sp>
      <p:sp>
        <p:nvSpPr>
          <p:cNvPr id="17" name="矩形 16"/>
          <p:cNvSpPr>
            <a:spLocks noGrp="1"/>
          </p:cNvSpPr>
          <p:nvPr/>
        </p:nvSpPr>
        <p:spPr>
          <a:xfrm>
            <a:off x="3600450" y="1924050"/>
            <a:ext cx="514350" cy="266700"/>
          </a:xfrm>
          <a:prstGeom prst="rect">
            <a:avLst/>
          </a:prstGeom>
          <a:noFill/>
          <a:ln w="0">
            <a:noFill/>
            <a:prstDash val="solid"/>
          </a:ln>
        </p:spPr>
        <p:txBody>
          <a:bodyPr wrap="square" lIns="0" tIns="0" rIns="0" bIns="0" anchor="t">
            <a:normAutofit/>
          </a:bodyPr>
          <a:lstStyle/>
          <a:p>
            <a:pPr algn="l">
              <a:lnSpc>
                <a:spcPct val="112000"/>
              </a:lnSpc>
              <a:buNone/>
              <a:defRPr sz="1275" b="1">
                <a:solidFill>
                  <a:srgbClr val="A18458"/>
                </a:solidFill>
                <a:latin typeface="微软雅黑" panose="020B0503020204020204" charset="-122"/>
                <a:ea typeface="微软雅黑" panose="020B0503020204020204" charset="-122"/>
                <a:cs typeface="微软雅黑" panose="020B0503020204020204" charset="-122"/>
              </a:defRPr>
            </a:pPr>
            <a:r>
              <a:rPr sz="1275" b="1">
                <a:solidFill>
                  <a:srgbClr val="A18458"/>
                </a:solidFill>
                <a:latin typeface="微软雅黑" panose="020B0503020204020204" charset="-122"/>
                <a:ea typeface="微软雅黑" panose="020B0503020204020204" charset="-122"/>
                <a:cs typeface="微软雅黑" panose="020B0503020204020204" charset="-122"/>
              </a:rPr>
              <a:t>02</a:t>
            </a:r>
            <a:endParaRPr sz="1275"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4210050" y="1866900"/>
            <a:ext cx="180975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开启Remote</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3600450" y="2476500"/>
            <a:ext cx="2362200" cy="1143000"/>
          </a:xfrm>
          <a:prstGeom prst="rect">
            <a:avLst/>
          </a:prstGeom>
          <a:noFill/>
          <a:ln w="0">
            <a:noFill/>
            <a:prstDash val="solid"/>
          </a:ln>
        </p:spPr>
        <p:txBody>
          <a:bodyPr wrap="square" lIns="0" tIns="0" rIns="0" bIns="0" anchor="t">
            <a:normAutofit/>
          </a:bodyPr>
          <a:lstStyle/>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打开设置 &gt; 连接</a:t>
            </a:r>
            <a:endParaRPr sz="14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选择控制此Mac或PC</a:t>
            </a:r>
            <a:endParaRPr sz="14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批准访问并完成验证</a:t>
            </a:r>
            <a:endParaRPr sz="14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6134100" y="1847850"/>
            <a:ext cx="0" cy="1885950"/>
          </a:xfrm>
          <a:prstGeom prst="line">
            <a:avLst/>
          </a:prstGeom>
          <a:noFill/>
          <a:ln w="9525">
            <a:solidFill>
              <a:srgbClr val="C9D0C8"/>
            </a:solidFill>
            <a:prstDash val="solid"/>
          </a:ln>
        </p:spPr>
      </p:sp>
      <p:sp>
        <p:nvSpPr>
          <p:cNvPr id="21" name="矩形 20"/>
          <p:cNvSpPr>
            <a:spLocks noGrp="1"/>
          </p:cNvSpPr>
          <p:nvPr/>
        </p:nvSpPr>
        <p:spPr>
          <a:xfrm>
            <a:off x="6381750" y="1924050"/>
            <a:ext cx="514350" cy="266700"/>
          </a:xfrm>
          <a:prstGeom prst="rect">
            <a:avLst/>
          </a:prstGeom>
          <a:noFill/>
          <a:ln w="0">
            <a:noFill/>
            <a:prstDash val="solid"/>
          </a:ln>
        </p:spPr>
        <p:txBody>
          <a:bodyPr wrap="square" lIns="0" tIns="0" rIns="0" bIns="0" anchor="t">
            <a:normAutofit/>
          </a:bodyPr>
          <a:lstStyle/>
          <a:p>
            <a:pPr algn="l">
              <a:lnSpc>
                <a:spcPct val="112000"/>
              </a:lnSpc>
              <a:buNone/>
              <a:defRPr sz="1275" b="1">
                <a:solidFill>
                  <a:srgbClr val="A18458"/>
                </a:solidFill>
                <a:latin typeface="微软雅黑" panose="020B0503020204020204" charset="-122"/>
                <a:ea typeface="微软雅黑" panose="020B0503020204020204" charset="-122"/>
                <a:cs typeface="微软雅黑" panose="020B0503020204020204" charset="-122"/>
              </a:defRPr>
            </a:pPr>
            <a:r>
              <a:rPr sz="1275" b="1">
                <a:solidFill>
                  <a:srgbClr val="A18458"/>
                </a:solidFill>
                <a:latin typeface="微软雅黑" panose="020B0503020204020204" charset="-122"/>
                <a:ea typeface="微软雅黑" panose="020B0503020204020204" charset="-122"/>
                <a:cs typeface="微软雅黑" panose="020B0503020204020204" charset="-122"/>
              </a:rPr>
              <a:t>03</a:t>
            </a:r>
            <a:endParaRPr sz="1275"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6991350" y="1866900"/>
            <a:ext cx="180975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手机配对</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3" name="矩形 22"/>
          <p:cNvSpPr>
            <a:spLocks noGrp="1"/>
          </p:cNvSpPr>
          <p:nvPr/>
        </p:nvSpPr>
        <p:spPr>
          <a:xfrm>
            <a:off x="6381750" y="2476500"/>
            <a:ext cx="2362200" cy="1143000"/>
          </a:xfrm>
          <a:prstGeom prst="rect">
            <a:avLst/>
          </a:prstGeom>
          <a:noFill/>
          <a:ln w="0">
            <a:noFill/>
            <a:prstDash val="solid"/>
          </a:ln>
        </p:spPr>
        <p:txBody>
          <a:bodyPr wrap="square" lIns="0" tIns="0" rIns="0" bIns="0" anchor="t">
            <a:normAutofit/>
          </a:bodyPr>
          <a:lstStyle/>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扫描桌面应用二维码</a:t>
            </a:r>
            <a:endParaRPr sz="14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确认同一账户和工作空间</a:t>
            </a:r>
            <a:endParaRPr sz="14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在手机中打开远程</a:t>
            </a:r>
            <a:endParaRPr sz="14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直接连接符 23"/>
          <p:cNvSpPr>
            <a:spLocks noGrp="1"/>
          </p:cNvSpPr>
          <p:nvPr/>
        </p:nvSpPr>
        <p:spPr>
          <a:xfrm>
            <a:off x="8915400" y="1847850"/>
            <a:ext cx="0" cy="1885950"/>
          </a:xfrm>
          <a:prstGeom prst="line">
            <a:avLst/>
          </a:prstGeom>
          <a:noFill/>
          <a:ln w="9525">
            <a:solidFill>
              <a:srgbClr val="C9D0C8"/>
            </a:solidFill>
            <a:prstDash val="solid"/>
          </a:ln>
        </p:spPr>
      </p:sp>
      <p:sp>
        <p:nvSpPr>
          <p:cNvPr id="25" name="矩形 24"/>
          <p:cNvSpPr>
            <a:spLocks noGrp="1"/>
          </p:cNvSpPr>
          <p:nvPr/>
        </p:nvSpPr>
        <p:spPr>
          <a:xfrm>
            <a:off x="9163050" y="1924050"/>
            <a:ext cx="514350" cy="266700"/>
          </a:xfrm>
          <a:prstGeom prst="rect">
            <a:avLst/>
          </a:prstGeom>
          <a:noFill/>
          <a:ln w="0">
            <a:noFill/>
            <a:prstDash val="solid"/>
          </a:ln>
        </p:spPr>
        <p:txBody>
          <a:bodyPr wrap="square" lIns="0" tIns="0" rIns="0" bIns="0" anchor="t">
            <a:normAutofit/>
          </a:bodyPr>
          <a:lstStyle/>
          <a:p>
            <a:pPr algn="l">
              <a:lnSpc>
                <a:spcPct val="112000"/>
              </a:lnSpc>
              <a:buNone/>
              <a:defRPr sz="1275" b="1">
                <a:solidFill>
                  <a:srgbClr val="A18458"/>
                </a:solidFill>
                <a:latin typeface="微软雅黑" panose="020B0503020204020204" charset="-122"/>
                <a:ea typeface="微软雅黑" panose="020B0503020204020204" charset="-122"/>
                <a:cs typeface="微软雅黑" panose="020B0503020204020204" charset="-122"/>
              </a:defRPr>
            </a:pPr>
            <a:r>
              <a:rPr sz="1275" b="1">
                <a:solidFill>
                  <a:srgbClr val="A18458"/>
                </a:solidFill>
                <a:latin typeface="微软雅黑" panose="020B0503020204020204" charset="-122"/>
                <a:ea typeface="微软雅黑" panose="020B0503020204020204" charset="-122"/>
                <a:cs typeface="微软雅黑" panose="020B0503020204020204" charset="-122"/>
              </a:rPr>
              <a:t>04</a:t>
            </a:r>
            <a:endParaRPr sz="1275"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6" name="矩形 25"/>
          <p:cNvSpPr>
            <a:spLocks noGrp="1"/>
          </p:cNvSpPr>
          <p:nvPr/>
        </p:nvSpPr>
        <p:spPr>
          <a:xfrm>
            <a:off x="9772650" y="1866900"/>
            <a:ext cx="1809750" cy="38100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完成练习</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7" name="矩形 26"/>
          <p:cNvSpPr>
            <a:spLocks noGrp="1"/>
          </p:cNvSpPr>
          <p:nvPr/>
        </p:nvSpPr>
        <p:spPr>
          <a:xfrm>
            <a:off x="9163050" y="2476500"/>
            <a:ext cx="2362200" cy="1143000"/>
          </a:xfrm>
          <a:prstGeom prst="rect">
            <a:avLst/>
          </a:prstGeom>
          <a:noFill/>
          <a:ln w="0">
            <a:noFill/>
            <a:prstDash val="solid"/>
          </a:ln>
        </p:spPr>
        <p:txBody>
          <a:bodyPr wrap="square" lIns="0" tIns="0" rIns="0" bIns="0" anchor="t">
            <a:normAutofit/>
          </a:bodyPr>
          <a:lstStyle/>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选择Mac和练习项目</a:t>
            </a:r>
            <a:endParaRPr sz="14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发出指令并检查结果</a:t>
            </a:r>
            <a:endParaRPr sz="14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8000"/>
              </a:lnSpc>
              <a:buNone/>
              <a:defRPr sz="1425" b="0">
                <a:solidFill>
                  <a:srgbClr val="263431"/>
                </a:solidFill>
                <a:latin typeface="微软雅黑" panose="020B0503020204020204" charset="-122"/>
                <a:ea typeface="微软雅黑" panose="020B0503020204020204" charset="-122"/>
                <a:cs typeface="微软雅黑" panose="020B0503020204020204" charset="-122"/>
              </a:defRPr>
            </a:pPr>
            <a:r>
              <a:rPr sz="1425" b="0">
                <a:solidFill>
                  <a:srgbClr val="263431"/>
                </a:solidFill>
                <a:latin typeface="微软雅黑" panose="020B0503020204020204" charset="-122"/>
                <a:ea typeface="微软雅黑" panose="020B0503020204020204" charset="-122"/>
                <a:cs typeface="微软雅黑" panose="020B0503020204020204" charset="-122"/>
              </a:rPr>
              <a:t>结束后断开连接</a:t>
            </a:r>
            <a:endParaRPr sz="14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8" name="矩形 27"/>
          <p:cNvSpPr>
            <a:spLocks noGrp="1"/>
          </p:cNvSpPr>
          <p:nvPr/>
        </p:nvSpPr>
        <p:spPr>
          <a:xfrm>
            <a:off x="819150" y="3638550"/>
            <a:ext cx="6191250" cy="228600"/>
          </a:xfrm>
          <a:prstGeom prst="rect">
            <a:avLst/>
          </a:prstGeom>
          <a:noFill/>
          <a:ln w="0">
            <a:noFill/>
            <a:prstDash val="solid"/>
          </a:ln>
        </p:spPr>
        <p:txBody>
          <a:bodyPr wrap="square" lIns="0" tIns="0" rIns="0" bIns="0" anchor="t">
            <a:normAutofit/>
          </a:bodyPr>
          <a:lstStyle/>
          <a:p>
            <a:pPr algn="l">
              <a:lnSpc>
                <a:spcPct val="112000"/>
              </a:lnSpc>
              <a:buNone/>
              <a:defRPr sz="1125" b="0">
                <a:solidFill>
                  <a:srgbClr val="315363"/>
                </a:solidFill>
                <a:latin typeface="微软雅黑" panose="020B0503020204020204" charset="-122"/>
                <a:ea typeface="微软雅黑" panose="020B0503020204020204" charset="-122"/>
                <a:cs typeface="微软雅黑" panose="020B0503020204020204" charset="-122"/>
              </a:defRPr>
            </a:pPr>
            <a:r>
              <a:rPr sz="1125" b="0">
                <a:solidFill>
                  <a:srgbClr val="315363"/>
                </a:solidFill>
                <a:latin typeface="微软雅黑" panose="020B0503020204020204" charset="-122"/>
                <a:ea typeface="微软雅黑" panose="020B0503020204020204" charset="-122"/>
                <a:cs typeface="微软雅黑" panose="020B0503020204020204" charset="-122"/>
              </a:rPr>
              <a:t>设置路径：ChatGPT桌面应用 &gt; 设置 &gt; 连接 &gt; 控制此Mac或PC</a:t>
            </a:r>
            <a:endParaRPr sz="1125" b="0">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29" name="直接连接符 28"/>
          <p:cNvSpPr>
            <a:spLocks noGrp="1"/>
          </p:cNvSpPr>
          <p:nvPr/>
        </p:nvSpPr>
        <p:spPr>
          <a:xfrm>
            <a:off x="857250" y="4048125"/>
            <a:ext cx="10477500" cy="0"/>
          </a:xfrm>
          <a:prstGeom prst="line">
            <a:avLst/>
          </a:prstGeom>
          <a:noFill/>
          <a:ln w="14288">
            <a:solidFill>
              <a:srgbClr val="8FA99C"/>
            </a:solidFill>
            <a:prstDash val="solid"/>
          </a:ln>
        </p:spPr>
      </p:sp>
      <p:sp>
        <p:nvSpPr>
          <p:cNvPr id="30" name="矩形 29"/>
          <p:cNvSpPr>
            <a:spLocks noGrp="1"/>
          </p:cNvSpPr>
          <p:nvPr/>
        </p:nvSpPr>
        <p:spPr>
          <a:xfrm>
            <a:off x="914400" y="4324350"/>
            <a:ext cx="152400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练习指令</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31" name="矩形 30"/>
          <p:cNvSpPr>
            <a:spLocks noGrp="1"/>
          </p:cNvSpPr>
          <p:nvPr/>
        </p:nvSpPr>
        <p:spPr>
          <a:xfrm>
            <a:off x="2286000" y="4286250"/>
            <a:ext cx="8858250" cy="647700"/>
          </a:xfrm>
          <a:prstGeom prst="rect">
            <a:avLst/>
          </a:prstGeom>
          <a:noFill/>
          <a:ln w="0">
            <a:noFill/>
            <a:prstDash val="solid"/>
          </a:ln>
        </p:spPr>
        <p:txBody>
          <a:bodyPr wrap="square" lIns="0" tIns="0" rIns="0" bIns="0" anchor="t">
            <a:normAutofit/>
          </a:bodyPr>
          <a:lstStyle/>
          <a:p>
            <a:pPr algn="l">
              <a:lnSpc>
                <a:spcPct val="120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先只读查看 remote-practice 文件夹；确认后创建 02-output/remote-test.md，写明文件夹概况和下一步。</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32" name="矩形 31"/>
          <p:cNvSpPr>
            <a:spLocks noGrp="1"/>
          </p:cNvSpPr>
          <p:nvPr/>
        </p:nvSpPr>
        <p:spPr>
          <a:xfrm>
            <a:off x="1047750" y="5486400"/>
            <a:ext cx="10096500" cy="457200"/>
          </a:xfrm>
          <a:prstGeom prst="rect">
            <a:avLst/>
          </a:prstGeom>
          <a:noFill/>
          <a:ln w="0">
            <a:noFill/>
            <a:prstDash val="solid"/>
          </a:ln>
        </p:spPr>
        <p:txBody>
          <a:bodyPr wrap="square" lIns="0" tIns="0" rIns="0" bIns="0" anchor="t">
            <a:normAutofit/>
          </a:bodyPr>
          <a:lstStyle/>
          <a:p>
            <a:pPr algn="ctr">
              <a:lnSpc>
                <a:spcPct val="112000"/>
              </a:lnSpc>
              <a:buNone/>
              <a:defRPr sz="1425" b="0">
                <a:solidFill>
                  <a:srgbClr val="8A4D42"/>
                </a:solidFill>
                <a:latin typeface="微软雅黑" panose="020B0503020204020204" charset="-122"/>
                <a:ea typeface="微软雅黑" panose="020B0503020204020204" charset="-122"/>
                <a:cs typeface="微软雅黑" panose="020B0503020204020204" charset="-122"/>
              </a:defRPr>
            </a:pPr>
            <a:r>
              <a:rPr sz="1425" b="0">
                <a:solidFill>
                  <a:srgbClr val="8A4D42"/>
                </a:solidFill>
                <a:latin typeface="微软雅黑" panose="020B0503020204020204" charset="-122"/>
                <a:ea typeface="微软雅黑" panose="020B0503020204020204" charset="-122"/>
                <a:cs typeface="微软雅黑" panose="020B0503020204020204" charset="-122"/>
              </a:rPr>
              <a:t>只连接自己拥有且信任的设备。若Remote尚未开放，再使用Chrome远程桌面。</a:t>
            </a:r>
            <a:endParaRPr sz="1425" b="0">
              <a:solidFill>
                <a:srgbClr val="8A4D4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1" name="矩形 20"/>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新信息按照来源层级核实</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9048750" y="6410325"/>
            <a:ext cx="1028700" cy="0"/>
          </a:xfrm>
          <a:prstGeom prst="line">
            <a:avLst/>
          </a:prstGeom>
          <a:noFill/>
          <a:ln w="38100">
            <a:solidFill>
              <a:srgbClr val="315F55"/>
            </a:solidFill>
            <a:prstDash val="solid"/>
          </a:ln>
        </p:spPr>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54</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矩形 11"/>
          <p:cNvSpPr>
            <a:spLocks noGrp="1"/>
          </p:cNvSpPr>
          <p:nvPr/>
        </p:nvSpPr>
        <p:spPr>
          <a:xfrm>
            <a:off x="1143000" y="1952625"/>
            <a:ext cx="571500" cy="3429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01</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1952625" y="1924050"/>
            <a:ext cx="7810500" cy="400050"/>
          </a:xfrm>
          <a:prstGeom prst="rect">
            <a:avLst/>
          </a:prstGeom>
          <a:noFill/>
          <a:ln w="0">
            <a:noFill/>
            <a:prstDash val="solid"/>
          </a:ln>
        </p:spPr>
        <p:txBody>
          <a:bodyPr wrap="square" lIns="0" tIns="0" rIns="0" bIns="0" anchor="t">
            <a:normAutofit/>
          </a:bodyPr>
          <a:lstStyle/>
          <a:p>
            <a:pPr algn="l">
              <a:lnSpc>
                <a:spcPct val="112000"/>
              </a:lnSpc>
              <a:buNone/>
              <a:defRPr sz="2025" b="0">
                <a:solidFill>
                  <a:srgbClr val="315F55"/>
                </a:solidFill>
                <a:latin typeface="微软雅黑" panose="020B0503020204020204" charset="-122"/>
                <a:ea typeface="微软雅黑" panose="020B0503020204020204" charset="-122"/>
                <a:cs typeface="微软雅黑" panose="020B0503020204020204" charset="-122"/>
              </a:defRPr>
            </a:pPr>
            <a:r>
              <a:rPr sz="2025" b="0">
                <a:solidFill>
                  <a:srgbClr val="315F55"/>
                </a:solidFill>
                <a:latin typeface="微软雅黑" panose="020B0503020204020204" charset="-122"/>
                <a:ea typeface="微软雅黑" panose="020B0503020204020204" charset="-122"/>
                <a:cs typeface="微软雅黑" panose="020B0503020204020204" charset="-122"/>
              </a:rPr>
              <a:t>官方文档和更新日志</a:t>
            </a:r>
            <a:endParaRPr sz="2025" b="0">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1143000" y="2828925"/>
            <a:ext cx="571500" cy="3429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02</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5" name="矩形 14"/>
          <p:cNvSpPr>
            <a:spLocks noGrp="1"/>
          </p:cNvSpPr>
          <p:nvPr/>
        </p:nvSpPr>
        <p:spPr>
          <a:xfrm>
            <a:off x="1952625" y="2800350"/>
            <a:ext cx="7810500" cy="400050"/>
          </a:xfrm>
          <a:prstGeom prst="rect">
            <a:avLst/>
          </a:prstGeom>
          <a:noFill/>
          <a:ln w="0">
            <a:noFill/>
            <a:prstDash val="solid"/>
          </a:ln>
        </p:spPr>
        <p:txBody>
          <a:bodyPr wrap="square" lIns="0" tIns="0" rIns="0" bIns="0" anchor="t">
            <a:normAutofit/>
          </a:bodyPr>
          <a:lstStyle/>
          <a:p>
            <a:pPr algn="l">
              <a:lnSpc>
                <a:spcPct val="112000"/>
              </a:lnSpc>
              <a:buNone/>
              <a:defRPr sz="2025" b="0">
                <a:solidFill>
                  <a:srgbClr val="315F55"/>
                </a:solidFill>
                <a:latin typeface="微软雅黑" panose="020B0503020204020204" charset="-122"/>
                <a:ea typeface="微软雅黑" panose="020B0503020204020204" charset="-122"/>
                <a:cs typeface="微软雅黑" panose="020B0503020204020204" charset="-122"/>
              </a:defRPr>
            </a:pPr>
            <a:r>
              <a:rPr sz="2025" b="0">
                <a:solidFill>
                  <a:srgbClr val="315F55"/>
                </a:solidFill>
                <a:latin typeface="微软雅黑" panose="020B0503020204020204" charset="-122"/>
                <a:ea typeface="微软雅黑" panose="020B0503020204020204" charset="-122"/>
                <a:cs typeface="微软雅黑" panose="020B0503020204020204" charset="-122"/>
              </a:rPr>
              <a:t>官方GitHub Releases与Issues</a:t>
            </a:r>
            <a:endParaRPr sz="2025" b="0">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1143000" y="3705225"/>
            <a:ext cx="571500" cy="3429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03</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1952625" y="3676650"/>
            <a:ext cx="7810500" cy="400050"/>
          </a:xfrm>
          <a:prstGeom prst="rect">
            <a:avLst/>
          </a:prstGeom>
          <a:noFill/>
          <a:ln w="0">
            <a:noFill/>
            <a:prstDash val="solid"/>
          </a:ln>
        </p:spPr>
        <p:txBody>
          <a:bodyPr wrap="square" lIns="0" tIns="0" rIns="0" bIns="0" anchor="t">
            <a:normAutofit/>
          </a:bodyPr>
          <a:lstStyle/>
          <a:p>
            <a:pPr algn="l">
              <a:lnSpc>
                <a:spcPct val="11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产品社区和专业讨论</a:t>
            </a:r>
            <a:endParaRPr sz="20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矩形 17"/>
          <p:cNvSpPr>
            <a:spLocks noGrp="1"/>
          </p:cNvSpPr>
          <p:nvPr/>
        </p:nvSpPr>
        <p:spPr>
          <a:xfrm>
            <a:off x="1143000" y="4581525"/>
            <a:ext cx="571500" cy="342900"/>
          </a:xfrm>
          <a:prstGeom prst="rect">
            <a:avLst/>
          </a:prstGeom>
          <a:noFill/>
          <a:ln w="0">
            <a:noFill/>
            <a:prstDash val="solid"/>
          </a:ln>
        </p:spPr>
        <p:txBody>
          <a:bodyPr wrap="square" lIns="0" tIns="0" rIns="0" bIns="0" anchor="t">
            <a:normAutofit/>
          </a:bodyPr>
          <a:lstStyle/>
          <a:p>
            <a:pPr algn="l">
              <a:lnSpc>
                <a:spcPct val="112000"/>
              </a:lnSpc>
              <a:buNone/>
              <a:defRPr sz="1350" b="1">
                <a:solidFill>
                  <a:srgbClr val="A18458"/>
                </a:solidFill>
                <a:latin typeface="微软雅黑" panose="020B0503020204020204" charset="-122"/>
                <a:ea typeface="微软雅黑" panose="020B0503020204020204" charset="-122"/>
                <a:cs typeface="微软雅黑" panose="020B0503020204020204" charset="-122"/>
              </a:defRPr>
            </a:pPr>
            <a:r>
              <a:rPr sz="1350" b="1">
                <a:solidFill>
                  <a:srgbClr val="A18458"/>
                </a:solidFill>
                <a:latin typeface="微软雅黑" panose="020B0503020204020204" charset="-122"/>
                <a:ea typeface="微软雅黑" panose="020B0503020204020204" charset="-122"/>
                <a:cs typeface="微软雅黑" panose="020B0503020204020204" charset="-122"/>
              </a:rPr>
              <a:t>04</a:t>
            </a:r>
            <a:endParaRPr sz="135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1952625" y="4552950"/>
            <a:ext cx="7810500" cy="400050"/>
          </a:xfrm>
          <a:prstGeom prst="rect">
            <a:avLst/>
          </a:prstGeom>
          <a:noFill/>
          <a:ln w="0">
            <a:noFill/>
            <a:prstDash val="solid"/>
          </a:ln>
        </p:spPr>
        <p:txBody>
          <a:bodyPr wrap="square" lIns="0" tIns="0" rIns="0" bIns="0" anchor="t">
            <a:normAutofit/>
          </a:bodyPr>
          <a:lstStyle/>
          <a:p>
            <a:pPr algn="l">
              <a:lnSpc>
                <a:spcPct val="112000"/>
              </a:lnSpc>
              <a:buNone/>
              <a:defRPr sz="2025" b="0">
                <a:solidFill>
                  <a:srgbClr val="263431"/>
                </a:solidFill>
                <a:latin typeface="微软雅黑" panose="020B0503020204020204" charset="-122"/>
                <a:ea typeface="微软雅黑" panose="020B0503020204020204" charset="-122"/>
                <a:cs typeface="微软雅黑" panose="020B0503020204020204" charset="-122"/>
              </a:defRPr>
            </a:pPr>
            <a:r>
              <a:rPr sz="2025" b="0">
                <a:solidFill>
                  <a:srgbClr val="263431"/>
                </a:solidFill>
                <a:latin typeface="微软雅黑" panose="020B0503020204020204" charset="-122"/>
                <a:ea typeface="微软雅黑" panose="020B0503020204020204" charset="-122"/>
                <a:cs typeface="微软雅黑" panose="020B0503020204020204" charset="-122"/>
              </a:rPr>
              <a:t>社交媒体和转述</a:t>
            </a:r>
            <a:endParaRPr sz="20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1524000" y="5600700"/>
            <a:ext cx="9144000" cy="361950"/>
          </a:xfrm>
          <a:prstGeom prst="rect">
            <a:avLst/>
          </a:prstGeom>
          <a:noFill/>
          <a:ln w="0">
            <a:noFill/>
            <a:prstDash val="solid"/>
          </a:ln>
        </p:spPr>
        <p:txBody>
          <a:bodyPr wrap="square" lIns="0" tIns="0" rIns="0" bIns="0" anchor="t">
            <a:normAutofit/>
          </a:bodyPr>
          <a:lstStyle/>
          <a:p>
            <a:pPr algn="ctr">
              <a:lnSpc>
                <a:spcPct val="112000"/>
              </a:lnSpc>
              <a:buNone/>
              <a:defRPr sz="1650" b="0">
                <a:solidFill>
                  <a:srgbClr val="315363"/>
                </a:solidFill>
                <a:latin typeface="微软雅黑" panose="020B0503020204020204" charset="-122"/>
                <a:ea typeface="微软雅黑" panose="020B0503020204020204" charset="-122"/>
                <a:cs typeface="微软雅黑" panose="020B0503020204020204" charset="-122"/>
              </a:defRPr>
            </a:pPr>
            <a:r>
              <a:rPr sz="1650" b="0">
                <a:solidFill>
                  <a:srgbClr val="315363"/>
                </a:solidFill>
                <a:latin typeface="微软雅黑" panose="020B0503020204020204" charset="-122"/>
                <a:ea typeface="微软雅黑" panose="020B0503020204020204" charset="-122"/>
                <a:cs typeface="微软雅黑" panose="020B0503020204020204" charset="-122"/>
              </a:rPr>
              <a:t>社交媒体用于发现线索，重要事实回到原始来源。</a:t>
            </a:r>
            <a:endParaRPr sz="1650" b="0">
              <a:solidFill>
                <a:srgbClr val="31536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3" name="矩形 22"/>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练习</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综合练习</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1" name="直接连接符 10"/>
          <p:cNvSpPr>
            <a:spLocks noGrp="1"/>
          </p:cNvSpPr>
          <p:nvPr/>
        </p:nvSpPr>
        <p:spPr>
          <a:xfrm>
            <a:off x="9048750" y="6410325"/>
            <a:ext cx="1028700" cy="0"/>
          </a:xfrm>
          <a:prstGeom prst="line">
            <a:avLst/>
          </a:prstGeom>
          <a:noFill/>
          <a:ln w="38100">
            <a:solidFill>
              <a:srgbClr val="315F55"/>
            </a:solidFill>
            <a:prstDash val="solid"/>
          </a:ln>
        </p:spPr>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55</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762000" y="1695450"/>
            <a:ext cx="10668000" cy="666750"/>
          </a:xfrm>
          <a:prstGeom prst="rect">
            <a:avLst/>
          </a:prstGeom>
          <a:noFill/>
          <a:ln w="0">
            <a:noFill/>
            <a:prstDash val="solid"/>
          </a:ln>
        </p:spPr>
        <p:txBody>
          <a:bodyPr wrap="square" lIns="0" tIns="0" rIns="0" bIns="0" anchor="ctr">
            <a:normAutofit/>
          </a:bodyPr>
          <a:lstStyle/>
          <a:p>
            <a:pPr algn="l">
              <a:lnSpc>
                <a:spcPct val="112000"/>
              </a:lnSpc>
              <a:buNone/>
              <a:defRPr sz="2250" b="1">
                <a:solidFill>
                  <a:srgbClr val="315F55"/>
                </a:solidFill>
                <a:latin typeface="微软雅黑" panose="020B0503020204020204" charset="-122"/>
                <a:ea typeface="微软雅黑" panose="020B0503020204020204" charset="-122"/>
                <a:cs typeface="微软雅黑" panose="020B0503020204020204" charset="-122"/>
              </a:defRPr>
            </a:pPr>
            <a:r>
              <a:rPr sz="2250" b="1">
                <a:solidFill>
                  <a:srgbClr val="315F55"/>
                </a:solidFill>
                <a:latin typeface="微软雅黑" panose="020B0503020204020204" charset="-122"/>
                <a:ea typeface="微软雅黑" panose="020B0503020204020204" charset="-122"/>
                <a:cs typeface="微软雅黑" panose="020B0503020204020204" charset="-122"/>
              </a:rPr>
              <a:t>从一个空文件夹开始，完成一项真实工作。</a:t>
            </a:r>
            <a:endParaRPr sz="225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直接连接符 13"/>
          <p:cNvSpPr>
            <a:spLocks noGrp="1"/>
          </p:cNvSpPr>
          <p:nvPr/>
        </p:nvSpPr>
        <p:spPr>
          <a:xfrm>
            <a:off x="762000" y="2476500"/>
            <a:ext cx="10668000" cy="0"/>
          </a:xfrm>
          <a:prstGeom prst="line">
            <a:avLst/>
          </a:prstGeom>
          <a:noFill/>
          <a:ln w="9525">
            <a:solidFill>
              <a:srgbClr val="E3E8E1"/>
            </a:solidFill>
            <a:prstDash val="solid"/>
          </a:ln>
        </p:spPr>
      </p:sp>
      <p:sp>
        <p:nvSpPr>
          <p:cNvPr id="15" name="矩形 14"/>
          <p:cNvSpPr>
            <a:spLocks noGrp="1"/>
          </p:cNvSpPr>
          <p:nvPr/>
        </p:nvSpPr>
        <p:spPr>
          <a:xfrm>
            <a:off x="7810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材料</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6" name="矩形 15"/>
          <p:cNvSpPr>
            <a:spLocks noGrp="1"/>
          </p:cNvSpPr>
          <p:nvPr/>
        </p:nvSpPr>
        <p:spPr>
          <a:xfrm>
            <a:off x="7810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一份脱敏真实材料</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一个模糊目标</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7" name="直接连接符 16"/>
          <p:cNvSpPr>
            <a:spLocks noGrp="1"/>
          </p:cNvSpPr>
          <p:nvPr/>
        </p:nvSpPr>
        <p:spPr>
          <a:xfrm>
            <a:off x="4057650" y="2819400"/>
            <a:ext cx="0" cy="2714625"/>
          </a:xfrm>
          <a:prstGeom prst="line">
            <a:avLst/>
          </a:prstGeom>
          <a:noFill/>
          <a:ln w="9525">
            <a:solidFill>
              <a:srgbClr val="C9D0C8"/>
            </a:solidFill>
            <a:prstDash val="solid"/>
          </a:ln>
        </p:spPr>
      </p:sp>
      <p:sp>
        <p:nvSpPr>
          <p:cNvPr id="18" name="矩形 17"/>
          <p:cNvSpPr>
            <a:spLocks noGrp="1"/>
          </p:cNvSpPr>
          <p:nvPr/>
        </p:nvSpPr>
        <p:spPr>
          <a:xfrm>
            <a:off x="43624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315363"/>
                </a:solidFill>
                <a:latin typeface="微软雅黑" panose="020B0503020204020204" charset="-122"/>
                <a:ea typeface="微软雅黑" panose="020B0503020204020204" charset="-122"/>
                <a:cs typeface="微软雅黑" panose="020B0503020204020204" charset="-122"/>
              </a:defRPr>
            </a:pPr>
            <a:r>
              <a:rPr sz="1500" b="1">
                <a:solidFill>
                  <a:srgbClr val="315363"/>
                </a:solidFill>
                <a:latin typeface="微软雅黑" panose="020B0503020204020204" charset="-122"/>
                <a:ea typeface="微软雅黑" panose="020B0503020204020204" charset="-122"/>
                <a:cs typeface="微软雅黑" panose="020B0503020204020204" charset="-122"/>
              </a:rPr>
              <a:t>成果</a:t>
            </a:r>
            <a:endParaRPr sz="15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19" name="矩形 18"/>
          <p:cNvSpPr>
            <a:spLocks noGrp="1"/>
          </p:cNvSpPr>
          <p:nvPr/>
        </p:nvSpPr>
        <p:spPr>
          <a:xfrm>
            <a:off x="43624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需求文档</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正式成果</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检查记录</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直接连接符 19"/>
          <p:cNvSpPr>
            <a:spLocks noGrp="1"/>
          </p:cNvSpPr>
          <p:nvPr/>
        </p:nvSpPr>
        <p:spPr>
          <a:xfrm>
            <a:off x="7639050" y="2819400"/>
            <a:ext cx="0" cy="2714625"/>
          </a:xfrm>
          <a:prstGeom prst="line">
            <a:avLst/>
          </a:prstGeom>
          <a:noFill/>
          <a:ln w="9525">
            <a:solidFill>
              <a:srgbClr val="C9D0C8"/>
            </a:solidFill>
            <a:prstDash val="solid"/>
          </a:ln>
        </p:spPr>
      </p:sp>
      <p:sp>
        <p:nvSpPr>
          <p:cNvPr id="21" name="矩形 20"/>
          <p:cNvSpPr>
            <a:spLocks noGrp="1"/>
          </p:cNvSpPr>
          <p:nvPr/>
        </p:nvSpPr>
        <p:spPr>
          <a:xfrm>
            <a:off x="7943850" y="2819400"/>
            <a:ext cx="3067050" cy="323850"/>
          </a:xfrm>
          <a:prstGeom prst="rect">
            <a:avLst/>
          </a:prstGeom>
          <a:noFill/>
          <a:ln w="0">
            <a:noFill/>
            <a:prstDash val="solid"/>
          </a:ln>
        </p:spPr>
        <p:txBody>
          <a:bodyPr wrap="square" lIns="0" tIns="0" rIns="0" bIns="0" anchor="t">
            <a:normAutofit/>
          </a:bodyPr>
          <a:lstStyle/>
          <a:p>
            <a:pPr algn="l">
              <a:lnSpc>
                <a:spcPct val="112000"/>
              </a:lnSpc>
              <a:buNone/>
              <a:defRPr sz="1500" b="1">
                <a:solidFill>
                  <a:srgbClr val="A18458"/>
                </a:solidFill>
                <a:latin typeface="微软雅黑" panose="020B0503020204020204" charset="-122"/>
                <a:ea typeface="微软雅黑" panose="020B0503020204020204" charset="-122"/>
                <a:cs typeface="微软雅黑" panose="020B0503020204020204" charset="-122"/>
              </a:defRPr>
            </a:pPr>
            <a:r>
              <a:rPr sz="1500" b="1">
                <a:solidFill>
                  <a:srgbClr val="A18458"/>
                </a:solidFill>
                <a:latin typeface="微软雅黑" panose="020B0503020204020204" charset="-122"/>
                <a:ea typeface="微软雅黑" panose="020B0503020204020204" charset="-122"/>
                <a:cs typeface="微软雅黑" panose="020B0503020204020204" charset="-122"/>
              </a:rPr>
              <a:t>检查</a:t>
            </a:r>
            <a:endParaRPr sz="1500" b="1">
              <a:solidFill>
                <a:srgbClr val="A18458"/>
              </a:solidFill>
              <a:latin typeface="微软雅黑" panose="020B0503020204020204" charset="-122"/>
              <a:ea typeface="微软雅黑" panose="020B0503020204020204" charset="-122"/>
              <a:cs typeface="微软雅黑" panose="020B0503020204020204" charset="-122"/>
            </a:endParaRPr>
          </a:p>
        </p:txBody>
      </p:sp>
      <p:sp>
        <p:nvSpPr>
          <p:cNvPr id="22" name="矩形 21"/>
          <p:cNvSpPr>
            <a:spLocks noGrp="1"/>
          </p:cNvSpPr>
          <p:nvPr/>
        </p:nvSpPr>
        <p:spPr>
          <a:xfrm>
            <a:off x="7943850" y="3295650"/>
            <a:ext cx="3067050" cy="2238375"/>
          </a:xfrm>
          <a:prstGeom prst="rect">
            <a:avLst/>
          </a:prstGeom>
          <a:noFill/>
          <a:ln w="0">
            <a:noFill/>
            <a:prstDash val="solid"/>
          </a:ln>
        </p:spPr>
        <p:txBody>
          <a:bodyPr wrap="square" lIns="0" tIns="0" rIns="0" bIns="0" anchor="t">
            <a:normAutofit/>
          </a:bodyPr>
          <a:lstStyle/>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目录清楚</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来源可追溯</a:t>
            </a:r>
            <a:endParaRPr sz="1725"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2000"/>
              </a:lnSpc>
              <a:buNone/>
              <a:defRPr sz="1725" b="0">
                <a:solidFill>
                  <a:srgbClr val="263431"/>
                </a:solidFill>
                <a:latin typeface="微软雅黑" panose="020B0503020204020204" charset="-122"/>
                <a:ea typeface="微软雅黑" panose="020B0503020204020204" charset="-122"/>
                <a:cs typeface="微软雅黑" panose="020B0503020204020204" charset="-122"/>
              </a:defRPr>
            </a:pPr>
            <a:r>
              <a:rPr sz="1725" b="0">
                <a:solidFill>
                  <a:srgbClr val="263431"/>
                </a:solidFill>
                <a:latin typeface="微软雅黑" panose="020B0503020204020204" charset="-122"/>
                <a:ea typeface="微软雅黑" panose="020B0503020204020204" charset="-122"/>
                <a:cs typeface="微软雅黑" panose="020B0503020204020204" charset="-122"/>
              </a:rPr>
              <a:t>Git有阶段提交</a:t>
            </a:r>
            <a:endParaRPr sz="1725"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8" name="矩形 27"/>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完成前逐项检查</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2" name="直接连接符 1"/>
          <p:cNvSpPr>
            <a:spLocks noGrp="1"/>
          </p:cNvSpPr>
          <p:nvPr/>
        </p:nvSpPr>
        <p:spPr>
          <a:xfrm>
            <a:off x="685800" y="1438275"/>
            <a:ext cx="10820400" cy="0"/>
          </a:xfrm>
          <a:prstGeom prst="line">
            <a:avLst/>
          </a:prstGeom>
          <a:noFill/>
          <a:ln w="19050">
            <a:solidFill>
              <a:srgbClr val="8FA99C"/>
            </a:solidFill>
            <a:prstDash val="solid"/>
          </a:ln>
        </p:spPr>
      </p:sp>
      <p:sp>
        <p:nvSpPr>
          <p:cNvPr id="3" name="直接连接符 2"/>
          <p:cNvSpPr>
            <a:spLocks noGrp="1"/>
          </p:cNvSpPr>
          <p:nvPr/>
        </p:nvSpPr>
        <p:spPr>
          <a:xfrm>
            <a:off x="609600" y="6391275"/>
            <a:ext cx="10972800" cy="0"/>
          </a:xfrm>
          <a:prstGeom prst="line">
            <a:avLst/>
          </a:prstGeom>
          <a:noFill/>
          <a:ln w="9525">
            <a:solidFill>
              <a:srgbClr val="C9D0C8"/>
            </a:solidFill>
            <a:prstDash val="solid"/>
          </a:ln>
        </p:spPr>
      </p:sp>
      <p:sp>
        <p:nvSpPr>
          <p:cNvPr id="4" name="矩形 3"/>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0" name="直接连接符 9"/>
          <p:cNvSpPr>
            <a:spLocks noGrp="1"/>
          </p:cNvSpPr>
          <p:nvPr/>
        </p:nvSpPr>
        <p:spPr>
          <a:xfrm>
            <a:off x="9048750" y="6410325"/>
            <a:ext cx="1028700" cy="0"/>
          </a:xfrm>
          <a:prstGeom prst="line">
            <a:avLst/>
          </a:prstGeom>
          <a:noFill/>
          <a:ln w="38100">
            <a:solidFill>
              <a:srgbClr val="315F55"/>
            </a:solidFill>
            <a:prstDash val="solid"/>
          </a:ln>
        </p:spPr>
      </p:sp>
      <p:sp>
        <p:nvSpPr>
          <p:cNvPr id="11" name="矩形 10"/>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56</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2" name="椭圆 11"/>
          <p:cNvSpPr>
            <a:spLocks noGrp="1"/>
          </p:cNvSpPr>
          <p:nvPr/>
        </p:nvSpPr>
        <p:spPr>
          <a:xfrm>
            <a:off x="857250" y="1952625"/>
            <a:ext cx="209550" cy="209550"/>
          </a:xfrm>
          <a:prstGeom prst="ellipse">
            <a:avLst/>
          </a:prstGeom>
          <a:solidFill>
            <a:srgbClr val="F3F0E6"/>
          </a:solidFill>
          <a:ln w="19050">
            <a:solidFill>
              <a:srgbClr val="315F55"/>
            </a:solidFill>
            <a:prstDash val="solid"/>
          </a:ln>
        </p:spPr>
      </p:sp>
      <p:sp>
        <p:nvSpPr>
          <p:cNvPr id="13" name="矩形 12"/>
          <p:cNvSpPr>
            <a:spLocks noGrp="1"/>
          </p:cNvSpPr>
          <p:nvPr/>
        </p:nvSpPr>
        <p:spPr>
          <a:xfrm>
            <a:off x="1257300" y="1905000"/>
            <a:ext cx="4572000" cy="361950"/>
          </a:xfrm>
          <a:prstGeom prst="rect">
            <a:avLst/>
          </a:prstGeom>
          <a:noFill/>
          <a:ln w="0">
            <a:noFill/>
            <a:prstDash val="solid"/>
          </a:ln>
        </p:spPr>
        <p:txBody>
          <a:bodyPr wrap="square" lIns="0" tIns="0" rIns="0" bIns="0" anchor="t">
            <a:normAutofit/>
          </a:bodyPr>
          <a:lstStyle/>
          <a:p>
            <a:pPr algn="l">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项目文件夹完整</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4" name="椭圆 13"/>
          <p:cNvSpPr>
            <a:spLocks noGrp="1"/>
          </p:cNvSpPr>
          <p:nvPr/>
        </p:nvSpPr>
        <p:spPr>
          <a:xfrm>
            <a:off x="6381750" y="1952625"/>
            <a:ext cx="209550" cy="209550"/>
          </a:xfrm>
          <a:prstGeom prst="ellipse">
            <a:avLst/>
          </a:prstGeom>
          <a:solidFill>
            <a:srgbClr val="F3F0E6"/>
          </a:solidFill>
          <a:ln w="19050">
            <a:solidFill>
              <a:srgbClr val="315F55"/>
            </a:solidFill>
            <a:prstDash val="solid"/>
          </a:ln>
        </p:spPr>
      </p:sp>
      <p:sp>
        <p:nvSpPr>
          <p:cNvPr id="15" name="矩形 14"/>
          <p:cNvSpPr>
            <a:spLocks noGrp="1"/>
          </p:cNvSpPr>
          <p:nvPr/>
        </p:nvSpPr>
        <p:spPr>
          <a:xfrm>
            <a:off x="6781800" y="1905000"/>
            <a:ext cx="4572000" cy="361950"/>
          </a:xfrm>
          <a:prstGeom prst="rect">
            <a:avLst/>
          </a:prstGeom>
          <a:noFill/>
          <a:ln w="0">
            <a:noFill/>
            <a:prstDash val="solid"/>
          </a:ln>
        </p:spPr>
        <p:txBody>
          <a:bodyPr wrap="square" lIns="0" tIns="0" rIns="0" bIns="0" anchor="t">
            <a:normAutofit/>
          </a:bodyPr>
          <a:lstStyle/>
          <a:p>
            <a:pPr algn="l">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原始材料未覆盖</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6" name="椭圆 15"/>
          <p:cNvSpPr>
            <a:spLocks noGrp="1"/>
          </p:cNvSpPr>
          <p:nvPr/>
        </p:nvSpPr>
        <p:spPr>
          <a:xfrm>
            <a:off x="857250" y="2847975"/>
            <a:ext cx="209550" cy="209550"/>
          </a:xfrm>
          <a:prstGeom prst="ellipse">
            <a:avLst/>
          </a:prstGeom>
          <a:solidFill>
            <a:srgbClr val="F3F0E6"/>
          </a:solidFill>
          <a:ln w="19050">
            <a:solidFill>
              <a:srgbClr val="315F55"/>
            </a:solidFill>
            <a:prstDash val="solid"/>
          </a:ln>
        </p:spPr>
      </p:sp>
      <p:sp>
        <p:nvSpPr>
          <p:cNvPr id="17" name="矩形 16"/>
          <p:cNvSpPr>
            <a:spLocks noGrp="1"/>
          </p:cNvSpPr>
          <p:nvPr/>
        </p:nvSpPr>
        <p:spPr>
          <a:xfrm>
            <a:off x="1257300" y="2800350"/>
            <a:ext cx="4572000" cy="361950"/>
          </a:xfrm>
          <a:prstGeom prst="rect">
            <a:avLst/>
          </a:prstGeom>
          <a:noFill/>
          <a:ln w="0">
            <a:noFill/>
            <a:prstDash val="solid"/>
          </a:ln>
        </p:spPr>
        <p:txBody>
          <a:bodyPr wrap="square" lIns="0" tIns="0" rIns="0" bIns="0" anchor="t">
            <a:normAutofit/>
          </a:bodyPr>
          <a:lstStyle/>
          <a:p>
            <a:pPr algn="l">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需求已经确认</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椭圆 17"/>
          <p:cNvSpPr>
            <a:spLocks noGrp="1"/>
          </p:cNvSpPr>
          <p:nvPr/>
        </p:nvSpPr>
        <p:spPr>
          <a:xfrm>
            <a:off x="6381750" y="2847975"/>
            <a:ext cx="209550" cy="209550"/>
          </a:xfrm>
          <a:prstGeom prst="ellipse">
            <a:avLst/>
          </a:prstGeom>
          <a:solidFill>
            <a:srgbClr val="F3F0E6"/>
          </a:solidFill>
          <a:ln w="19050">
            <a:solidFill>
              <a:srgbClr val="315F55"/>
            </a:solidFill>
            <a:prstDash val="solid"/>
          </a:ln>
        </p:spPr>
      </p:sp>
      <p:sp>
        <p:nvSpPr>
          <p:cNvPr id="19" name="矩形 18"/>
          <p:cNvSpPr>
            <a:spLocks noGrp="1"/>
          </p:cNvSpPr>
          <p:nvPr/>
        </p:nvSpPr>
        <p:spPr>
          <a:xfrm>
            <a:off x="6781800" y="2800350"/>
            <a:ext cx="4572000" cy="361950"/>
          </a:xfrm>
          <a:prstGeom prst="rect">
            <a:avLst/>
          </a:prstGeom>
          <a:noFill/>
          <a:ln w="0">
            <a:noFill/>
            <a:prstDash val="solid"/>
          </a:ln>
        </p:spPr>
        <p:txBody>
          <a:bodyPr wrap="square" lIns="0" tIns="0" rIns="0" bIns="0" anchor="t">
            <a:normAutofit/>
          </a:bodyPr>
          <a:lstStyle/>
          <a:p>
            <a:pPr algn="l">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成果符合验收标准</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0" name="椭圆 19"/>
          <p:cNvSpPr>
            <a:spLocks noGrp="1"/>
          </p:cNvSpPr>
          <p:nvPr/>
        </p:nvSpPr>
        <p:spPr>
          <a:xfrm>
            <a:off x="857250" y="3743325"/>
            <a:ext cx="209550" cy="209550"/>
          </a:xfrm>
          <a:prstGeom prst="ellipse">
            <a:avLst/>
          </a:prstGeom>
          <a:solidFill>
            <a:srgbClr val="F3F0E6"/>
          </a:solidFill>
          <a:ln w="19050">
            <a:solidFill>
              <a:srgbClr val="315F55"/>
            </a:solidFill>
            <a:prstDash val="solid"/>
          </a:ln>
        </p:spPr>
      </p:sp>
      <p:sp>
        <p:nvSpPr>
          <p:cNvPr id="21" name="矩形 20"/>
          <p:cNvSpPr>
            <a:spLocks noGrp="1"/>
          </p:cNvSpPr>
          <p:nvPr/>
        </p:nvSpPr>
        <p:spPr>
          <a:xfrm>
            <a:off x="1257300" y="3695700"/>
            <a:ext cx="4572000" cy="361950"/>
          </a:xfrm>
          <a:prstGeom prst="rect">
            <a:avLst/>
          </a:prstGeom>
          <a:noFill/>
          <a:ln w="0">
            <a:noFill/>
            <a:prstDash val="solid"/>
          </a:ln>
        </p:spPr>
        <p:txBody>
          <a:bodyPr wrap="square" lIns="0" tIns="0" rIns="0" bIns="0" anchor="t">
            <a:normAutofit/>
          </a:bodyPr>
          <a:lstStyle/>
          <a:p>
            <a:pPr algn="l">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来源和日期可以追溯</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2" name="椭圆 21"/>
          <p:cNvSpPr>
            <a:spLocks noGrp="1"/>
          </p:cNvSpPr>
          <p:nvPr/>
        </p:nvSpPr>
        <p:spPr>
          <a:xfrm>
            <a:off x="6381750" y="3743325"/>
            <a:ext cx="209550" cy="209550"/>
          </a:xfrm>
          <a:prstGeom prst="ellipse">
            <a:avLst/>
          </a:prstGeom>
          <a:solidFill>
            <a:srgbClr val="F3F0E6"/>
          </a:solidFill>
          <a:ln w="19050">
            <a:solidFill>
              <a:srgbClr val="315F55"/>
            </a:solidFill>
            <a:prstDash val="solid"/>
          </a:ln>
        </p:spPr>
      </p:sp>
      <p:sp>
        <p:nvSpPr>
          <p:cNvPr id="23" name="矩形 22"/>
          <p:cNvSpPr>
            <a:spLocks noGrp="1"/>
          </p:cNvSpPr>
          <p:nvPr/>
        </p:nvSpPr>
        <p:spPr>
          <a:xfrm>
            <a:off x="6781800" y="3695700"/>
            <a:ext cx="4572000" cy="361950"/>
          </a:xfrm>
          <a:prstGeom prst="rect">
            <a:avLst/>
          </a:prstGeom>
          <a:noFill/>
          <a:ln w="0">
            <a:noFill/>
            <a:prstDash val="solid"/>
          </a:ln>
        </p:spPr>
        <p:txBody>
          <a:bodyPr wrap="square" lIns="0" tIns="0" rIns="0" bIns="0" anchor="t">
            <a:normAutofit/>
          </a:bodyPr>
          <a:lstStyle/>
          <a:p>
            <a:pPr algn="l">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README已更新</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4" name="椭圆 23"/>
          <p:cNvSpPr>
            <a:spLocks noGrp="1"/>
          </p:cNvSpPr>
          <p:nvPr/>
        </p:nvSpPr>
        <p:spPr>
          <a:xfrm>
            <a:off x="857250" y="4638675"/>
            <a:ext cx="209550" cy="209550"/>
          </a:xfrm>
          <a:prstGeom prst="ellipse">
            <a:avLst/>
          </a:prstGeom>
          <a:solidFill>
            <a:srgbClr val="F3F0E6"/>
          </a:solidFill>
          <a:ln w="19050">
            <a:solidFill>
              <a:srgbClr val="315F55"/>
            </a:solidFill>
            <a:prstDash val="solid"/>
          </a:ln>
        </p:spPr>
      </p:sp>
      <p:sp>
        <p:nvSpPr>
          <p:cNvPr id="25" name="矩形 24"/>
          <p:cNvSpPr>
            <a:spLocks noGrp="1"/>
          </p:cNvSpPr>
          <p:nvPr/>
        </p:nvSpPr>
        <p:spPr>
          <a:xfrm>
            <a:off x="1257300" y="4591050"/>
            <a:ext cx="4572000" cy="361950"/>
          </a:xfrm>
          <a:prstGeom prst="rect">
            <a:avLst/>
          </a:prstGeom>
          <a:noFill/>
          <a:ln w="0">
            <a:noFill/>
            <a:prstDash val="solid"/>
          </a:ln>
        </p:spPr>
        <p:txBody>
          <a:bodyPr wrap="square" lIns="0" tIns="0" rIns="0" bIns="0" anchor="t">
            <a:normAutofit/>
          </a:bodyPr>
          <a:lstStyle/>
          <a:p>
            <a:pPr algn="l">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Git状态清楚</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26" name="椭圆 25"/>
          <p:cNvSpPr>
            <a:spLocks noGrp="1"/>
          </p:cNvSpPr>
          <p:nvPr/>
        </p:nvSpPr>
        <p:spPr>
          <a:xfrm>
            <a:off x="6381750" y="4638675"/>
            <a:ext cx="209550" cy="209550"/>
          </a:xfrm>
          <a:prstGeom prst="ellipse">
            <a:avLst/>
          </a:prstGeom>
          <a:solidFill>
            <a:srgbClr val="F3F0E6"/>
          </a:solidFill>
          <a:ln w="19050">
            <a:solidFill>
              <a:srgbClr val="315F55"/>
            </a:solidFill>
            <a:prstDash val="solid"/>
          </a:ln>
        </p:spPr>
      </p:sp>
      <p:sp>
        <p:nvSpPr>
          <p:cNvPr id="27" name="矩形 26"/>
          <p:cNvSpPr>
            <a:spLocks noGrp="1"/>
          </p:cNvSpPr>
          <p:nvPr/>
        </p:nvSpPr>
        <p:spPr>
          <a:xfrm>
            <a:off x="6781800" y="4591050"/>
            <a:ext cx="4572000" cy="361950"/>
          </a:xfrm>
          <a:prstGeom prst="rect">
            <a:avLst/>
          </a:prstGeom>
          <a:noFill/>
          <a:ln w="0">
            <a:noFill/>
            <a:prstDash val="solid"/>
          </a:ln>
        </p:spPr>
        <p:txBody>
          <a:bodyPr wrap="square" lIns="0" tIns="0" rIns="0" bIns="0" anchor="t">
            <a:normAutofit/>
          </a:bodyPr>
          <a:lstStyle/>
          <a:p>
            <a:pPr algn="l">
              <a:lnSpc>
                <a:spcPct val="112000"/>
              </a:lnSpc>
              <a:buNone/>
              <a:defRPr sz="1800" b="0">
                <a:solidFill>
                  <a:srgbClr val="263431"/>
                </a:solidFill>
                <a:latin typeface="微软雅黑" panose="020B0503020204020204" charset="-122"/>
                <a:ea typeface="微软雅黑" panose="020B0503020204020204" charset="-122"/>
                <a:cs typeface="微软雅黑" panose="020B0503020204020204" charset="-122"/>
              </a:defRPr>
            </a:pPr>
            <a:r>
              <a:rPr sz="1800" b="0">
                <a:solidFill>
                  <a:srgbClr val="263431"/>
                </a:solidFill>
                <a:latin typeface="微软雅黑" panose="020B0503020204020204" charset="-122"/>
                <a:ea typeface="微软雅黑" panose="020B0503020204020204" charset="-122"/>
                <a:cs typeface="微软雅黑" panose="020B0503020204020204" charset="-122"/>
              </a:rPr>
              <a:t>敏感信息未进入仓库</a:t>
            </a:r>
            <a:endParaRPr sz="180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3F0E6"/>
        </a:solidFill>
        <a:effectLst/>
      </p:bgPr>
    </p:bg>
    <p:spTree>
      <p:nvGrpSpPr>
        <p:cNvPr id="1" name=""/>
        <p:cNvGrpSpPr/>
        <p:nvPr/>
      </p:nvGrpSpPr>
      <p:grpSpPr/>
      <p:sp>
        <p:nvSpPr>
          <p:cNvPr id="13" name="矩形 12"/>
          <p:cNvSpPr>
            <a:spLocks noGrp="1"/>
          </p:cNvSpPr>
          <p:nvPr/>
        </p:nvSpPr>
        <p:spPr>
          <a:xfrm>
            <a:off x="1143000" y="2047875"/>
            <a:ext cx="9906000" cy="723900"/>
          </a:xfrm>
          <a:prstGeom prst="rect">
            <a:avLst/>
          </a:prstGeom>
          <a:noFill/>
          <a:ln w="0">
            <a:noFill/>
            <a:prstDash val="solid"/>
          </a:ln>
        </p:spPr>
        <p:txBody>
          <a:bodyPr wrap="square" lIns="0" tIns="0" rIns="0" bIns="0" anchor="t">
            <a:normAutofit/>
          </a:bodyPr>
          <a:lstStyle/>
          <a:p>
            <a:pPr algn="ctr">
              <a:lnSpc>
                <a:spcPct val="112000"/>
              </a:lnSpc>
              <a:buNone/>
              <a:defRPr sz="3600" b="0">
                <a:solidFill>
                  <a:srgbClr val="263431"/>
                </a:solidFill>
                <a:latin typeface="黑体" panose="02010609060101010101" charset="-122"/>
                <a:ea typeface="黑体" panose="02010609060101010101" charset="-122"/>
                <a:cs typeface="黑体" panose="02010609060101010101" charset="-122"/>
              </a:defRPr>
            </a:pPr>
            <a:r>
              <a:rPr sz="3600" b="0">
                <a:solidFill>
                  <a:srgbClr val="263431"/>
                </a:solidFill>
                <a:latin typeface="黑体" panose="02010609060101010101" charset="-122"/>
                <a:ea typeface="黑体" panose="02010609060101010101" charset="-122"/>
                <a:cs typeface="黑体" panose="02010609060101010101" charset="-122"/>
              </a:rPr>
              <a:t>以后仍然从一个文件夹开始</a:t>
            </a:r>
            <a:endParaRPr sz="3600" b="0">
              <a:solidFill>
                <a:srgbClr val="263431"/>
              </a:solidFill>
              <a:latin typeface="黑体" panose="02010609060101010101" charset="-122"/>
              <a:ea typeface="黑体" panose="02010609060101010101" charset="-122"/>
              <a:cs typeface="黑体" panose="02010609060101010101" charset="-122"/>
            </a:endParaRPr>
          </a:p>
        </p:txBody>
      </p:sp>
      <p:sp>
        <p:nvSpPr>
          <p:cNvPr id="2" name="矩形 1"/>
          <p:cNvSpPr>
            <a:spLocks noGrp="1"/>
          </p:cNvSpPr>
          <p:nvPr/>
        </p:nvSpPr>
        <p:spPr>
          <a:xfrm>
            <a:off x="1238250" y="3143250"/>
            <a:ext cx="9715500" cy="457200"/>
          </a:xfrm>
          <a:prstGeom prst="rect">
            <a:avLst/>
          </a:prstGeom>
          <a:noFill/>
          <a:ln w="0">
            <a:noFill/>
            <a:prstDash val="solid"/>
          </a:ln>
        </p:spPr>
        <p:txBody>
          <a:bodyPr wrap="square" lIns="0" tIns="0" rIns="0" bIns="0" anchor="t">
            <a:normAutofit/>
          </a:bodyPr>
          <a:lstStyle/>
          <a:p>
            <a:pPr algn="ctr">
              <a:lnSpc>
                <a:spcPct val="112000"/>
              </a:lnSpc>
              <a:buNone/>
              <a:defRPr sz="1875" b="0">
                <a:solidFill>
                  <a:srgbClr val="315F55"/>
                </a:solidFill>
                <a:latin typeface="微软雅黑" panose="020B0503020204020204" charset="-122"/>
                <a:ea typeface="微软雅黑" panose="020B0503020204020204" charset="-122"/>
                <a:cs typeface="微软雅黑" panose="020B0503020204020204" charset="-122"/>
              </a:defRPr>
            </a:pPr>
            <a:r>
              <a:rPr sz="1875" b="0">
                <a:solidFill>
                  <a:srgbClr val="315F55"/>
                </a:solidFill>
                <a:latin typeface="微软雅黑" panose="020B0503020204020204" charset="-122"/>
                <a:ea typeface="微软雅黑" panose="020B0503020204020204" charset="-122"/>
                <a:cs typeface="微软雅黑" panose="020B0503020204020204" charset="-122"/>
              </a:rPr>
              <a:t>澄清目标　编制需求　完成工作　检查结果　保存方法</a:t>
            </a:r>
            <a:endParaRPr sz="1875" b="0">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3" name="直接连接符 2"/>
          <p:cNvSpPr>
            <a:spLocks noGrp="1"/>
          </p:cNvSpPr>
          <p:nvPr/>
        </p:nvSpPr>
        <p:spPr>
          <a:xfrm>
            <a:off x="4476750" y="4076700"/>
            <a:ext cx="3238500" cy="0"/>
          </a:xfrm>
          <a:prstGeom prst="line">
            <a:avLst/>
          </a:prstGeom>
          <a:noFill/>
          <a:ln w="38100">
            <a:solidFill>
              <a:srgbClr val="A18458"/>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1" name="直接连接符 10"/>
          <p:cNvSpPr>
            <a:spLocks noGrp="1"/>
          </p:cNvSpPr>
          <p:nvPr/>
        </p:nvSpPr>
        <p:spPr>
          <a:xfrm>
            <a:off x="9048750" y="6410325"/>
            <a:ext cx="1028700" cy="0"/>
          </a:xfrm>
          <a:prstGeom prst="line">
            <a:avLst/>
          </a:prstGeom>
          <a:noFill/>
          <a:ln w="38100">
            <a:solidFill>
              <a:srgbClr val="315F55"/>
            </a:solidFill>
            <a:prstDash val="solid"/>
          </a:ln>
        </p:spPr>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57</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4" name="矩形 13"/>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附录</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基本词汇表（一）</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1" name="直接连接符 10"/>
          <p:cNvSpPr>
            <a:spLocks noGrp="1"/>
          </p:cNvSpPr>
          <p:nvPr/>
        </p:nvSpPr>
        <p:spPr>
          <a:xfrm>
            <a:off x="9048750" y="6410325"/>
            <a:ext cx="1028700" cy="0"/>
          </a:xfrm>
          <a:prstGeom prst="line">
            <a:avLst/>
          </a:prstGeom>
          <a:noFill/>
          <a:ln w="38100">
            <a:solidFill>
              <a:srgbClr val="315F55"/>
            </a:solidFill>
            <a:prstDash val="solid"/>
          </a:ln>
        </p:spPr>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58</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graphicFrame>
        <p:nvGraphicFramePr>
          <p:cNvPr id="26" name="表格 25"/>
          <p:cNvGraphicFramePr/>
          <p:nvPr/>
        </p:nvGraphicFramePr>
        <p:xfrm>
          <a:off x="857250" y="1809750"/>
          <a:ext cx="10477500" cy="4095752"/>
        </p:xfrm>
        <a:graphic>
          <a:graphicData uri="http://schemas.openxmlformats.org/drawingml/2006/table">
            <a:tbl>
              <a:tblPr/>
              <a:tblGrid>
                <a:gridCol w="1905000"/>
                <a:gridCol w="3333750"/>
                <a:gridCol w="1809750"/>
                <a:gridCol w="3429000"/>
              </a:tblGrid>
              <a:tr h="511969">
                <a:tc>
                  <a:txBody>
                    <a:bodyPr/>
                    <a:lstStyle/>
                    <a:p>
                      <a:r>
                        <a:rPr sz="1350" b="1">
                          <a:solidFill>
                            <a:srgbClr val="315F55"/>
                          </a:solidFill>
                          <a:latin typeface="微软雅黑" panose="020B0503020204020204" charset="-122"/>
                          <a:ea typeface="微软雅黑" panose="020B0503020204020204" charset="-122"/>
                          <a:cs typeface="微软雅黑" panose="020B0503020204020204" charset="-122"/>
                        </a:rPr>
                        <a:t>名词</a:t>
                      </a:r>
                      <a:endParaRPr sz="1350"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E3E8E1"/>
                    </a:solidFill>
                  </a:tcPr>
                </a:tc>
                <a:tc>
                  <a:txBody>
                    <a:bodyPr/>
                    <a:lstStyle/>
                    <a:p>
                      <a:r>
                        <a:rPr sz="1350" b="1">
                          <a:solidFill>
                            <a:srgbClr val="315F55"/>
                          </a:solidFill>
                          <a:latin typeface="微软雅黑" panose="020B0503020204020204" charset="-122"/>
                          <a:ea typeface="微软雅黑" panose="020B0503020204020204" charset="-122"/>
                          <a:cs typeface="微软雅黑" panose="020B0503020204020204" charset="-122"/>
                        </a:rPr>
                        <a:t>说明</a:t>
                      </a:r>
                      <a:endParaRPr sz="1350"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E3E8E1"/>
                    </a:solidFill>
                  </a:tcPr>
                </a:tc>
                <a:tc>
                  <a:txBody>
                    <a:bodyPr/>
                    <a:lstStyle/>
                    <a:p>
                      <a:r>
                        <a:rPr sz="1350" b="1">
                          <a:solidFill>
                            <a:srgbClr val="315F55"/>
                          </a:solidFill>
                          <a:latin typeface="微软雅黑" panose="020B0503020204020204" charset="-122"/>
                          <a:ea typeface="微软雅黑" panose="020B0503020204020204" charset="-122"/>
                          <a:cs typeface="微软雅黑" panose="020B0503020204020204" charset="-122"/>
                        </a:rPr>
                        <a:t>名词</a:t>
                      </a:r>
                      <a:endParaRPr sz="1350"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E3E8E1"/>
                    </a:solidFill>
                  </a:tcPr>
                </a:tc>
                <a:tc>
                  <a:txBody>
                    <a:bodyPr/>
                    <a:lstStyle/>
                    <a:p>
                      <a:r>
                        <a:rPr sz="1350" b="1">
                          <a:solidFill>
                            <a:srgbClr val="315F55"/>
                          </a:solidFill>
                          <a:latin typeface="微软雅黑" panose="020B0503020204020204" charset="-122"/>
                          <a:ea typeface="微软雅黑" panose="020B0503020204020204" charset="-122"/>
                          <a:cs typeface="微软雅黑" panose="020B0503020204020204" charset="-122"/>
                        </a:rPr>
                        <a:t>说明</a:t>
                      </a:r>
                      <a:endParaRPr sz="1350"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E3E8E1"/>
                    </a:solidFill>
                  </a:tcPr>
                </a:tc>
              </a:tr>
              <a:tr h="511969">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LLM</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大语言模型</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Model</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具体模型</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r>
              <a:tr h="511969">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Provider</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模型或服务提供方</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Agent</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能够规划并调用工具完成工作的系统</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r>
              <a:tr h="511969">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Harness</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承载Agent运行的工具环境</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CLI</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命令行界面</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r>
              <a:tr h="511969">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IDE</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集成开发环境</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Plugin</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扩展软件能力的插件</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r>
              <a:tr h="511969">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API</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软件之间的调用接口</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API Key</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调用API使用的凭证</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r>
              <a:tr h="511969">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Token</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模型处理文本的计量单位</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Context</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当前模型可利用的信息范围</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r>
              <a:tr h="511969">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Reasoning effort</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推理投入程度</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Prompt</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交给模型的任务说明</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66675" marB="66675" anchor="ctr">
                    <a:solidFill>
                      <a:srgbClr val="FAF8F1"/>
                    </a:solidFill>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4" name="矩形 13"/>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附录</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基本词汇表（二）</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1" name="直接连接符 10"/>
          <p:cNvSpPr>
            <a:spLocks noGrp="1"/>
          </p:cNvSpPr>
          <p:nvPr/>
        </p:nvSpPr>
        <p:spPr>
          <a:xfrm>
            <a:off x="9048750" y="6410325"/>
            <a:ext cx="1028700" cy="0"/>
          </a:xfrm>
          <a:prstGeom prst="line">
            <a:avLst/>
          </a:prstGeom>
          <a:noFill/>
          <a:ln w="38100">
            <a:solidFill>
              <a:srgbClr val="315F55"/>
            </a:solidFill>
            <a:prstDash val="solid"/>
          </a:ln>
        </p:spPr>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59</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graphicFrame>
        <p:nvGraphicFramePr>
          <p:cNvPr id="26" name="表格 25"/>
          <p:cNvGraphicFramePr/>
          <p:nvPr/>
        </p:nvGraphicFramePr>
        <p:xfrm>
          <a:off x="857250" y="1809750"/>
          <a:ext cx="10477500" cy="4095750"/>
        </p:xfrm>
        <a:graphic>
          <a:graphicData uri="http://schemas.openxmlformats.org/drawingml/2006/table">
            <a:tbl>
              <a:tblPr/>
              <a:tblGrid>
                <a:gridCol w="2095500"/>
                <a:gridCol w="3143250"/>
                <a:gridCol w="1809750"/>
                <a:gridCol w="3429000"/>
              </a:tblGrid>
              <a:tr h="585107">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名词</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E3E8E1"/>
                    </a:solidFill>
                  </a:tcPr>
                </a:tc>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说明</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E3E8E1"/>
                    </a:solidFill>
                  </a:tcPr>
                </a:tc>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名词</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E3E8E1"/>
                    </a:solidFill>
                  </a:tcPr>
                </a:tc>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说明</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E3E8E1"/>
                    </a:solidFill>
                  </a:tcPr>
                </a:tc>
              </a:tr>
              <a:tr h="585107">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Skill</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可重复使用的工作方法及配套资源</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c>
                  <a:txBody>
                    <a:bodyPr/>
                    <a:lstStyle/>
                    <a:p>
                      <a:r>
                        <a:rPr sz="1350" b="1">
                          <a:solidFill>
                            <a:srgbClr val="315F55"/>
                          </a:solidFill>
                          <a:latin typeface="微软雅黑" panose="020B0503020204020204" charset="-122"/>
                          <a:ea typeface="微软雅黑" panose="020B0503020204020204" charset="-122"/>
                          <a:cs typeface="微软雅黑" panose="020B0503020204020204" charset="-122"/>
                        </a:rPr>
                        <a:t>MCP</a:t>
                      </a:r>
                      <a:endParaRPr sz="1350"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连接工具和数据的开放协议</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r>
              <a:tr h="585107">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AGENTS.md</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Codex进入项目后读取的工作规则</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c>
                  <a:txBody>
                    <a:bodyPr/>
                    <a:lstStyle/>
                    <a:p>
                      <a:r>
                        <a:rPr sz="1350" b="1">
                          <a:solidFill>
                            <a:srgbClr val="315F55"/>
                          </a:solidFill>
                          <a:latin typeface="微软雅黑" panose="020B0503020204020204" charset="-122"/>
                          <a:ea typeface="微软雅黑" panose="020B0503020204020204" charset="-122"/>
                          <a:cs typeface="微软雅黑" panose="020B0503020204020204" charset="-122"/>
                        </a:rPr>
                        <a:t>README.md</a:t>
                      </a:r>
                      <a:endParaRPr sz="1350"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项目说明</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r>
              <a:tr h="585107">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REQUIREMENTS.md</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当前工作的需求和验收标准</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c>
                  <a:txBody>
                    <a:bodyPr/>
                    <a:lstStyle/>
                    <a:p>
                      <a:r>
                        <a:rPr sz="1350" b="1">
                          <a:solidFill>
                            <a:srgbClr val="315F55"/>
                          </a:solidFill>
                          <a:latin typeface="微软雅黑" panose="020B0503020204020204" charset="-122"/>
                          <a:ea typeface="微软雅黑" panose="020B0503020204020204" charset="-122"/>
                          <a:cs typeface="微软雅黑" panose="020B0503020204020204" charset="-122"/>
                        </a:rPr>
                        <a:t>Sandbox</a:t>
                      </a:r>
                      <a:endParaRPr sz="1350"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限制程序访问范围的隔离机制</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r>
              <a:tr h="585107">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Permission</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文件、命令和网络的访问权限</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c>
                  <a:txBody>
                    <a:bodyPr/>
                    <a:lstStyle/>
                    <a:p>
                      <a:r>
                        <a:rPr sz="1350" b="1">
                          <a:solidFill>
                            <a:srgbClr val="315F55"/>
                          </a:solidFill>
                          <a:latin typeface="微软雅黑" panose="020B0503020204020204" charset="-122"/>
                          <a:ea typeface="微软雅黑" panose="020B0503020204020204" charset="-122"/>
                          <a:cs typeface="微软雅黑" panose="020B0503020204020204" charset="-122"/>
                        </a:rPr>
                        <a:t>RAG</a:t>
                      </a:r>
                      <a:endParaRPr sz="1350"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先检索资料再生成答案的方法</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r>
              <a:tr h="585107">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Embedding</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将内容转换为便于检索的数值表示</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c>
                  <a:txBody>
                    <a:bodyPr/>
                    <a:lstStyle/>
                    <a:p>
                      <a:r>
                        <a:rPr sz="1350" b="1">
                          <a:solidFill>
                            <a:srgbClr val="315F55"/>
                          </a:solidFill>
                          <a:latin typeface="微软雅黑" panose="020B0503020204020204" charset="-122"/>
                          <a:ea typeface="微软雅黑" panose="020B0503020204020204" charset="-122"/>
                          <a:cs typeface="微软雅黑" panose="020B0503020204020204" charset="-122"/>
                        </a:rPr>
                        <a:t>Prompt injection</a:t>
                      </a:r>
                      <a:endParaRPr sz="1350"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外部内容试图改变Agent行为</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r>
              <a:tr h="585107">
                <a:tc>
                  <a:txBody>
                    <a:bodyPr/>
                    <a:lstStyle/>
                    <a:p>
                      <a:r>
                        <a:rPr sz="1275" b="1">
                          <a:solidFill>
                            <a:srgbClr val="315F55"/>
                          </a:solidFill>
                          <a:latin typeface="微软雅黑" panose="020B0503020204020204" charset="-122"/>
                          <a:ea typeface="微软雅黑" panose="020B0503020204020204" charset="-122"/>
                          <a:cs typeface="微软雅黑" panose="020B0503020204020204" charset="-122"/>
                        </a:rPr>
                        <a:t>Git</a:t>
                      </a:r>
                      <a:endParaRPr sz="1275"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保存文件修改历史的版本管理工具</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c>
                  <a:txBody>
                    <a:bodyPr/>
                    <a:lstStyle/>
                    <a:p>
                      <a:r>
                        <a:rPr sz="1350" b="1">
                          <a:solidFill>
                            <a:srgbClr val="315F55"/>
                          </a:solidFill>
                          <a:latin typeface="微软雅黑" panose="020B0503020204020204" charset="-122"/>
                          <a:ea typeface="微软雅黑" panose="020B0503020204020204" charset="-122"/>
                          <a:cs typeface="微软雅黑" panose="020B0503020204020204" charset="-122"/>
                        </a:rPr>
                        <a:t>Commit</a:t>
                      </a:r>
                      <a:endParaRPr sz="1350" b="1">
                        <a:solidFill>
                          <a:srgbClr val="315F55"/>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3F0E6"/>
                    </a:solidFill>
                  </a:tcPr>
                </a:tc>
                <a:tc>
                  <a:txBody>
                    <a:bodyPr/>
                    <a:lstStyle/>
                    <a:p>
                      <a:r>
                        <a:rPr sz="1350">
                          <a:solidFill>
                            <a:srgbClr val="263431"/>
                          </a:solidFill>
                          <a:latin typeface="微软雅黑" panose="020B0503020204020204" charset="-122"/>
                          <a:ea typeface="微软雅黑" panose="020B0503020204020204" charset="-122"/>
                          <a:cs typeface="微软雅黑" panose="020B0503020204020204" charset="-122"/>
                        </a:rPr>
                        <a:t>一次有明确目的的历史记录</a:t>
                      </a:r>
                      <a:endParaRPr sz="1350">
                        <a:solidFill>
                          <a:srgbClr val="263431"/>
                        </a:solidFill>
                        <a:latin typeface="微软雅黑" panose="020B0503020204020204" charset="-122"/>
                        <a:ea typeface="微软雅黑" panose="020B0503020204020204" charset="-122"/>
                        <a:cs typeface="微软雅黑" panose="020B0503020204020204" charset="-122"/>
                      </a:endParaRPr>
                    </a:p>
                  </a:txBody>
                  <a:tcPr marL="95250" marR="95250" marT="76200" marB="76200" anchor="ctr">
                    <a:solidFill>
                      <a:srgbClr val="FAF8F1"/>
                    </a:solid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21" name="矩形 20"/>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附录</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常见厂商与工具</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1" name="直接连接符 10"/>
          <p:cNvSpPr>
            <a:spLocks noGrp="1"/>
          </p:cNvSpPr>
          <p:nvPr/>
        </p:nvSpPr>
        <p:spPr>
          <a:xfrm>
            <a:off x="9048750" y="6410325"/>
            <a:ext cx="1028700" cy="0"/>
          </a:xfrm>
          <a:prstGeom prst="line">
            <a:avLst/>
          </a:prstGeom>
          <a:noFill/>
          <a:ln w="38100">
            <a:solidFill>
              <a:srgbClr val="315F55"/>
            </a:solidFill>
            <a:prstDash val="solid"/>
          </a:ln>
        </p:spPr>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60</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57250" y="1790700"/>
            <a:ext cx="4381500" cy="36195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国际厂商</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4" name="矩形 13"/>
          <p:cNvSpPr>
            <a:spLocks noGrp="1"/>
          </p:cNvSpPr>
          <p:nvPr/>
        </p:nvSpPr>
        <p:spPr>
          <a:xfrm>
            <a:off x="857250" y="2266950"/>
            <a:ext cx="4572000" cy="1809750"/>
          </a:xfrm>
          <a:prstGeom prst="rect">
            <a:avLst/>
          </a:prstGeom>
          <a:noFill/>
          <a:ln w="0">
            <a:noFill/>
            <a:prstDash val="solid"/>
          </a:ln>
        </p:spPr>
        <p:txBody>
          <a:bodyPr wrap="square" lIns="0" tIns="0" rIns="0" bIns="0" anchor="t">
            <a:normAutofit/>
          </a:bodyPr>
          <a:lstStyle/>
          <a:p>
            <a:pPr algn="l">
              <a:lnSpc>
                <a:spcPct val="135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OpenAI：GPT、ChatGPT、Codex</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35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Anthropic：Claude、Claude Code</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35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Google：Gemini、Gemini CLI</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5" name="直接连接符 14"/>
          <p:cNvSpPr>
            <a:spLocks noGrp="1"/>
          </p:cNvSpPr>
          <p:nvPr/>
        </p:nvSpPr>
        <p:spPr>
          <a:xfrm>
            <a:off x="5905500" y="1790700"/>
            <a:ext cx="0" cy="2400300"/>
          </a:xfrm>
          <a:prstGeom prst="line">
            <a:avLst/>
          </a:prstGeom>
          <a:noFill/>
          <a:ln w="9525">
            <a:solidFill>
              <a:srgbClr val="C9D0C8"/>
            </a:solidFill>
            <a:prstDash val="solid"/>
          </a:ln>
        </p:spPr>
      </p:sp>
      <p:sp>
        <p:nvSpPr>
          <p:cNvPr id="16" name="矩形 15"/>
          <p:cNvSpPr>
            <a:spLocks noGrp="1"/>
          </p:cNvSpPr>
          <p:nvPr/>
        </p:nvSpPr>
        <p:spPr>
          <a:xfrm>
            <a:off x="6477000" y="1790700"/>
            <a:ext cx="4381500" cy="36195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F55"/>
                </a:solidFill>
                <a:latin typeface="微软雅黑" panose="020B0503020204020204" charset="-122"/>
                <a:ea typeface="微软雅黑" panose="020B0503020204020204" charset="-122"/>
                <a:cs typeface="微软雅黑" panose="020B0503020204020204" charset="-122"/>
              </a:defRPr>
            </a:pPr>
            <a:r>
              <a:rPr sz="1800" b="1">
                <a:solidFill>
                  <a:srgbClr val="315F55"/>
                </a:solidFill>
                <a:latin typeface="微软雅黑" panose="020B0503020204020204" charset="-122"/>
                <a:ea typeface="微软雅黑" panose="020B0503020204020204" charset="-122"/>
                <a:cs typeface="微软雅黑" panose="020B0503020204020204" charset="-122"/>
              </a:rPr>
              <a:t>国内厂商</a:t>
            </a:r>
            <a:endParaRPr sz="18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7" name="矩形 16"/>
          <p:cNvSpPr>
            <a:spLocks noGrp="1"/>
          </p:cNvSpPr>
          <p:nvPr/>
        </p:nvSpPr>
        <p:spPr>
          <a:xfrm>
            <a:off x="6477000" y="2266950"/>
            <a:ext cx="4762500" cy="2190750"/>
          </a:xfrm>
          <a:prstGeom prst="rect">
            <a:avLst/>
          </a:prstGeom>
          <a:noFill/>
          <a:ln w="0">
            <a:noFill/>
            <a:prstDash val="solid"/>
          </a:ln>
        </p:spPr>
        <p:txBody>
          <a:bodyPr wrap="square" lIns="0" tIns="0" rIns="0" bIns="0" anchor="t">
            <a:normAutofit/>
          </a:bodyPr>
          <a:lstStyle/>
          <a:p>
            <a:pPr algn="l">
              <a:lnSpc>
                <a:spcPct val="127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阿里：通义、Model Studio</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7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字节：豆包、火山方舟</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7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腾讯：混元、WorkBuddy</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7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DeepSeek：模型、API、Harness</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7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其他：百度、华为、智谱、MiniMax</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
        <p:nvSpPr>
          <p:cNvPr id="18" name="直接连接符 17"/>
          <p:cNvSpPr>
            <a:spLocks noGrp="1"/>
          </p:cNvSpPr>
          <p:nvPr/>
        </p:nvSpPr>
        <p:spPr>
          <a:xfrm>
            <a:off x="857250" y="4572000"/>
            <a:ext cx="10477500" cy="0"/>
          </a:xfrm>
          <a:prstGeom prst="line">
            <a:avLst/>
          </a:prstGeom>
          <a:noFill/>
          <a:ln w="14288">
            <a:solidFill>
              <a:srgbClr val="E3E8E1"/>
            </a:solidFill>
            <a:prstDash val="solid"/>
          </a:ln>
        </p:spPr>
      </p:sp>
      <p:sp>
        <p:nvSpPr>
          <p:cNvPr id="19" name="矩形 18"/>
          <p:cNvSpPr>
            <a:spLocks noGrp="1"/>
          </p:cNvSpPr>
          <p:nvPr/>
        </p:nvSpPr>
        <p:spPr>
          <a:xfrm>
            <a:off x="857250" y="4810125"/>
            <a:ext cx="9715500" cy="361950"/>
          </a:xfrm>
          <a:prstGeom prst="rect">
            <a:avLst/>
          </a:prstGeom>
          <a:noFill/>
          <a:ln w="0">
            <a:noFill/>
            <a:prstDash val="solid"/>
          </a:ln>
        </p:spPr>
        <p:txBody>
          <a:bodyPr wrap="square" lIns="0" tIns="0" rIns="0" bIns="0" anchor="t">
            <a:normAutofit/>
          </a:bodyPr>
          <a:lstStyle/>
          <a:p>
            <a:pPr algn="l">
              <a:lnSpc>
                <a:spcPct val="112000"/>
              </a:lnSpc>
              <a:buNone/>
              <a:defRPr sz="1800" b="1">
                <a:solidFill>
                  <a:srgbClr val="315363"/>
                </a:solidFill>
                <a:latin typeface="微软雅黑" panose="020B0503020204020204" charset="-122"/>
                <a:ea typeface="微软雅黑" panose="020B0503020204020204" charset="-122"/>
                <a:cs typeface="微软雅黑" panose="020B0503020204020204" charset="-122"/>
              </a:defRPr>
            </a:pPr>
            <a:r>
              <a:rPr sz="1800" b="1">
                <a:solidFill>
                  <a:srgbClr val="315363"/>
                </a:solidFill>
                <a:latin typeface="微软雅黑" panose="020B0503020204020204" charset="-122"/>
                <a:ea typeface="微软雅黑" panose="020B0503020204020204" charset="-122"/>
                <a:cs typeface="微软雅黑" panose="020B0503020204020204" charset="-122"/>
              </a:rPr>
              <a:t>常见 Agent 工具</a:t>
            </a:r>
            <a:endParaRPr sz="1800" b="1">
              <a:solidFill>
                <a:srgbClr val="315363"/>
              </a:solidFill>
              <a:latin typeface="微软雅黑" panose="020B0503020204020204" charset="-122"/>
              <a:ea typeface="微软雅黑" panose="020B0503020204020204" charset="-122"/>
              <a:cs typeface="微软雅黑" panose="020B0503020204020204" charset="-122"/>
            </a:endParaRPr>
          </a:p>
        </p:txBody>
      </p:sp>
      <p:sp>
        <p:nvSpPr>
          <p:cNvPr id="20" name="矩形 19"/>
          <p:cNvSpPr>
            <a:spLocks noGrp="1"/>
          </p:cNvSpPr>
          <p:nvPr/>
        </p:nvSpPr>
        <p:spPr>
          <a:xfrm>
            <a:off x="857250" y="5257800"/>
            <a:ext cx="10477500" cy="781050"/>
          </a:xfrm>
          <a:prstGeom prst="rect">
            <a:avLst/>
          </a:prstGeom>
          <a:noFill/>
          <a:ln w="0">
            <a:noFill/>
            <a:prstDash val="solid"/>
          </a:ln>
        </p:spPr>
        <p:txBody>
          <a:bodyPr wrap="square" lIns="0" tIns="0" rIns="0" bIns="0" anchor="t">
            <a:normAutofit/>
          </a:bodyPr>
          <a:lstStyle/>
          <a:p>
            <a:pPr algn="l">
              <a:lnSpc>
                <a:spcPct val="125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Codex、Claude Code、Gemini CLI、DeepSeek Harness</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5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Cursor、Windsurf、Cline、OpenCode、Aider</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4" name="矩形 13"/>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附录</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项目文件夹模板</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1" name="直接连接符 10"/>
          <p:cNvSpPr>
            <a:spLocks noGrp="1"/>
          </p:cNvSpPr>
          <p:nvPr/>
        </p:nvSpPr>
        <p:spPr>
          <a:xfrm>
            <a:off x="9048750" y="6410325"/>
            <a:ext cx="1028700" cy="0"/>
          </a:xfrm>
          <a:prstGeom prst="line">
            <a:avLst/>
          </a:prstGeom>
          <a:noFill/>
          <a:ln w="38100">
            <a:solidFill>
              <a:srgbClr val="315F55"/>
            </a:solidFill>
            <a:prstDash val="solid"/>
          </a:ln>
        </p:spPr>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61</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57250" y="1809750"/>
            <a:ext cx="10477500" cy="4095750"/>
          </a:xfrm>
          <a:prstGeom prst="rect">
            <a:avLst/>
          </a:prstGeom>
          <a:noFill/>
          <a:ln w="0">
            <a:noFill/>
            <a:prstDash val="solid"/>
          </a:ln>
        </p:spPr>
        <p:txBody>
          <a:bodyPr wrap="square" lIns="0" tIns="0" rIns="0" bIns="0" anchor="t">
            <a:normAutofit/>
          </a:bodyPr>
          <a:lstStyle/>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项目名称/</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README.md　　　　　　　项目说明和当前状态</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AGENTS.md　　　　　　 项目工作规则</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REQUIREMENTS.md　　　　需求和验收标准</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SOURCES.md　　　　　　 来源和获取日期</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.gitignore　　　　　　 不进入Git的文件</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00-input/　　　　　　　原始材料</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01-working/　　　　　　分析和中间稿</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02-output/　　　　　　 正式成果</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03-review/　　　　　　 检查和修改记录</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4" name="矩形 13"/>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附录</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REQUIREMENTS.md模板</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1" name="直接连接符 10"/>
          <p:cNvSpPr>
            <a:spLocks noGrp="1"/>
          </p:cNvSpPr>
          <p:nvPr/>
        </p:nvSpPr>
        <p:spPr>
          <a:xfrm>
            <a:off x="9048750" y="6410325"/>
            <a:ext cx="1028700" cy="0"/>
          </a:xfrm>
          <a:prstGeom prst="line">
            <a:avLst/>
          </a:prstGeom>
          <a:noFill/>
          <a:ln w="38100">
            <a:solidFill>
              <a:srgbClr val="315F55"/>
            </a:solidFill>
            <a:prstDash val="solid"/>
          </a:ln>
        </p:spPr>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62</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57250" y="1809750"/>
            <a:ext cx="10477500" cy="4095750"/>
          </a:xfrm>
          <a:prstGeom prst="rect">
            <a:avLst/>
          </a:prstGeom>
          <a:noFill/>
          <a:ln w="0">
            <a:noFill/>
            <a:prstDash val="solid"/>
          </a:ln>
        </p:spPr>
        <p:txBody>
          <a:bodyPr wrap="square" lIns="0" tIns="0" rIns="0" bIns="0" anchor="t">
            <a:normAutofit/>
          </a:bodyPr>
          <a:lstStyle/>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项目名称</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endParaRPr sz="1650"/>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背景</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阅读对象</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工作目标</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输入材料</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工作范围</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限制条件</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交付物</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验收标准</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待确认事项</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 确认记录</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4" name="矩形 13"/>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附录</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合同审查检查表</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1" name="直接连接符 10"/>
          <p:cNvSpPr>
            <a:spLocks noGrp="1"/>
          </p:cNvSpPr>
          <p:nvPr/>
        </p:nvSpPr>
        <p:spPr>
          <a:xfrm>
            <a:off x="9048750" y="6410325"/>
            <a:ext cx="1028700" cy="0"/>
          </a:xfrm>
          <a:prstGeom prst="line">
            <a:avLst/>
          </a:prstGeom>
          <a:noFill/>
          <a:ln w="38100">
            <a:solidFill>
              <a:srgbClr val="315F55"/>
            </a:solidFill>
            <a:prstDash val="solid"/>
          </a:ln>
        </p:spPr>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63</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3" name="矩形 12"/>
          <p:cNvSpPr>
            <a:spLocks noGrp="1"/>
          </p:cNvSpPr>
          <p:nvPr/>
        </p:nvSpPr>
        <p:spPr>
          <a:xfrm>
            <a:off x="857250" y="1809750"/>
            <a:ext cx="10477500" cy="4095750"/>
          </a:xfrm>
          <a:prstGeom prst="rect">
            <a:avLst/>
          </a:prstGeom>
          <a:noFill/>
          <a:ln w="0">
            <a:noFill/>
            <a:prstDash val="solid"/>
          </a:ln>
        </p:spPr>
        <p:txBody>
          <a:bodyPr wrap="square" lIns="0" tIns="0" rIns="0" bIns="0" anchor="t">
            <a:normAutofit/>
          </a:bodyPr>
          <a:lstStyle/>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1. 合同主体、授权和签署条件</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2. 服务范围、技术要求和验收标准</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3. 交付计划、变更机制和依赖条件</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4. 费用、税费、付款条件和发票</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5. 数据、网络安全、保密和知识产权</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6. 服务等级、故障处理和业务连续性</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7. 违约责任、赔偿、责任限制和保险</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8. 期限、续约、暂停、解除和退出安排</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9. 争议解决、适用法律和通知条款</a:t>
            </a:r>
            <a:endParaRPr sz="1650" b="0">
              <a:solidFill>
                <a:srgbClr val="263431"/>
              </a:solidFill>
              <a:latin typeface="微软雅黑" panose="020B0503020204020204" charset="-122"/>
              <a:ea typeface="微软雅黑" panose="020B0503020204020204" charset="-122"/>
              <a:cs typeface="微软雅黑" panose="020B0503020204020204" charset="-122"/>
            </a:endParaRPr>
          </a:p>
          <a:p>
            <a:pPr algn="l">
              <a:lnSpc>
                <a:spcPct val="124000"/>
              </a:lnSpc>
              <a:buNone/>
              <a:defRPr sz="1650" b="0">
                <a:solidFill>
                  <a:srgbClr val="263431"/>
                </a:solidFill>
                <a:latin typeface="微软雅黑" panose="020B0503020204020204" charset="-122"/>
                <a:ea typeface="微软雅黑" panose="020B0503020204020204" charset="-122"/>
                <a:cs typeface="微软雅黑" panose="020B0503020204020204" charset="-122"/>
              </a:defRPr>
            </a:pPr>
            <a:r>
              <a:rPr sz="1650" b="0">
                <a:solidFill>
                  <a:srgbClr val="263431"/>
                </a:solidFill>
                <a:latin typeface="微软雅黑" panose="020B0503020204020204" charset="-122"/>
                <a:ea typeface="微软雅黑" panose="020B0503020204020204" charset="-122"/>
                <a:cs typeface="微软雅黑" panose="020B0503020204020204" charset="-122"/>
              </a:rPr>
              <a:t>10. 需业务人员或律师进一步确认的事项</a:t>
            </a:r>
            <a:endParaRPr sz="1650" b="0">
              <a:solidFill>
                <a:srgbClr val="26343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AF8F1"/>
        </a:solidFill>
        <a:effectLst/>
      </p:bgPr>
    </p:bg>
    <p:spTree>
      <p:nvGrpSpPr>
        <p:cNvPr id="1" name=""/>
        <p:cNvGrpSpPr/>
        <p:nvPr/>
      </p:nvGrpSpPr>
      <p:grpSpPr/>
      <p:sp>
        <p:nvSpPr>
          <p:cNvPr id="15" name="矩形 14"/>
          <p:cNvSpPr>
            <a:spLocks noGrp="1"/>
          </p:cNvSpPr>
          <p:nvPr/>
        </p:nvSpPr>
        <p:spPr>
          <a:xfrm>
            <a:off x="685800" y="409575"/>
            <a:ext cx="4572000" cy="228600"/>
          </a:xfrm>
          <a:prstGeom prst="rect">
            <a:avLst/>
          </a:prstGeom>
          <a:noFill/>
          <a:ln w="0">
            <a:noFill/>
            <a:prstDash val="solid"/>
          </a:ln>
        </p:spPr>
        <p:txBody>
          <a:bodyPr wrap="square" lIns="0" tIns="0" rIns="0" bIns="0" anchor="t">
            <a:normAutofit/>
          </a:bodyPr>
          <a:lstStyle/>
          <a:p>
            <a:pPr algn="l">
              <a:lnSpc>
                <a:spcPct val="112000"/>
              </a:lnSpc>
              <a:buNone/>
              <a:defRPr sz="1125" b="1">
                <a:solidFill>
                  <a:srgbClr val="315F55"/>
                </a:solidFill>
                <a:latin typeface="微软雅黑" panose="020B0503020204020204" charset="-122"/>
                <a:ea typeface="微软雅黑" panose="020B0503020204020204" charset="-122"/>
                <a:cs typeface="微软雅黑" panose="020B0503020204020204" charset="-122"/>
              </a:defRPr>
            </a:pPr>
            <a:r>
              <a:rPr sz="1125" b="1">
                <a:solidFill>
                  <a:srgbClr val="315F55"/>
                </a:solidFill>
                <a:latin typeface="微软雅黑" panose="020B0503020204020204" charset="-122"/>
                <a:ea typeface="微软雅黑" panose="020B0503020204020204" charset="-122"/>
                <a:cs typeface="微软雅黑" panose="020B0503020204020204" charset="-122"/>
              </a:rPr>
              <a:t>附录</a:t>
            </a:r>
            <a:endParaRPr sz="1125"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2" name="矩形 1"/>
          <p:cNvSpPr>
            <a:spLocks noGrp="1"/>
          </p:cNvSpPr>
          <p:nvPr/>
        </p:nvSpPr>
        <p:spPr>
          <a:xfrm>
            <a:off x="685800" y="723900"/>
            <a:ext cx="10820400" cy="609600"/>
          </a:xfrm>
          <a:prstGeom prst="rect">
            <a:avLst/>
          </a:prstGeom>
          <a:noFill/>
          <a:ln w="0">
            <a:noFill/>
            <a:prstDash val="solid"/>
          </a:ln>
        </p:spPr>
        <p:txBody>
          <a:bodyPr wrap="square" lIns="0" tIns="0" rIns="0" bIns="0" anchor="t">
            <a:normAutofit/>
          </a:bodyPr>
          <a:lstStyle/>
          <a:p>
            <a:pPr algn="l">
              <a:lnSpc>
                <a:spcPct val="112000"/>
              </a:lnSpc>
              <a:buNone/>
              <a:defRPr sz="3450" b="0">
                <a:solidFill>
                  <a:srgbClr val="263431"/>
                </a:solidFill>
                <a:latin typeface="黑体" panose="02010609060101010101" charset="-122"/>
                <a:ea typeface="黑体" panose="02010609060101010101" charset="-122"/>
                <a:cs typeface="黑体" panose="02010609060101010101" charset="-122"/>
              </a:defRPr>
            </a:pPr>
            <a:r>
              <a:rPr sz="3450" b="0">
                <a:solidFill>
                  <a:srgbClr val="263431"/>
                </a:solidFill>
                <a:latin typeface="黑体" panose="02010609060101010101" charset="-122"/>
                <a:ea typeface="黑体" panose="02010609060101010101" charset="-122"/>
                <a:cs typeface="黑体" panose="02010609060101010101" charset="-122"/>
              </a:rPr>
              <a:t>主要参考资料</a:t>
            </a:r>
            <a:endParaRPr sz="3450" b="0">
              <a:solidFill>
                <a:srgbClr val="263431"/>
              </a:solidFill>
              <a:latin typeface="黑体" panose="02010609060101010101" charset="-122"/>
              <a:ea typeface="黑体" panose="02010609060101010101" charset="-122"/>
              <a:cs typeface="黑体" panose="02010609060101010101" charset="-122"/>
            </a:endParaRPr>
          </a:p>
        </p:txBody>
      </p:sp>
      <p:sp>
        <p:nvSpPr>
          <p:cNvPr id="3" name="直接连接符 2"/>
          <p:cNvSpPr>
            <a:spLocks noGrp="1"/>
          </p:cNvSpPr>
          <p:nvPr/>
        </p:nvSpPr>
        <p:spPr>
          <a:xfrm>
            <a:off x="685800" y="1438275"/>
            <a:ext cx="10820400" cy="0"/>
          </a:xfrm>
          <a:prstGeom prst="line">
            <a:avLst/>
          </a:prstGeom>
          <a:noFill/>
          <a:ln w="19050">
            <a:solidFill>
              <a:srgbClr val="8FA99C"/>
            </a:solidFill>
            <a:prstDash val="solid"/>
          </a:ln>
        </p:spPr>
      </p:sp>
      <p:sp>
        <p:nvSpPr>
          <p:cNvPr id="4" name="直接连接符 3"/>
          <p:cNvSpPr>
            <a:spLocks noGrp="1"/>
          </p:cNvSpPr>
          <p:nvPr/>
        </p:nvSpPr>
        <p:spPr>
          <a:xfrm>
            <a:off x="609600" y="6391275"/>
            <a:ext cx="10972800" cy="0"/>
          </a:xfrm>
          <a:prstGeom prst="line">
            <a:avLst/>
          </a:prstGeom>
          <a:noFill/>
          <a:ln w="9525">
            <a:solidFill>
              <a:srgbClr val="C9D0C8"/>
            </a:solidFill>
            <a:prstDash val="solid"/>
          </a:ln>
        </p:spPr>
      </p:sp>
      <p:sp>
        <p:nvSpPr>
          <p:cNvPr id="5" name="矩形 4"/>
          <p:cNvSpPr>
            <a:spLocks noGrp="1"/>
          </p:cNvSpPr>
          <p:nvPr/>
        </p:nvSpPr>
        <p:spPr>
          <a:xfrm>
            <a:off x="7429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01 项目</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3812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02 环境</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40195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03 概念</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8" name="矩形 7"/>
          <p:cNvSpPr>
            <a:spLocks noGrp="1"/>
          </p:cNvSpPr>
          <p:nvPr/>
        </p:nvSpPr>
        <p:spPr>
          <a:xfrm>
            <a:off x="56578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04 需求</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9" name="矩形 8"/>
          <p:cNvSpPr>
            <a:spLocks noGrp="1"/>
          </p:cNvSpPr>
          <p:nvPr/>
        </p:nvSpPr>
        <p:spPr>
          <a:xfrm>
            <a:off x="72961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0">
                <a:solidFill>
                  <a:srgbClr val="68756F"/>
                </a:solidFill>
                <a:latin typeface="微软雅黑" panose="020B0503020204020204" charset="-122"/>
                <a:ea typeface="微软雅黑" panose="020B0503020204020204" charset="-122"/>
                <a:cs typeface="微软雅黑" panose="020B0503020204020204" charset="-122"/>
              </a:defRPr>
            </a:pPr>
            <a:r>
              <a:rPr sz="1200" b="0">
                <a:solidFill>
                  <a:srgbClr val="68756F"/>
                </a:solidFill>
                <a:latin typeface="微软雅黑" panose="020B0503020204020204" charset="-122"/>
                <a:ea typeface="微软雅黑" panose="020B0503020204020204" charset="-122"/>
                <a:cs typeface="微软雅黑" panose="020B0503020204020204" charset="-122"/>
              </a:rPr>
              <a:t>05 工作</a:t>
            </a:r>
            <a:endParaRPr sz="1200" b="0">
              <a:solidFill>
                <a:srgbClr val="68756F"/>
              </a:solidFill>
              <a:latin typeface="微软雅黑" panose="020B0503020204020204" charset="-122"/>
              <a:ea typeface="微软雅黑" panose="020B0503020204020204" charset="-122"/>
              <a:cs typeface="微软雅黑" panose="020B0503020204020204" charset="-122"/>
            </a:endParaRPr>
          </a:p>
        </p:txBody>
      </p:sp>
      <p:sp>
        <p:nvSpPr>
          <p:cNvPr id="10" name="矩形 9"/>
          <p:cNvSpPr>
            <a:spLocks noGrp="1"/>
          </p:cNvSpPr>
          <p:nvPr/>
        </p:nvSpPr>
        <p:spPr>
          <a:xfrm>
            <a:off x="8934450" y="6496050"/>
            <a:ext cx="1257300" cy="209550"/>
          </a:xfrm>
          <a:prstGeom prst="rect">
            <a:avLst/>
          </a:prstGeom>
          <a:noFill/>
          <a:ln w="0">
            <a:noFill/>
            <a:prstDash val="solid"/>
          </a:ln>
        </p:spPr>
        <p:txBody>
          <a:bodyPr wrap="square" lIns="0" tIns="0" rIns="0" bIns="0" anchor="ctr">
            <a:normAutofit/>
          </a:bodyPr>
          <a:lstStyle/>
          <a:p>
            <a:pPr algn="ctr">
              <a:lnSpc>
                <a:spcPct val="112000"/>
              </a:lnSpc>
              <a:buNone/>
              <a:defRPr sz="1200" b="1">
                <a:solidFill>
                  <a:srgbClr val="315F55"/>
                </a:solidFill>
                <a:latin typeface="微软雅黑" panose="020B0503020204020204" charset="-122"/>
                <a:ea typeface="微软雅黑" panose="020B0503020204020204" charset="-122"/>
                <a:cs typeface="微软雅黑" panose="020B0503020204020204" charset="-122"/>
              </a:defRPr>
            </a:pPr>
            <a:r>
              <a:rPr sz="1200" b="1">
                <a:solidFill>
                  <a:srgbClr val="315F55"/>
                </a:solidFill>
                <a:latin typeface="微软雅黑" panose="020B0503020204020204" charset="-122"/>
                <a:ea typeface="微软雅黑" panose="020B0503020204020204" charset="-122"/>
                <a:cs typeface="微软雅黑" panose="020B0503020204020204" charset="-122"/>
              </a:rPr>
              <a:t>06 扩展</a:t>
            </a:r>
            <a:endParaRPr sz="1200" b="1">
              <a:solidFill>
                <a:srgbClr val="315F55"/>
              </a:solidFill>
              <a:latin typeface="微软雅黑" panose="020B0503020204020204" charset="-122"/>
              <a:ea typeface="微软雅黑" panose="020B0503020204020204" charset="-122"/>
              <a:cs typeface="微软雅黑" panose="020B0503020204020204" charset="-122"/>
            </a:endParaRPr>
          </a:p>
        </p:txBody>
      </p:sp>
      <p:sp>
        <p:nvSpPr>
          <p:cNvPr id="11" name="直接连接符 10"/>
          <p:cNvSpPr>
            <a:spLocks noGrp="1"/>
          </p:cNvSpPr>
          <p:nvPr/>
        </p:nvSpPr>
        <p:spPr>
          <a:xfrm>
            <a:off x="9048750" y="6410325"/>
            <a:ext cx="1028700" cy="0"/>
          </a:xfrm>
          <a:prstGeom prst="line">
            <a:avLst/>
          </a:prstGeom>
          <a:noFill/>
          <a:ln w="38100">
            <a:solidFill>
              <a:srgbClr val="315F55"/>
            </a:solidFill>
            <a:prstDash val="solid"/>
          </a:ln>
        </p:spPr>
      </p:sp>
      <p:sp>
        <p:nvSpPr>
          <p:cNvPr id="12" name="矩形 11"/>
          <p:cNvSpPr>
            <a:spLocks noGrp="1"/>
          </p:cNvSpPr>
          <p:nvPr/>
        </p:nvSpPr>
        <p:spPr>
          <a:xfrm>
            <a:off x="11096625" y="6496050"/>
            <a:ext cx="400050" cy="209550"/>
          </a:xfrm>
          <a:prstGeom prst="rect">
            <a:avLst/>
          </a:prstGeom>
          <a:noFill/>
          <a:ln w="0">
            <a:noFill/>
            <a:prstDash val="solid"/>
          </a:ln>
        </p:spPr>
        <p:txBody>
          <a:bodyPr wrap="square" lIns="0" tIns="0" rIns="0" bIns="0" anchor="t">
            <a:normAutofit/>
          </a:bodyPr>
          <a:lstStyle/>
          <a:p>
            <a:pPr algn="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64</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graphicFrame>
        <p:nvGraphicFramePr>
          <p:cNvPr id="27" name="表格 26"/>
          <p:cNvGraphicFramePr/>
          <p:nvPr/>
        </p:nvGraphicFramePr>
        <p:xfrm>
          <a:off x="857250" y="1809750"/>
          <a:ext cx="10477500" cy="3467100"/>
        </p:xfrm>
        <a:graphic>
          <a:graphicData uri="http://schemas.openxmlformats.org/drawingml/2006/table">
            <a:tbl>
              <a:tblPr/>
              <a:tblGrid>
                <a:gridCol w="1809750"/>
                <a:gridCol w="8667750"/>
              </a:tblGrid>
              <a:tr h="495300">
                <a:tc>
                  <a:txBody>
                    <a:bodyPr/>
                    <a:lstStyle/>
                    <a:p>
                      <a:r>
                        <a:rPr sz="1500" b="1">
                          <a:solidFill>
                            <a:srgbClr val="315F55"/>
                          </a:solidFill>
                          <a:latin typeface="微软雅黑" panose="020B0503020204020204" charset="-122"/>
                          <a:ea typeface="微软雅黑" panose="020B0503020204020204" charset="-122"/>
                          <a:cs typeface="微软雅黑" panose="020B0503020204020204" charset="-122"/>
                        </a:rPr>
                        <a:t>类别</a:t>
                      </a:r>
                      <a:endParaRPr sz="1500" b="1">
                        <a:solidFill>
                          <a:srgbClr val="315F55"/>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E3E8E1"/>
                    </a:solidFill>
                  </a:tcPr>
                </a:tc>
                <a:tc>
                  <a:txBody>
                    <a:bodyPr/>
                    <a:lstStyle/>
                    <a:p>
                      <a:r>
                        <a:rPr sz="1500" b="1">
                          <a:solidFill>
                            <a:srgbClr val="315F55"/>
                          </a:solidFill>
                          <a:latin typeface="微软雅黑" panose="020B0503020204020204" charset="-122"/>
                          <a:ea typeface="微软雅黑" panose="020B0503020204020204" charset="-122"/>
                          <a:cs typeface="微软雅黑" panose="020B0503020204020204" charset="-122"/>
                        </a:rPr>
                        <a:t>参考资料</a:t>
                      </a:r>
                      <a:endParaRPr sz="1500" b="1">
                        <a:solidFill>
                          <a:srgbClr val="315F55"/>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E3E8E1"/>
                    </a:solidFill>
                  </a:tcPr>
                </a:tc>
              </a:tr>
              <a:tr h="495300">
                <a:tc>
                  <a:txBody>
                    <a:bodyPr/>
                    <a:lstStyle/>
                    <a:p>
                      <a:r>
                        <a:rPr sz="1500" b="1">
                          <a:solidFill>
                            <a:srgbClr val="315F55"/>
                          </a:solidFill>
                          <a:latin typeface="微软雅黑" panose="020B0503020204020204" charset="-122"/>
                          <a:ea typeface="微软雅黑" panose="020B0503020204020204" charset="-122"/>
                          <a:cs typeface="微软雅黑" panose="020B0503020204020204" charset="-122"/>
                        </a:rPr>
                        <a:t>OpenAI</a:t>
                      </a:r>
                      <a:endParaRPr sz="1500" b="1">
                        <a:solidFill>
                          <a:srgbClr val="315F55"/>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3F0E6"/>
                    </a:solidFill>
                  </a:tcPr>
                </a:tc>
                <a:tc>
                  <a:txBody>
                    <a:bodyPr/>
                    <a:lstStyle/>
                    <a:p>
                      <a:r>
                        <a:rPr sz="1500">
                          <a:solidFill>
                            <a:srgbClr val="263431"/>
                          </a:solidFill>
                          <a:latin typeface="微软雅黑" panose="020B0503020204020204" charset="-122"/>
                          <a:ea typeface="微软雅黑" panose="020B0503020204020204" charset="-122"/>
                          <a:cs typeface="微软雅黑" panose="020B0503020204020204" charset="-122"/>
                        </a:rPr>
                        <a:t>Codex CLI、Remote、权限、配置、AGENTS.md、Skills和价格说明</a:t>
                      </a:r>
                      <a:endParaRPr sz="1500">
                        <a:solidFill>
                          <a:srgbClr val="263431"/>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AF8F1"/>
                    </a:solidFill>
                  </a:tcPr>
                </a:tc>
              </a:tr>
              <a:tr h="495300">
                <a:tc>
                  <a:txBody>
                    <a:bodyPr/>
                    <a:lstStyle/>
                    <a:p>
                      <a:r>
                        <a:rPr sz="1500" b="1">
                          <a:solidFill>
                            <a:srgbClr val="315F55"/>
                          </a:solidFill>
                          <a:latin typeface="微软雅黑" panose="020B0503020204020204" charset="-122"/>
                          <a:ea typeface="微软雅黑" panose="020B0503020204020204" charset="-122"/>
                          <a:cs typeface="微软雅黑" panose="020B0503020204020204" charset="-122"/>
                        </a:rPr>
                        <a:t>Tushare</a:t>
                      </a:r>
                      <a:endParaRPr sz="1500" b="1">
                        <a:solidFill>
                          <a:srgbClr val="315F55"/>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3F0E6"/>
                    </a:solidFill>
                  </a:tcPr>
                </a:tc>
                <a:tc>
                  <a:txBody>
                    <a:bodyPr/>
                    <a:lstStyle/>
                    <a:p>
                      <a:r>
                        <a:rPr sz="1500">
                          <a:solidFill>
                            <a:srgbClr val="263431"/>
                          </a:solidFill>
                          <a:latin typeface="微软雅黑" panose="020B0503020204020204" charset="-122"/>
                          <a:ea typeface="微软雅黑" panose="020B0503020204020204" charset="-122"/>
                          <a:cs typeface="微软雅黑" panose="020B0503020204020204" charset="-122"/>
                        </a:rPr>
                        <a:t>Pro版数据调取与A股日线接口说明</a:t>
                      </a:r>
                      <a:endParaRPr sz="1500">
                        <a:solidFill>
                          <a:srgbClr val="263431"/>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AF8F1"/>
                    </a:solidFill>
                  </a:tcPr>
                </a:tc>
              </a:tr>
              <a:tr h="495300">
                <a:tc>
                  <a:txBody>
                    <a:bodyPr/>
                    <a:lstStyle/>
                    <a:p>
                      <a:r>
                        <a:rPr sz="1500" b="1">
                          <a:solidFill>
                            <a:srgbClr val="315F55"/>
                          </a:solidFill>
                          <a:latin typeface="微软雅黑" panose="020B0503020204020204" charset="-122"/>
                          <a:ea typeface="微软雅黑" panose="020B0503020204020204" charset="-122"/>
                          <a:cs typeface="微软雅黑" panose="020B0503020204020204" charset="-122"/>
                        </a:rPr>
                        <a:t>DeepSeek</a:t>
                      </a:r>
                      <a:endParaRPr sz="1500" b="1">
                        <a:solidFill>
                          <a:srgbClr val="315F55"/>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3F0E6"/>
                    </a:solidFill>
                  </a:tcPr>
                </a:tc>
                <a:tc>
                  <a:txBody>
                    <a:bodyPr/>
                    <a:lstStyle/>
                    <a:p>
                      <a:r>
                        <a:rPr sz="1500">
                          <a:solidFill>
                            <a:srgbClr val="263431"/>
                          </a:solidFill>
                          <a:latin typeface="微软雅黑" panose="020B0503020204020204" charset="-122"/>
                          <a:ea typeface="微软雅黑" panose="020B0503020204020204" charset="-122"/>
                          <a:cs typeface="微软雅黑" panose="020B0503020204020204" charset="-122"/>
                        </a:rPr>
                        <a:t>DeepSeek Harness官方GitHub仓库</a:t>
                      </a:r>
                      <a:endParaRPr sz="1500">
                        <a:solidFill>
                          <a:srgbClr val="263431"/>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AF8F1"/>
                    </a:solidFill>
                  </a:tcPr>
                </a:tc>
              </a:tr>
              <a:tr h="495300">
                <a:tc>
                  <a:txBody>
                    <a:bodyPr/>
                    <a:lstStyle/>
                    <a:p>
                      <a:r>
                        <a:rPr sz="1500" b="1">
                          <a:solidFill>
                            <a:srgbClr val="315F55"/>
                          </a:solidFill>
                          <a:latin typeface="微软雅黑" panose="020B0503020204020204" charset="-122"/>
                          <a:ea typeface="微软雅黑" panose="020B0503020204020204" charset="-122"/>
                          <a:cs typeface="微软雅黑" panose="020B0503020204020204" charset="-122"/>
                        </a:rPr>
                        <a:t>腾讯</a:t>
                      </a:r>
                      <a:endParaRPr sz="1500" b="1">
                        <a:solidFill>
                          <a:srgbClr val="315F55"/>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3F0E6"/>
                    </a:solidFill>
                  </a:tcPr>
                </a:tc>
                <a:tc>
                  <a:txBody>
                    <a:bodyPr/>
                    <a:lstStyle/>
                    <a:p>
                      <a:r>
                        <a:rPr sz="1500">
                          <a:solidFill>
                            <a:srgbClr val="263431"/>
                          </a:solidFill>
                          <a:latin typeface="微软雅黑" panose="020B0503020204020204" charset="-122"/>
                          <a:ea typeface="微软雅黑" panose="020B0503020204020204" charset="-122"/>
                          <a:cs typeface="微软雅黑" panose="020B0503020204020204" charset="-122"/>
                        </a:rPr>
                        <a:t>WorkBuddy和WorkBuddy Enterprise官方介绍</a:t>
                      </a:r>
                      <a:endParaRPr sz="1500">
                        <a:solidFill>
                          <a:srgbClr val="263431"/>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AF8F1"/>
                    </a:solidFill>
                  </a:tcPr>
                </a:tc>
              </a:tr>
              <a:tr h="495300">
                <a:tc>
                  <a:txBody>
                    <a:bodyPr/>
                    <a:lstStyle/>
                    <a:p>
                      <a:r>
                        <a:rPr sz="1500" b="1">
                          <a:solidFill>
                            <a:srgbClr val="315F55"/>
                          </a:solidFill>
                          <a:latin typeface="微软雅黑" panose="020B0503020204020204" charset="-122"/>
                          <a:ea typeface="微软雅黑" panose="020B0503020204020204" charset="-122"/>
                          <a:cs typeface="微软雅黑" panose="020B0503020204020204" charset="-122"/>
                        </a:rPr>
                        <a:t>公开规范</a:t>
                      </a:r>
                      <a:endParaRPr sz="1500" b="1">
                        <a:solidFill>
                          <a:srgbClr val="315F55"/>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3F0E6"/>
                    </a:solidFill>
                  </a:tcPr>
                </a:tc>
                <a:tc>
                  <a:txBody>
                    <a:bodyPr/>
                    <a:lstStyle/>
                    <a:p>
                      <a:r>
                        <a:rPr sz="1500">
                          <a:solidFill>
                            <a:srgbClr val="263431"/>
                          </a:solidFill>
                          <a:latin typeface="微软雅黑" panose="020B0503020204020204" charset="-122"/>
                          <a:ea typeface="微软雅黑" panose="020B0503020204020204" charset="-122"/>
                          <a:cs typeface="微软雅黑" panose="020B0503020204020204" charset="-122"/>
                        </a:rPr>
                        <a:t>Agent Skills Specification、Model Context Protocol</a:t>
                      </a:r>
                      <a:endParaRPr sz="1500">
                        <a:solidFill>
                          <a:srgbClr val="263431"/>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AF8F1"/>
                    </a:solidFill>
                  </a:tcPr>
                </a:tc>
              </a:tr>
              <a:tr h="495300">
                <a:tc>
                  <a:txBody>
                    <a:bodyPr/>
                    <a:lstStyle/>
                    <a:p>
                      <a:r>
                        <a:rPr sz="1500" b="1">
                          <a:solidFill>
                            <a:srgbClr val="315F55"/>
                          </a:solidFill>
                          <a:latin typeface="微软雅黑" panose="020B0503020204020204" charset="-122"/>
                          <a:ea typeface="微软雅黑" panose="020B0503020204020204" charset="-122"/>
                          <a:cs typeface="微软雅黑" panose="020B0503020204020204" charset="-122"/>
                        </a:rPr>
                        <a:t>持续更新</a:t>
                      </a:r>
                      <a:endParaRPr sz="1500" b="1">
                        <a:solidFill>
                          <a:srgbClr val="315F55"/>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3F0E6"/>
                    </a:solidFill>
                  </a:tcPr>
                </a:tc>
                <a:tc>
                  <a:txBody>
                    <a:bodyPr/>
                    <a:lstStyle/>
                    <a:p>
                      <a:r>
                        <a:rPr sz="1500">
                          <a:solidFill>
                            <a:srgbClr val="263431"/>
                          </a:solidFill>
                          <a:latin typeface="微软雅黑" panose="020B0503020204020204" charset="-122"/>
                          <a:ea typeface="微软雅黑" panose="020B0503020204020204" charset="-122"/>
                          <a:cs typeface="微软雅黑" panose="020B0503020204020204" charset="-122"/>
                        </a:rPr>
                        <a:t>OpenAI Codex、Claude Code、Gemini CLI、DeepSeek Harness的GitHub Releases</a:t>
                      </a:r>
                      <a:endParaRPr sz="1500">
                        <a:solidFill>
                          <a:srgbClr val="263431"/>
                        </a:solidFill>
                        <a:latin typeface="微软雅黑" panose="020B0503020204020204" charset="-122"/>
                        <a:ea typeface="微软雅黑" panose="020B0503020204020204" charset="-122"/>
                        <a:cs typeface="微软雅黑" panose="020B0503020204020204" charset="-122"/>
                      </a:endParaRPr>
                    </a:p>
                  </a:txBody>
                  <a:tcPr marL="133350" marR="133350" marT="76200" marB="76200" anchor="ctr">
                    <a:solidFill>
                      <a:srgbClr val="FAF8F1"/>
                    </a:solidFill>
                  </a:tcPr>
                </a:tc>
              </a:tr>
            </a:tbl>
          </a:graphicData>
        </a:graphic>
      </p:graphicFrame>
      <p:sp>
        <p:nvSpPr>
          <p:cNvPr id="14" name="矩形 13"/>
          <p:cNvSpPr>
            <a:spLocks noGrp="1"/>
          </p:cNvSpPr>
          <p:nvPr/>
        </p:nvSpPr>
        <p:spPr>
          <a:xfrm>
            <a:off x="1524000" y="5905500"/>
            <a:ext cx="9144000" cy="228600"/>
          </a:xfrm>
          <a:prstGeom prst="rect">
            <a:avLst/>
          </a:prstGeom>
          <a:noFill/>
          <a:ln w="0">
            <a:noFill/>
            <a:prstDash val="solid"/>
          </a:ln>
        </p:spPr>
        <p:txBody>
          <a:bodyPr wrap="square" lIns="0" tIns="0" rIns="0" bIns="0" anchor="ctr">
            <a:normAutofit/>
          </a:bodyPr>
          <a:lstStyle/>
          <a:p>
            <a:pPr algn="ctr">
              <a:lnSpc>
                <a:spcPct val="112000"/>
              </a:lnSpc>
              <a:buNone/>
              <a:defRPr sz="1125" b="0">
                <a:solidFill>
                  <a:srgbClr val="68756F"/>
                </a:solidFill>
                <a:latin typeface="微软雅黑" panose="020B0503020204020204" charset="-122"/>
                <a:ea typeface="微软雅黑" panose="020B0503020204020204" charset="-122"/>
                <a:cs typeface="微软雅黑" panose="020B0503020204020204" charset="-122"/>
              </a:defRPr>
            </a:pPr>
            <a:r>
              <a:rPr sz="1125" b="0">
                <a:solidFill>
                  <a:srgbClr val="68756F"/>
                </a:solidFill>
                <a:latin typeface="微软雅黑" panose="020B0503020204020204" charset="-122"/>
                <a:ea typeface="微软雅黑" panose="020B0503020204020204" charset="-122"/>
                <a:cs typeface="微软雅黑" panose="020B0503020204020204" charset="-122"/>
              </a:rPr>
              <a:t>本PPT封面及部分首页的青绿山水背景为本课程原创AI生成图像。</a:t>
            </a:r>
            <a:endParaRPr sz="1125" b="0">
              <a:solidFill>
                <a:srgbClr val="68756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9296</Words>
  <Application>WPS 演示</Application>
  <PresentationFormat>Converted Presentation</PresentationFormat>
  <Paragraphs>2230</Paragraphs>
  <Slides>64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64</vt:i4>
      </vt:variant>
    </vt:vector>
  </HeadingPairs>
  <TitlesOfParts>
    <vt:vector size="74" baseType="lpstr">
      <vt:lpstr>Arial</vt:lpstr>
      <vt:lpstr>宋体</vt:lpstr>
      <vt:lpstr>Wingdings</vt:lpstr>
      <vt:lpstr>黑体</vt:lpstr>
      <vt:lpstr>微软雅黑</vt:lpstr>
      <vt:lpstr>Times New Roman</vt:lpstr>
      <vt:lpstr>Consolas</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王端仪</cp:lastModifiedBy>
  <cp:revision>1</cp:revision>
  <dcterms:created xsi:type="dcterms:W3CDTF">2026-09-02T07:54:48Z</dcterms:created>
  <dcterms:modified xsi:type="dcterms:W3CDTF">2026-09-02T07:54:48Z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2D6AF5BBA703475EA41FCF0E320B5595_13</vt:lpwstr>
  </property>
  <property fmtid="{D5CDD505-2E9C-101B-9397-08002B2CF9AE}" pid="3" name="KSOProductBuildVer">
    <vt:lpwstr>2052-12.1.0.28043</vt:lpwstr>
  </property>
</Properties>
</file>